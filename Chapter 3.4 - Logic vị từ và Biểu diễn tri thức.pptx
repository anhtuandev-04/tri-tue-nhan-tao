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43" y="7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pPr marL="104775">
              <a:lnSpc>
                <a:spcPts val="1430"/>
              </a:lnSpc>
            </a:pPr>
            <a:fld id="{81D60167-4931-47E6-BA6A-407CBD079E47}" type="slidenum">
              <a:rPr spc="-50" dirty="0">
                <a:latin typeface="Arial"/>
                <a:cs typeface="Arial"/>
              </a:rPr>
              <a:t>‹#›</a:t>
            </a:fld>
            <a:endParaRPr spc="-50" dirty="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pPr marL="104775">
              <a:lnSpc>
                <a:spcPts val="1430"/>
              </a:lnSpc>
            </a:pPr>
            <a:fld id="{81D60167-4931-47E6-BA6A-407CBD079E47}" type="slidenum">
              <a:rPr spc="-50" dirty="0">
                <a:latin typeface="Arial"/>
                <a:cs typeface="Arial"/>
              </a:rPr>
              <a:t>‹#›</a:t>
            </a:fld>
            <a:endParaRPr spc="-50" dirty="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pPr marL="104775">
              <a:lnSpc>
                <a:spcPts val="1430"/>
              </a:lnSpc>
            </a:pPr>
            <a:fld id="{81D60167-4931-47E6-BA6A-407CBD079E47}" type="slidenum">
              <a:rPr spc="-50" dirty="0">
                <a:latin typeface="Arial"/>
                <a:cs typeface="Arial"/>
              </a:rPr>
              <a:t>‹#›</a:t>
            </a:fld>
            <a:endParaRPr spc="-50" dirty="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pPr marL="104775">
              <a:lnSpc>
                <a:spcPts val="1430"/>
              </a:lnSpc>
            </a:pPr>
            <a:fld id="{81D60167-4931-47E6-BA6A-407CBD079E47}" type="slidenum">
              <a:rPr spc="-50" dirty="0">
                <a:latin typeface="Arial"/>
                <a:cs typeface="Arial"/>
              </a:rPr>
              <a:t>‹#›</a:t>
            </a:fld>
            <a:endParaRPr spc="-50" dirty="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10914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47" y="5937961"/>
            <a:ext cx="8255" cy="5715"/>
          </a:xfrm>
          <a:custGeom>
            <a:avLst/>
            <a:gdLst/>
            <a:ahLst/>
            <a:cxnLst/>
            <a:rect l="l" t="t" r="r" b="b"/>
            <a:pathLst>
              <a:path w="8255" h="5714">
                <a:moveTo>
                  <a:pt x="0" y="5638"/>
                </a:moveTo>
                <a:lnTo>
                  <a:pt x="8241" y="0"/>
                </a:lnTo>
              </a:path>
            </a:pathLst>
          </a:custGeom>
          <a:ln w="6350">
            <a:solidFill>
              <a:srgbClr val="539E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7" y="6220180"/>
            <a:ext cx="12188952" cy="63781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6202540"/>
            <a:ext cx="12192000" cy="12700"/>
          </a:xfrm>
          <a:custGeom>
            <a:avLst/>
            <a:gdLst/>
            <a:ahLst/>
            <a:cxnLst/>
            <a:rect l="l" t="t" r="r" b="b"/>
            <a:pathLst>
              <a:path w="12192000" h="12700">
                <a:moveTo>
                  <a:pt x="0" y="12699"/>
                </a:moveTo>
                <a:lnTo>
                  <a:pt x="12192000" y="12699"/>
                </a:lnTo>
                <a:lnTo>
                  <a:pt x="12192000" y="0"/>
                </a:lnTo>
                <a:lnTo>
                  <a:pt x="0" y="0"/>
                </a:lnTo>
                <a:lnTo>
                  <a:pt x="0" y="12699"/>
                </a:lnTo>
                <a:close/>
              </a:path>
            </a:pathLst>
          </a:custGeom>
          <a:solidFill>
            <a:srgbClr val="455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047" y="5937961"/>
            <a:ext cx="8255" cy="5715"/>
          </a:xfrm>
          <a:custGeom>
            <a:avLst/>
            <a:gdLst/>
            <a:ahLst/>
            <a:cxnLst/>
            <a:rect l="l" t="t" r="r" b="b"/>
            <a:pathLst>
              <a:path w="8255" h="5714">
                <a:moveTo>
                  <a:pt x="0" y="5638"/>
                </a:moveTo>
                <a:lnTo>
                  <a:pt x="8241" y="0"/>
                </a:lnTo>
              </a:path>
            </a:pathLst>
          </a:custGeom>
          <a:ln w="6350">
            <a:solidFill>
              <a:srgbClr val="539E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pPr marL="104775">
              <a:lnSpc>
                <a:spcPts val="1430"/>
              </a:lnSpc>
            </a:pPr>
            <a:fld id="{81D60167-4931-47E6-BA6A-407CBD079E47}" type="slidenum">
              <a:rPr spc="-50" dirty="0">
                <a:latin typeface="Arial"/>
                <a:cs typeface="Arial"/>
              </a:rPr>
              <a:t>‹#›</a:t>
            </a:fld>
            <a:endParaRPr spc="-50" dirty="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109141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5122" y="279907"/>
            <a:ext cx="11401755" cy="1414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312926"/>
            <a:ext cx="10796270" cy="4635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94058" y="6536676"/>
            <a:ext cx="275717" cy="2013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pPr marL="104775">
              <a:lnSpc>
                <a:spcPts val="1430"/>
              </a:lnSpc>
            </a:pPr>
            <a:fld id="{81D60167-4931-47E6-BA6A-407CBD079E47}" type="slidenum">
              <a:rPr spc="-50" dirty="0">
                <a:latin typeface="Arial"/>
                <a:cs typeface="Arial"/>
              </a:rPr>
              <a:t>‹#›</a:t>
            </a:fld>
            <a:endParaRPr spc="-50" dirty="0">
              <a:latin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9" Type="http://schemas.openxmlformats.org/officeDocument/2006/relationships/image" Target="../media/image84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663" y="2426195"/>
            <a:ext cx="11150346" cy="7566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5401" y="499618"/>
            <a:ext cx="3149600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dirty="0">
                <a:solidFill>
                  <a:srgbClr val="455F51"/>
                </a:solidFill>
              </a:rPr>
              <a:t>NỘI </a:t>
            </a:r>
            <a:r>
              <a:rPr sz="5000" spc="-20" dirty="0">
                <a:solidFill>
                  <a:srgbClr val="455F51"/>
                </a:solidFill>
              </a:rPr>
              <a:t>DUNG</a:t>
            </a:r>
            <a:endParaRPr sz="5000"/>
          </a:p>
        </p:txBody>
      </p:sp>
      <p:sp>
        <p:nvSpPr>
          <p:cNvPr id="3" name="object 3"/>
          <p:cNvSpPr txBox="1"/>
          <p:nvPr/>
        </p:nvSpPr>
        <p:spPr>
          <a:xfrm>
            <a:off x="762000" y="1524000"/>
            <a:ext cx="7821295" cy="2691121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600"/>
              </a:spcBef>
              <a:buClr>
                <a:srgbClr val="C0CF39"/>
              </a:buClr>
              <a:buSzPct val="94444"/>
              <a:buAutoNum type="arabicPeriod"/>
              <a:tabLst>
                <a:tab pos="469265" algn="l"/>
              </a:tabLst>
            </a:pPr>
            <a:r>
              <a:rPr sz="3600" dirty="0">
                <a:latin typeface="Palatino Linotype"/>
                <a:cs typeface="Palatino Linotype"/>
              </a:rPr>
              <a:t>Tại</a:t>
            </a:r>
            <a:r>
              <a:rPr sz="3600" spc="-4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sao</a:t>
            </a:r>
            <a:r>
              <a:rPr sz="3600" spc="-6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phải</a:t>
            </a:r>
            <a:r>
              <a:rPr sz="3600" spc="-3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biểu</a:t>
            </a:r>
            <a:r>
              <a:rPr sz="3600" spc="-4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diễn</a:t>
            </a:r>
            <a:r>
              <a:rPr sz="3600" spc="-30" dirty="0">
                <a:latin typeface="Palatino Linotype"/>
                <a:cs typeface="Palatino Linotype"/>
              </a:rPr>
              <a:t> </a:t>
            </a:r>
            <a:r>
              <a:rPr sz="3600">
                <a:latin typeface="Palatino Linotype"/>
                <a:cs typeface="Palatino Linotype"/>
              </a:rPr>
              <a:t>tri</a:t>
            </a:r>
            <a:r>
              <a:rPr sz="3600" spc="-45">
                <a:latin typeface="Palatino Linotype"/>
                <a:cs typeface="Palatino Linotype"/>
              </a:rPr>
              <a:t> </a:t>
            </a:r>
            <a:r>
              <a:rPr sz="3600" spc="-20" smtClean="0">
                <a:latin typeface="Palatino Linotype"/>
                <a:cs typeface="Palatino Linotype"/>
              </a:rPr>
              <a:t>thức</a:t>
            </a:r>
            <a:r>
              <a:rPr lang="en-US" sz="3600" spc="-20" smtClean="0">
                <a:latin typeface="Palatino Linotype"/>
                <a:cs typeface="Palatino Linotype"/>
              </a:rPr>
              <a:t>?</a:t>
            </a:r>
            <a:endParaRPr sz="3600">
              <a:latin typeface="Palatino Linotype"/>
              <a:cs typeface="Palatino Linotype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C0CF39"/>
              </a:buClr>
              <a:buSzPct val="94444"/>
              <a:buAutoNum type="arabicPeriod"/>
              <a:tabLst>
                <a:tab pos="469900" algn="l"/>
              </a:tabLst>
            </a:pPr>
            <a:r>
              <a:rPr sz="3600" dirty="0">
                <a:latin typeface="Palatino Linotype"/>
                <a:cs typeface="Palatino Linotype"/>
              </a:rPr>
              <a:t>Biểu</a:t>
            </a:r>
            <a:r>
              <a:rPr sz="3600" spc="-6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diễn</a:t>
            </a:r>
            <a:r>
              <a:rPr sz="3600" spc="-6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tri</a:t>
            </a:r>
            <a:r>
              <a:rPr sz="3600" spc="-5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thức</a:t>
            </a:r>
            <a:r>
              <a:rPr sz="3600" spc="-5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là</a:t>
            </a:r>
            <a:r>
              <a:rPr sz="3600" spc="-65" dirty="0">
                <a:latin typeface="Palatino Linotype"/>
                <a:cs typeface="Palatino Linotype"/>
              </a:rPr>
              <a:t> </a:t>
            </a:r>
            <a:r>
              <a:rPr sz="3600" spc="-25" dirty="0">
                <a:latin typeface="Palatino Linotype"/>
                <a:cs typeface="Palatino Linotype"/>
              </a:rPr>
              <a:t>gì?</a:t>
            </a:r>
            <a:endParaRPr sz="3600">
              <a:latin typeface="Palatino Linotype"/>
              <a:cs typeface="Palatino Linotype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C0CF39"/>
              </a:buClr>
              <a:buSzPct val="94444"/>
              <a:buAutoNum type="arabicPeriod"/>
              <a:tabLst>
                <a:tab pos="469900" algn="l"/>
              </a:tabLst>
            </a:pPr>
            <a:r>
              <a:rPr sz="3600" dirty="0">
                <a:latin typeface="Palatino Linotype"/>
                <a:cs typeface="Palatino Linotype"/>
              </a:rPr>
              <a:t>Biểu</a:t>
            </a:r>
            <a:r>
              <a:rPr sz="3600" spc="-7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diễn</a:t>
            </a:r>
            <a:r>
              <a:rPr sz="3600" spc="-7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và</a:t>
            </a:r>
            <a:r>
              <a:rPr sz="3600" spc="-7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ánh</a:t>
            </a:r>
            <a:r>
              <a:rPr sz="3600" spc="-70" dirty="0">
                <a:latin typeface="Palatino Linotype"/>
                <a:cs typeface="Palatino Linotype"/>
              </a:rPr>
              <a:t> </a:t>
            </a:r>
            <a:r>
              <a:rPr sz="3600" spc="-25" dirty="0">
                <a:latin typeface="Palatino Linotype"/>
                <a:cs typeface="Palatino Linotype"/>
              </a:rPr>
              <a:t>xạ</a:t>
            </a:r>
            <a:endParaRPr sz="3600">
              <a:latin typeface="Palatino Linotype"/>
              <a:cs typeface="Palatino Linotype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C0CF39"/>
              </a:buClr>
              <a:buSzPct val="94444"/>
              <a:buAutoNum type="arabicPeriod"/>
              <a:tabLst>
                <a:tab pos="469900" algn="l"/>
              </a:tabLst>
            </a:pPr>
            <a:r>
              <a:rPr sz="3600" dirty="0">
                <a:latin typeface="Palatino Linotype"/>
                <a:cs typeface="Palatino Linotype"/>
              </a:rPr>
              <a:t>Các</a:t>
            </a:r>
            <a:r>
              <a:rPr sz="3600" spc="-8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phương</a:t>
            </a:r>
            <a:r>
              <a:rPr sz="3600" spc="-8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pháp</a:t>
            </a:r>
            <a:r>
              <a:rPr sz="3600" spc="-6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biểu</a:t>
            </a:r>
            <a:r>
              <a:rPr sz="3600" spc="-8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diễn</a:t>
            </a:r>
            <a:r>
              <a:rPr sz="3600" spc="-8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tri</a:t>
            </a:r>
            <a:r>
              <a:rPr sz="3600" spc="-75" dirty="0">
                <a:latin typeface="Palatino Linotype"/>
                <a:cs typeface="Palatino Linotype"/>
              </a:rPr>
              <a:t> </a:t>
            </a:r>
            <a:r>
              <a:rPr sz="3600" spc="-20" dirty="0">
                <a:latin typeface="Palatino Linotype"/>
                <a:cs typeface="Palatino Linotype"/>
              </a:rPr>
              <a:t>thức</a:t>
            </a:r>
            <a:endParaRPr sz="36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95658" y="6516116"/>
            <a:ext cx="1022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Palatino Linotype"/>
                <a:cs typeface="Palatino Linotype"/>
              </a:rPr>
              <a:t>2</a:t>
            </a:r>
            <a:endParaRPr sz="1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8555" y="699897"/>
            <a:ext cx="8540115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dirty="0">
                <a:solidFill>
                  <a:srgbClr val="455F51"/>
                </a:solidFill>
                <a:latin typeface="Palatino Linotype"/>
                <a:cs typeface="Palatino Linotype"/>
              </a:rPr>
              <a:t>Tại</a:t>
            </a:r>
            <a:r>
              <a:rPr sz="4900" spc="-95" dirty="0">
                <a:solidFill>
                  <a:srgbClr val="455F51"/>
                </a:solidFill>
                <a:latin typeface="Palatino Linotype"/>
                <a:cs typeface="Palatino Linotype"/>
              </a:rPr>
              <a:t> </a:t>
            </a:r>
            <a:r>
              <a:rPr sz="4900" dirty="0">
                <a:solidFill>
                  <a:srgbClr val="455F51"/>
                </a:solidFill>
                <a:latin typeface="Palatino Linotype"/>
                <a:cs typeface="Palatino Linotype"/>
              </a:rPr>
              <a:t>sao</a:t>
            </a:r>
            <a:r>
              <a:rPr sz="4900" spc="-90" dirty="0">
                <a:solidFill>
                  <a:srgbClr val="455F51"/>
                </a:solidFill>
                <a:latin typeface="Palatino Linotype"/>
                <a:cs typeface="Palatino Linotype"/>
              </a:rPr>
              <a:t> </a:t>
            </a:r>
            <a:r>
              <a:rPr sz="4900" dirty="0">
                <a:solidFill>
                  <a:srgbClr val="455F51"/>
                </a:solidFill>
                <a:latin typeface="Palatino Linotype"/>
                <a:cs typeface="Palatino Linotype"/>
              </a:rPr>
              <a:t>phải</a:t>
            </a:r>
            <a:r>
              <a:rPr sz="4900" spc="-85" dirty="0">
                <a:solidFill>
                  <a:srgbClr val="455F51"/>
                </a:solidFill>
                <a:latin typeface="Palatino Linotype"/>
                <a:cs typeface="Palatino Linotype"/>
              </a:rPr>
              <a:t> </a:t>
            </a:r>
            <a:r>
              <a:rPr sz="4900" dirty="0">
                <a:solidFill>
                  <a:srgbClr val="455F51"/>
                </a:solidFill>
                <a:latin typeface="Palatino Linotype"/>
                <a:cs typeface="Palatino Linotype"/>
              </a:rPr>
              <a:t>biểu</a:t>
            </a:r>
            <a:r>
              <a:rPr sz="4900" spc="-80" dirty="0">
                <a:solidFill>
                  <a:srgbClr val="455F51"/>
                </a:solidFill>
                <a:latin typeface="Palatino Linotype"/>
                <a:cs typeface="Palatino Linotype"/>
              </a:rPr>
              <a:t> </a:t>
            </a:r>
            <a:r>
              <a:rPr sz="4900" dirty="0">
                <a:solidFill>
                  <a:srgbClr val="455F51"/>
                </a:solidFill>
                <a:latin typeface="Palatino Linotype"/>
                <a:cs typeface="Palatino Linotype"/>
              </a:rPr>
              <a:t>diễn</a:t>
            </a:r>
            <a:r>
              <a:rPr sz="4900" spc="-90" dirty="0">
                <a:solidFill>
                  <a:srgbClr val="455F51"/>
                </a:solidFill>
                <a:latin typeface="Palatino Linotype"/>
                <a:cs typeface="Palatino Linotype"/>
              </a:rPr>
              <a:t> </a:t>
            </a:r>
            <a:r>
              <a:rPr sz="4900" dirty="0">
                <a:solidFill>
                  <a:srgbClr val="455F51"/>
                </a:solidFill>
                <a:latin typeface="Palatino Linotype"/>
                <a:cs typeface="Palatino Linotype"/>
              </a:rPr>
              <a:t>tri</a:t>
            </a:r>
            <a:r>
              <a:rPr sz="4900" spc="-80" dirty="0">
                <a:solidFill>
                  <a:srgbClr val="455F51"/>
                </a:solidFill>
                <a:latin typeface="Palatino Linotype"/>
                <a:cs typeface="Palatino Linotype"/>
              </a:rPr>
              <a:t> </a:t>
            </a:r>
            <a:r>
              <a:rPr sz="4900" spc="-10" dirty="0">
                <a:solidFill>
                  <a:srgbClr val="455F51"/>
                </a:solidFill>
                <a:latin typeface="Palatino Linotype"/>
                <a:cs typeface="Palatino Linotype"/>
              </a:rPr>
              <a:t>thức?</a:t>
            </a:r>
            <a:endParaRPr sz="49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6343" y="1637157"/>
            <a:ext cx="3850004" cy="170878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85"/>
              </a:spcBef>
            </a:pPr>
            <a:r>
              <a:rPr sz="2400" dirty="0">
                <a:latin typeface="Times New Roman"/>
                <a:cs typeface="Times New Roman"/>
              </a:rPr>
              <a:t>Trong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cuộc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sống,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người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sử </a:t>
            </a:r>
            <a:r>
              <a:rPr sz="2400" dirty="0">
                <a:latin typeface="Times New Roman"/>
                <a:cs typeface="Times New Roman"/>
              </a:rPr>
              <a:t>dụng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ngôn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ngữ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để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biểu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diễn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tri </a:t>
            </a:r>
            <a:r>
              <a:rPr sz="2400" dirty="0">
                <a:latin typeface="Times New Roman"/>
                <a:cs typeface="Times New Roman"/>
              </a:rPr>
              <a:t>thức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và trao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đổi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tri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thức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họ </a:t>
            </a:r>
            <a:r>
              <a:rPr sz="2400" dirty="0">
                <a:latin typeface="Times New Roman"/>
                <a:cs typeface="Times New Roman"/>
              </a:rPr>
              <a:t>suy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nghĩ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và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lập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luận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dựa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trên </a:t>
            </a:r>
            <a:r>
              <a:rPr sz="2400" dirty="0">
                <a:latin typeface="Times New Roman"/>
                <a:cs typeface="Times New Roman"/>
              </a:rPr>
              <a:t>ngôn </a:t>
            </a:r>
            <a:r>
              <a:rPr sz="2400" spc="-25" dirty="0">
                <a:latin typeface="Times New Roman"/>
                <a:cs typeface="Times New Roman"/>
              </a:rPr>
              <a:t>ngữ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95658" y="6516116"/>
            <a:ext cx="1022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Palatino Linotype"/>
                <a:cs typeface="Palatino Linotype"/>
              </a:rPr>
              <a:t>3</a:t>
            </a:r>
            <a:endParaRPr sz="1200">
              <a:latin typeface="Palatino Linotype"/>
              <a:cs typeface="Palatino Linotyp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199314" y="1667979"/>
            <a:ext cx="5687695" cy="4065270"/>
            <a:chOff x="6199314" y="1667979"/>
            <a:chExt cx="5687695" cy="4065270"/>
          </a:xfrm>
        </p:grpSpPr>
        <p:sp>
          <p:nvSpPr>
            <p:cNvPr id="6" name="object 6"/>
            <p:cNvSpPr/>
            <p:nvPr/>
          </p:nvSpPr>
          <p:spPr>
            <a:xfrm>
              <a:off x="6204077" y="5359082"/>
              <a:ext cx="184785" cy="369570"/>
            </a:xfrm>
            <a:custGeom>
              <a:avLst/>
              <a:gdLst/>
              <a:ahLst/>
              <a:cxnLst/>
              <a:rect l="l" t="t" r="r" b="b"/>
              <a:pathLst>
                <a:path w="184785" h="369570">
                  <a:moveTo>
                    <a:pt x="0" y="369328"/>
                  </a:moveTo>
                  <a:lnTo>
                    <a:pt x="184734" y="369328"/>
                  </a:lnTo>
                  <a:lnTo>
                    <a:pt x="184734" y="0"/>
                  </a:lnTo>
                  <a:lnTo>
                    <a:pt x="0" y="0"/>
                  </a:lnTo>
                  <a:lnTo>
                    <a:pt x="0" y="369328"/>
                  </a:lnTo>
                  <a:close/>
                </a:path>
              </a:pathLst>
            </a:custGeom>
            <a:ln w="9525">
              <a:solidFill>
                <a:srgbClr val="E2DE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96406" y="1667979"/>
              <a:ext cx="5590540" cy="394411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41273" y="3559390"/>
            <a:ext cx="5011420" cy="2052955"/>
          </a:xfrm>
          <a:prstGeom prst="rect">
            <a:avLst/>
          </a:prstGeom>
          <a:solidFill>
            <a:srgbClr val="DBEFF3"/>
          </a:solidFill>
        </p:spPr>
        <p:txBody>
          <a:bodyPr vert="horz" wrap="square" lIns="0" tIns="35560" rIns="0" bIns="0" rtlCol="0">
            <a:spAutoFit/>
          </a:bodyPr>
          <a:lstStyle/>
          <a:p>
            <a:pPr marL="484505" marR="81915" algn="just">
              <a:lnSpc>
                <a:spcPct val="90000"/>
              </a:lnSpc>
              <a:spcBef>
                <a:spcPts val="280"/>
              </a:spcBef>
            </a:pPr>
            <a:r>
              <a:rPr sz="2400" b="1" dirty="0">
                <a:latin typeface="Times New Roman"/>
                <a:cs typeface="Times New Roman"/>
              </a:rPr>
              <a:t>Tri</a:t>
            </a:r>
            <a:r>
              <a:rPr sz="2400" b="1" spc="10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thức</a:t>
            </a:r>
            <a:r>
              <a:rPr sz="2400" b="1" spc="10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giữ</a:t>
            </a:r>
            <a:r>
              <a:rPr sz="2400" spc="10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vai</a:t>
            </a:r>
            <a:r>
              <a:rPr sz="2400" spc="10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trò</a:t>
            </a:r>
            <a:r>
              <a:rPr sz="2400" spc="9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quan</a:t>
            </a:r>
            <a:r>
              <a:rPr sz="2400" spc="105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trọng </a:t>
            </a:r>
            <a:r>
              <a:rPr sz="2400" dirty="0">
                <a:latin typeface="Times New Roman"/>
                <a:cs typeface="Times New Roman"/>
              </a:rPr>
              <a:t>trong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các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chương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trình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trí</a:t>
            </a:r>
            <a:r>
              <a:rPr sz="2400" b="1" spc="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tuệ</a:t>
            </a:r>
            <a:r>
              <a:rPr sz="2400" b="1" spc="5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nhân </a:t>
            </a:r>
            <a:r>
              <a:rPr sz="2400" b="1" dirty="0">
                <a:latin typeface="Times New Roman"/>
                <a:cs typeface="Times New Roman"/>
              </a:rPr>
              <a:t>tạo</a:t>
            </a:r>
            <a:r>
              <a:rPr sz="2400" dirty="0">
                <a:latin typeface="Times New Roman"/>
                <a:cs typeface="Times New Roman"/>
              </a:rPr>
              <a:t>.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Tri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thức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được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sử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dụng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trong:</a:t>
            </a:r>
            <a:endParaRPr sz="2400">
              <a:latin typeface="Times New Roman"/>
              <a:cs typeface="Times New Roman"/>
            </a:endParaRPr>
          </a:p>
          <a:p>
            <a:pPr marL="807085" indent="-322580" algn="just">
              <a:lnSpc>
                <a:spcPct val="100000"/>
              </a:lnSpc>
              <a:spcBef>
                <a:spcPts val="290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807085" algn="l"/>
              </a:tabLst>
            </a:pPr>
            <a:r>
              <a:rPr sz="2400" b="1" dirty="0">
                <a:latin typeface="Times New Roman"/>
                <a:cs typeface="Times New Roman"/>
              </a:rPr>
              <a:t>Biểu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diễn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bài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toán</a:t>
            </a:r>
            <a:endParaRPr sz="2400">
              <a:latin typeface="Times New Roman"/>
              <a:cs typeface="Times New Roman"/>
            </a:endParaRPr>
          </a:p>
          <a:p>
            <a:pPr marL="730885" indent="-246379" algn="just">
              <a:lnSpc>
                <a:spcPct val="100000"/>
              </a:lnSpc>
              <a:spcBef>
                <a:spcPts val="285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730885" algn="l"/>
              </a:tabLst>
            </a:pPr>
            <a:r>
              <a:rPr sz="2400" b="1" dirty="0">
                <a:latin typeface="Times New Roman"/>
                <a:cs typeface="Times New Roman"/>
              </a:rPr>
              <a:t>Tìm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kiếm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lời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giải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của bài </a:t>
            </a:r>
            <a:r>
              <a:rPr sz="2400" b="1" spc="-20" dirty="0">
                <a:latin typeface="Times New Roman"/>
                <a:cs typeface="Times New Roman"/>
              </a:rPr>
              <a:t>toán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0160" y="5938746"/>
            <a:ext cx="10427335" cy="831215"/>
          </a:xfrm>
          <a:prstGeom prst="rect">
            <a:avLst/>
          </a:prstGeom>
          <a:solidFill>
            <a:srgbClr val="FF9457">
              <a:alpha val="72155"/>
            </a:srgbClr>
          </a:solidFill>
          <a:ln w="9525">
            <a:solidFill>
              <a:srgbClr val="E2DED1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896619" marR="358775" indent="-530860">
              <a:lnSpc>
                <a:spcPct val="100000"/>
              </a:lnSpc>
              <a:spcBef>
                <a:spcPts val="210"/>
              </a:spcBef>
            </a:pPr>
            <a:r>
              <a:rPr sz="2400" b="1" dirty="0">
                <a:latin typeface="Palatino Linotype"/>
                <a:cs typeface="Palatino Linotype"/>
              </a:rPr>
              <a:t>Mục</a:t>
            </a:r>
            <a:r>
              <a:rPr sz="2400" b="1" spc="-3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tiêu</a:t>
            </a:r>
            <a:r>
              <a:rPr sz="2400" b="1" spc="-1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của</a:t>
            </a:r>
            <a:r>
              <a:rPr sz="2400" b="1" spc="-2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biểu</a:t>
            </a:r>
            <a:r>
              <a:rPr sz="2400" b="1" spc="-3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diễn</a:t>
            </a:r>
            <a:r>
              <a:rPr sz="2400" b="1" spc="-1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tri</a:t>
            </a:r>
            <a:r>
              <a:rPr sz="2400" b="1" spc="-2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thức</a:t>
            </a:r>
            <a:r>
              <a:rPr sz="2400" b="1" spc="-1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là</a:t>
            </a:r>
            <a:r>
              <a:rPr sz="2400" b="1" spc="-3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làm</a:t>
            </a:r>
            <a:r>
              <a:rPr sz="2400" b="1" spc="-1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sao</a:t>
            </a:r>
            <a:r>
              <a:rPr sz="2400" b="1" spc="-1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cho</a:t>
            </a:r>
            <a:r>
              <a:rPr sz="2400" b="1" spc="-2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máy</a:t>
            </a:r>
            <a:r>
              <a:rPr sz="2400" b="1" spc="-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tính</a:t>
            </a:r>
            <a:r>
              <a:rPr sz="2400" b="1" spc="-3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có</a:t>
            </a:r>
            <a:r>
              <a:rPr sz="2400" b="1" spc="-1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thể</a:t>
            </a:r>
            <a:r>
              <a:rPr sz="2400" b="1" spc="-2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thao</a:t>
            </a:r>
            <a:r>
              <a:rPr sz="2400" b="1" spc="-15" dirty="0">
                <a:latin typeface="Palatino Linotype"/>
                <a:cs typeface="Palatino Linotype"/>
              </a:rPr>
              <a:t> </a:t>
            </a:r>
            <a:r>
              <a:rPr sz="2400" b="1" spc="-25" dirty="0">
                <a:latin typeface="Palatino Linotype"/>
                <a:cs typeface="Palatino Linotype"/>
              </a:rPr>
              <a:t>tác </a:t>
            </a:r>
            <a:r>
              <a:rPr sz="2400" b="1" dirty="0">
                <a:latin typeface="Palatino Linotype"/>
                <a:cs typeface="Palatino Linotype"/>
              </a:rPr>
              <a:t>trên</a:t>
            </a:r>
            <a:r>
              <a:rPr sz="2400" b="1" spc="-1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các</a:t>
            </a:r>
            <a:r>
              <a:rPr sz="2400" b="1" spc="-2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tri</a:t>
            </a:r>
            <a:r>
              <a:rPr sz="2400" b="1" spc="-2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thức</a:t>
            </a:r>
            <a:r>
              <a:rPr sz="2400" b="1" spc="-1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được</a:t>
            </a:r>
            <a:r>
              <a:rPr sz="2400" b="1" spc="-2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biểu</a:t>
            </a:r>
            <a:r>
              <a:rPr sz="2400" b="1" spc="-2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diễn</a:t>
            </a:r>
            <a:r>
              <a:rPr sz="2400" b="1" spc="-2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đó</a:t>
            </a:r>
            <a:r>
              <a:rPr sz="2400" b="1" spc="-1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để</a:t>
            </a:r>
            <a:r>
              <a:rPr sz="2400" b="1" spc="-1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tìm</a:t>
            </a:r>
            <a:r>
              <a:rPr sz="2400" b="1" spc="-2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lời</a:t>
            </a:r>
            <a:r>
              <a:rPr sz="2400" b="1" spc="-2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giải</a:t>
            </a:r>
            <a:r>
              <a:rPr sz="2400" b="1" spc="-1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cho</a:t>
            </a:r>
            <a:r>
              <a:rPr sz="2400" b="1" spc="-2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bài</a:t>
            </a:r>
            <a:r>
              <a:rPr sz="2400" b="1" spc="-25" dirty="0">
                <a:latin typeface="Palatino Linotype"/>
                <a:cs typeface="Palatino Linotype"/>
              </a:rPr>
              <a:t> </a:t>
            </a:r>
            <a:r>
              <a:rPr sz="2400" b="1" spc="-10" dirty="0">
                <a:latin typeface="Palatino Linotype"/>
                <a:cs typeface="Palatino Linotype"/>
              </a:rPr>
              <a:t>toán!</a:t>
            </a:r>
            <a:endParaRPr sz="24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80415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95"/>
              </a:spcBef>
            </a:pPr>
            <a:r>
              <a:rPr sz="4000" spc="-40" dirty="0">
                <a:solidFill>
                  <a:srgbClr val="455F51"/>
                </a:solidFill>
                <a:latin typeface="Palatino Linotype"/>
                <a:cs typeface="Palatino Linotype"/>
              </a:rPr>
              <a:t>Tri</a:t>
            </a:r>
            <a:r>
              <a:rPr sz="4000" spc="-114" dirty="0">
                <a:solidFill>
                  <a:srgbClr val="455F51"/>
                </a:solidFill>
                <a:latin typeface="Palatino Linotype"/>
                <a:cs typeface="Palatino Linotype"/>
              </a:rPr>
              <a:t> </a:t>
            </a:r>
            <a:r>
              <a:rPr sz="4000" dirty="0">
                <a:solidFill>
                  <a:srgbClr val="455F51"/>
                </a:solidFill>
                <a:latin typeface="Palatino Linotype"/>
                <a:cs typeface="Palatino Linotype"/>
              </a:rPr>
              <a:t>thức</a:t>
            </a:r>
            <a:r>
              <a:rPr sz="4000" spc="-114" dirty="0">
                <a:solidFill>
                  <a:srgbClr val="455F51"/>
                </a:solidFill>
                <a:latin typeface="Palatino Linotype"/>
                <a:cs typeface="Palatino Linotype"/>
              </a:rPr>
              <a:t> </a:t>
            </a:r>
            <a:r>
              <a:rPr sz="4000" dirty="0">
                <a:solidFill>
                  <a:srgbClr val="455F51"/>
                </a:solidFill>
                <a:latin typeface="Palatino Linotype"/>
                <a:cs typeface="Palatino Linotype"/>
              </a:rPr>
              <a:t>(knowledge)</a:t>
            </a:r>
            <a:r>
              <a:rPr sz="4000" spc="-100" dirty="0">
                <a:solidFill>
                  <a:srgbClr val="455F51"/>
                </a:solidFill>
                <a:latin typeface="Palatino Linotype"/>
                <a:cs typeface="Palatino Linotype"/>
              </a:rPr>
              <a:t> </a:t>
            </a:r>
            <a:r>
              <a:rPr sz="4000" dirty="0">
                <a:solidFill>
                  <a:srgbClr val="455F51"/>
                </a:solidFill>
                <a:latin typeface="Palatino Linotype"/>
                <a:cs typeface="Palatino Linotype"/>
              </a:rPr>
              <a:t>là</a:t>
            </a:r>
            <a:r>
              <a:rPr sz="4000" spc="-114" dirty="0">
                <a:solidFill>
                  <a:srgbClr val="455F51"/>
                </a:solidFill>
                <a:latin typeface="Palatino Linotype"/>
                <a:cs typeface="Palatino Linotype"/>
              </a:rPr>
              <a:t> </a:t>
            </a:r>
            <a:r>
              <a:rPr sz="4000" spc="-25" dirty="0">
                <a:solidFill>
                  <a:srgbClr val="455F51"/>
                </a:solidFill>
                <a:latin typeface="Palatino Linotype"/>
                <a:cs typeface="Palatino Linotype"/>
              </a:rPr>
              <a:t>gì?</a:t>
            </a:r>
            <a:endParaRPr sz="400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75">
              <a:lnSpc>
                <a:spcPts val="1430"/>
              </a:lnSpc>
            </a:pPr>
            <a:fld id="{81D60167-4931-47E6-BA6A-407CBD079E47}" type="slidenum">
              <a:rPr spc="-50" dirty="0">
                <a:latin typeface="Arial"/>
                <a:cs typeface="Arial"/>
              </a:rPr>
              <a:t>4</a:t>
            </a:fld>
            <a:endParaRPr spc="-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5563" y="2171192"/>
            <a:ext cx="10858500" cy="40684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9079" indent="-246379">
              <a:lnSpc>
                <a:spcPct val="100000"/>
              </a:lnSpc>
              <a:spcBef>
                <a:spcPts val="105"/>
              </a:spcBef>
              <a:buClr>
                <a:srgbClr val="539E39"/>
              </a:buClr>
              <a:buSzPct val="84615"/>
              <a:buFont typeface="Wingdings 2"/>
              <a:buChar char=""/>
              <a:tabLst>
                <a:tab pos="259079" algn="l"/>
              </a:tabLst>
            </a:pPr>
            <a:r>
              <a:rPr sz="2600" dirty="0">
                <a:latin typeface="Times New Roman"/>
                <a:cs typeface="Times New Roman"/>
              </a:rPr>
              <a:t>Những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dữ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kiện,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thông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tin,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sự mô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tả,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hoặc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kỹ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năng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có được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nhờ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trải</a:t>
            </a:r>
            <a:r>
              <a:rPr sz="2600" b="1" spc="-2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nghiệm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hay</a:t>
            </a:r>
            <a:endParaRPr sz="2600">
              <a:latin typeface="Times New Roman"/>
              <a:cs typeface="Times New Roman"/>
            </a:endParaRPr>
          </a:p>
          <a:p>
            <a:pPr marL="259079">
              <a:lnSpc>
                <a:spcPct val="100000"/>
              </a:lnSpc>
            </a:pPr>
            <a:r>
              <a:rPr sz="2600" b="1" dirty="0">
                <a:latin typeface="Times New Roman"/>
                <a:cs typeface="Times New Roman"/>
              </a:rPr>
              <a:t>thông</a:t>
            </a:r>
            <a:r>
              <a:rPr sz="2600" b="1" spc="-2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qua học</a:t>
            </a:r>
            <a:r>
              <a:rPr sz="2600" b="1" spc="-25" dirty="0">
                <a:latin typeface="Times New Roman"/>
                <a:cs typeface="Times New Roman"/>
              </a:rPr>
              <a:t> </a:t>
            </a:r>
            <a:r>
              <a:rPr sz="2600" b="1" spc="-20" dirty="0">
                <a:latin typeface="Times New Roman"/>
                <a:cs typeface="Times New Roman"/>
              </a:rPr>
              <a:t>tập</a:t>
            </a:r>
            <a:r>
              <a:rPr sz="2600" spc="-2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259079" indent="-246379">
              <a:lnSpc>
                <a:spcPct val="100000"/>
              </a:lnSpc>
              <a:spcBef>
                <a:spcPts val="620"/>
              </a:spcBef>
              <a:buClr>
                <a:srgbClr val="539E39"/>
              </a:buClr>
              <a:buSzPct val="84615"/>
              <a:buFont typeface="Wingdings 2"/>
              <a:buChar char=""/>
              <a:tabLst>
                <a:tab pos="259079" algn="l"/>
              </a:tabLst>
            </a:pPr>
            <a:r>
              <a:rPr sz="2600" dirty="0">
                <a:latin typeface="Times New Roman"/>
                <a:cs typeface="Times New Roman"/>
              </a:rPr>
              <a:t>Chỉ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sự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hiểu biết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về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một đối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tượng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về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mặt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lý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thuyết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hay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thực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hành.</a:t>
            </a:r>
            <a:endParaRPr sz="2600">
              <a:latin typeface="Times New Roman"/>
              <a:cs typeface="Times New Roman"/>
            </a:endParaRPr>
          </a:p>
          <a:p>
            <a:pPr marL="259079" marR="5080" indent="-247015">
              <a:lnSpc>
                <a:spcPct val="100000"/>
              </a:lnSpc>
              <a:spcBef>
                <a:spcPts val="630"/>
              </a:spcBef>
              <a:buClr>
                <a:srgbClr val="539E39"/>
              </a:buClr>
              <a:buSzPct val="84615"/>
              <a:buFont typeface="Wingdings 2"/>
              <a:buChar char=""/>
              <a:tabLst>
                <a:tab pos="259079" algn="l"/>
              </a:tabLst>
            </a:pPr>
            <a:r>
              <a:rPr sz="2600" dirty="0">
                <a:latin typeface="Times New Roman"/>
                <a:cs typeface="Times New Roman"/>
              </a:rPr>
              <a:t>Sự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thành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tựu tri thức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liên quan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đến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những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quá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trình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nhận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thức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phức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tạp: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tri </a:t>
            </a:r>
            <a:r>
              <a:rPr sz="2600" spc="-10" dirty="0">
                <a:latin typeface="Times New Roman"/>
                <a:cs typeface="Times New Roman"/>
              </a:rPr>
              <a:t>giác, </a:t>
            </a:r>
            <a:r>
              <a:rPr sz="2600" dirty="0">
                <a:latin typeface="Times New Roman"/>
                <a:cs typeface="Times New Roman"/>
              </a:rPr>
              <a:t>truyền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đạt,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liên hệ,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và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suy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luận</a:t>
            </a:r>
            <a:endParaRPr sz="2600">
              <a:latin typeface="Times New Roman"/>
              <a:cs typeface="Times New Roman"/>
            </a:endParaRPr>
          </a:p>
          <a:p>
            <a:pPr marL="259079" indent="-246379">
              <a:lnSpc>
                <a:spcPct val="100000"/>
              </a:lnSpc>
              <a:spcBef>
                <a:spcPts val="620"/>
              </a:spcBef>
              <a:buClr>
                <a:srgbClr val="539E39"/>
              </a:buClr>
              <a:buSzPct val="84615"/>
              <a:buFont typeface="Wingdings 2"/>
              <a:buChar char=""/>
              <a:tabLst>
                <a:tab pos="259079" algn="l"/>
              </a:tabLst>
            </a:pPr>
            <a:r>
              <a:rPr sz="2600" dirty="0">
                <a:latin typeface="Times New Roman"/>
                <a:cs typeface="Times New Roman"/>
              </a:rPr>
              <a:t>Tri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thức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có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thể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phân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thành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2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lớp:</a:t>
            </a:r>
            <a:endParaRPr sz="2600">
              <a:latin typeface="Times New Roman"/>
              <a:cs typeface="Times New Roman"/>
            </a:endParaRPr>
          </a:p>
          <a:p>
            <a:pPr marL="533400" lvl="1" indent="-246379">
              <a:lnSpc>
                <a:spcPct val="100000"/>
              </a:lnSpc>
              <a:spcBef>
                <a:spcPts val="630"/>
              </a:spcBef>
              <a:buClr>
                <a:srgbClr val="89B833"/>
              </a:buClr>
              <a:buSzPct val="69230"/>
              <a:buFont typeface="Wingdings 2"/>
              <a:buChar char=""/>
              <a:tabLst>
                <a:tab pos="533400" algn="l"/>
              </a:tabLst>
            </a:pPr>
            <a:r>
              <a:rPr sz="2600" b="1" spc="-40" dirty="0">
                <a:latin typeface="Times New Roman"/>
                <a:cs typeface="Times New Roman"/>
              </a:rPr>
              <a:t>Tri</a:t>
            </a:r>
            <a:r>
              <a:rPr sz="2600" b="1" spc="-3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thức</a:t>
            </a:r>
            <a:r>
              <a:rPr sz="2600" b="1" spc="-3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sự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kiện</a:t>
            </a:r>
            <a:r>
              <a:rPr sz="2600" dirty="0">
                <a:latin typeface="Times New Roman"/>
                <a:cs typeface="Times New Roman"/>
              </a:rPr>
              <a:t>: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mô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tả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các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sự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kiện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trong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thế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giới</a:t>
            </a:r>
            <a:endParaRPr sz="2600">
              <a:latin typeface="Times New Roman"/>
              <a:cs typeface="Times New Roman"/>
            </a:endParaRPr>
          </a:p>
          <a:p>
            <a:pPr marL="533400" lvl="1" indent="-246379">
              <a:lnSpc>
                <a:spcPct val="100000"/>
              </a:lnSpc>
              <a:spcBef>
                <a:spcPts val="620"/>
              </a:spcBef>
              <a:buClr>
                <a:srgbClr val="89B833"/>
              </a:buClr>
              <a:buSzPct val="69230"/>
              <a:buFont typeface="Wingdings 2"/>
              <a:buChar char=""/>
              <a:tabLst>
                <a:tab pos="533400" algn="l"/>
              </a:tabLst>
            </a:pPr>
            <a:r>
              <a:rPr sz="2600" b="1" spc="-40" dirty="0">
                <a:latin typeface="Times New Roman"/>
                <a:cs typeface="Times New Roman"/>
              </a:rPr>
              <a:t>Tri</a:t>
            </a:r>
            <a:r>
              <a:rPr sz="2600" b="1" spc="-2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thức</a:t>
            </a:r>
            <a:r>
              <a:rPr sz="2600" b="1" spc="-2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suy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diễn</a:t>
            </a:r>
            <a:r>
              <a:rPr sz="2600" dirty="0">
                <a:latin typeface="Times New Roman"/>
                <a:cs typeface="Times New Roman"/>
              </a:rPr>
              <a:t>: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mô tả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các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“quy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luật”,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mối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quan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hệ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giữ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các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sự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kiện</a:t>
            </a:r>
            <a:endParaRPr sz="2600">
              <a:latin typeface="Times New Roman"/>
              <a:cs typeface="Times New Roman"/>
            </a:endParaRPr>
          </a:p>
          <a:p>
            <a:pPr marL="259079" indent="-246379">
              <a:lnSpc>
                <a:spcPct val="100000"/>
              </a:lnSpc>
              <a:spcBef>
                <a:spcPts val="625"/>
              </a:spcBef>
              <a:buClr>
                <a:srgbClr val="539E39"/>
              </a:buClr>
              <a:buSzPct val="84615"/>
              <a:buFont typeface="Wingdings 2"/>
              <a:buChar char=""/>
              <a:tabLst>
                <a:tab pos="259079" algn="l"/>
              </a:tabLst>
            </a:pPr>
            <a:r>
              <a:rPr sz="2600" dirty="0">
                <a:latin typeface="Times New Roman"/>
                <a:cs typeface="Times New Roman"/>
              </a:rPr>
              <a:t>Phân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biệt tri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thức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(knowledge)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với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thông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tin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(information)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và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dữ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liệu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(data)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5685" y="77851"/>
            <a:ext cx="2766314" cy="20718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4029" y="2024916"/>
            <a:ext cx="7002459" cy="44850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80415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95"/>
              </a:spcBef>
            </a:pPr>
            <a:r>
              <a:rPr sz="4000" spc="-40" dirty="0">
                <a:solidFill>
                  <a:srgbClr val="455F51"/>
                </a:solidFill>
                <a:latin typeface="Palatino Linotype"/>
                <a:cs typeface="Palatino Linotype"/>
              </a:rPr>
              <a:t>Tri</a:t>
            </a:r>
            <a:r>
              <a:rPr sz="4000" spc="-120" dirty="0">
                <a:solidFill>
                  <a:srgbClr val="455F51"/>
                </a:solidFill>
                <a:latin typeface="Palatino Linotype"/>
                <a:cs typeface="Palatino Linotype"/>
              </a:rPr>
              <a:t> </a:t>
            </a:r>
            <a:r>
              <a:rPr sz="4000" dirty="0">
                <a:solidFill>
                  <a:srgbClr val="455F51"/>
                </a:solidFill>
                <a:latin typeface="Palatino Linotype"/>
                <a:cs typeface="Palatino Linotype"/>
              </a:rPr>
              <a:t>thức</a:t>
            </a:r>
            <a:r>
              <a:rPr sz="4000" spc="-114" dirty="0">
                <a:solidFill>
                  <a:srgbClr val="455F51"/>
                </a:solidFill>
                <a:latin typeface="Palatino Linotype"/>
                <a:cs typeface="Palatino Linotype"/>
              </a:rPr>
              <a:t> </a:t>
            </a:r>
            <a:r>
              <a:rPr sz="4000" dirty="0">
                <a:solidFill>
                  <a:srgbClr val="455F51"/>
                </a:solidFill>
                <a:latin typeface="Palatino Linotype"/>
                <a:cs typeface="Palatino Linotype"/>
              </a:rPr>
              <a:t>(knowledge)</a:t>
            </a:r>
            <a:r>
              <a:rPr sz="4000" spc="-105" dirty="0">
                <a:solidFill>
                  <a:srgbClr val="455F51"/>
                </a:solidFill>
                <a:latin typeface="Palatino Linotype"/>
                <a:cs typeface="Palatino Linotype"/>
              </a:rPr>
              <a:t> </a:t>
            </a:r>
            <a:r>
              <a:rPr sz="4000" dirty="0">
                <a:solidFill>
                  <a:srgbClr val="455F51"/>
                </a:solidFill>
                <a:latin typeface="Palatino Linotype"/>
                <a:cs typeface="Palatino Linotype"/>
              </a:rPr>
              <a:t>là</a:t>
            </a:r>
            <a:r>
              <a:rPr sz="4000" spc="-120" dirty="0">
                <a:solidFill>
                  <a:srgbClr val="455F51"/>
                </a:solidFill>
                <a:latin typeface="Palatino Linotype"/>
                <a:cs typeface="Palatino Linotype"/>
              </a:rPr>
              <a:t> </a:t>
            </a:r>
            <a:r>
              <a:rPr sz="4000" spc="-25" dirty="0">
                <a:solidFill>
                  <a:srgbClr val="455F51"/>
                </a:solidFill>
                <a:latin typeface="Palatino Linotype"/>
                <a:cs typeface="Palatino Linotype"/>
              </a:rPr>
              <a:t>gì?</a:t>
            </a:r>
            <a:endParaRPr sz="40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75">
              <a:lnSpc>
                <a:spcPts val="1430"/>
              </a:lnSpc>
            </a:pPr>
            <a:fld id="{81D60167-4931-47E6-BA6A-407CBD079E47}" type="slidenum">
              <a:rPr spc="-50" dirty="0">
                <a:latin typeface="Arial"/>
                <a:cs typeface="Arial"/>
              </a:rPr>
              <a:t>5</a:t>
            </a:fld>
            <a:endParaRPr spc="-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3705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105"/>
              </a:spcBef>
            </a:pPr>
            <a:r>
              <a:rPr sz="5000" dirty="0">
                <a:solidFill>
                  <a:srgbClr val="455F51"/>
                </a:solidFill>
              </a:rPr>
              <a:t>Biểu</a:t>
            </a:r>
            <a:r>
              <a:rPr sz="5000" spc="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diễn</a:t>
            </a:r>
            <a:r>
              <a:rPr sz="5000" spc="-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tri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spc="-20" dirty="0">
                <a:solidFill>
                  <a:srgbClr val="455F51"/>
                </a:solidFill>
              </a:rPr>
              <a:t>thức</a:t>
            </a:r>
            <a:endParaRPr sz="5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75">
              <a:lnSpc>
                <a:spcPts val="1430"/>
              </a:lnSpc>
            </a:pPr>
            <a:fld id="{81D60167-4931-47E6-BA6A-407CBD079E47}" type="slidenum">
              <a:rPr spc="-50" dirty="0">
                <a:latin typeface="Arial"/>
                <a:cs typeface="Arial"/>
              </a:rPr>
              <a:t>6</a:t>
            </a:fld>
            <a:endParaRPr spc="-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855632"/>
            <a:ext cx="9343390" cy="411924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470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dirty="0">
                <a:latin typeface="Palatino Linotype"/>
                <a:cs typeface="Palatino Linotype"/>
              </a:rPr>
              <a:t>Biểu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diễn</a:t>
            </a:r>
            <a:r>
              <a:rPr sz="2800" spc="-5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tri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thức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là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phương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pháp</a:t>
            </a:r>
            <a:r>
              <a:rPr sz="2800" spc="-25" dirty="0">
                <a:latin typeface="Palatino Linotype"/>
                <a:cs typeface="Palatino Linotype"/>
              </a:rPr>
              <a:t> để:</a:t>
            </a:r>
            <a:endParaRPr sz="28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320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Mã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hoá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tri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thức.</a:t>
            </a:r>
            <a:endParaRPr sz="2400">
              <a:latin typeface="Palatino Linotype"/>
              <a:cs typeface="Palatino Linotype"/>
            </a:endParaRPr>
          </a:p>
          <a:p>
            <a:pPr marL="652780" lvl="1" indent="-247015">
              <a:lnSpc>
                <a:spcPts val="2735"/>
              </a:lnSpc>
              <a:spcBef>
                <a:spcPts val="285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Nhằm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thành</a:t>
            </a:r>
            <a:r>
              <a:rPr sz="2400" spc="-1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lập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cơ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sở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tri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thức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cho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các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hệ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thống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dựa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trên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tri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thức</a:t>
            </a:r>
            <a:endParaRPr sz="2400">
              <a:latin typeface="Palatino Linotype"/>
              <a:cs typeface="Palatino Linotype"/>
            </a:endParaRPr>
          </a:p>
          <a:p>
            <a:pPr marL="652780">
              <a:lnSpc>
                <a:spcPts val="2735"/>
              </a:lnSpc>
            </a:pPr>
            <a:r>
              <a:rPr sz="2400" spc="-25" dirty="0">
                <a:latin typeface="Palatino Linotype"/>
                <a:cs typeface="Palatino Linotype"/>
              </a:rPr>
              <a:t>(Knowledge-</a:t>
            </a:r>
            <a:r>
              <a:rPr sz="2400" dirty="0">
                <a:latin typeface="Palatino Linotype"/>
                <a:cs typeface="Palatino Linotype"/>
              </a:rPr>
              <a:t>Based</a:t>
            </a:r>
            <a:r>
              <a:rPr sz="2400" spc="7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System).</a:t>
            </a:r>
            <a:endParaRPr sz="24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310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dirty="0">
                <a:latin typeface="Palatino Linotype"/>
                <a:cs typeface="Palatino Linotype"/>
              </a:rPr>
              <a:t>BDTT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là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sự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tổng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hợp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của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các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yếu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spc="-25" dirty="0">
                <a:latin typeface="Palatino Linotype"/>
                <a:cs typeface="Palatino Linotype"/>
              </a:rPr>
              <a:t>tố:</a:t>
            </a:r>
            <a:endParaRPr sz="28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315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Một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sự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thay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thế.</a:t>
            </a:r>
            <a:endParaRPr sz="24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290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Một</a:t>
            </a:r>
            <a:r>
              <a:rPr sz="2400" spc="-1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tập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hợp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các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giả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định</a:t>
            </a:r>
            <a:r>
              <a:rPr sz="2400" spc="-1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về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sự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tồn</a:t>
            </a:r>
            <a:r>
              <a:rPr sz="2400" spc="-10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tại.</a:t>
            </a:r>
            <a:endParaRPr sz="24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290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Một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lý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thuyết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bộ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phận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cho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sự</a:t>
            </a:r>
            <a:r>
              <a:rPr sz="2400" spc="-6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suy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luận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thông</a:t>
            </a:r>
            <a:r>
              <a:rPr sz="2400" spc="-1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minh.</a:t>
            </a:r>
            <a:endParaRPr sz="24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290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Một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phương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tiện</a:t>
            </a:r>
            <a:r>
              <a:rPr sz="2400" spc="-5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cho</a:t>
            </a:r>
            <a:r>
              <a:rPr sz="2400" spc="-5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tính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toán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hiệu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quả.</a:t>
            </a:r>
            <a:endParaRPr sz="24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285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Một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phương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tiện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cho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sự</a:t>
            </a:r>
            <a:r>
              <a:rPr sz="2400" spc="-6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diễn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đạt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của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con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người.</a:t>
            </a:r>
            <a:endParaRPr sz="24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6593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455F51"/>
                </a:solidFill>
                <a:latin typeface="Palatino Linotype"/>
                <a:cs typeface="Palatino Linotype"/>
              </a:rPr>
              <a:t>Biểu</a:t>
            </a:r>
            <a:r>
              <a:rPr sz="4800" spc="-80" dirty="0">
                <a:solidFill>
                  <a:srgbClr val="455F51"/>
                </a:solidFill>
                <a:latin typeface="Palatino Linotype"/>
                <a:cs typeface="Palatino Linotype"/>
              </a:rPr>
              <a:t> </a:t>
            </a:r>
            <a:r>
              <a:rPr sz="4800" dirty="0">
                <a:solidFill>
                  <a:srgbClr val="455F51"/>
                </a:solidFill>
                <a:latin typeface="Palatino Linotype"/>
                <a:cs typeface="Palatino Linotype"/>
              </a:rPr>
              <a:t>diễn</a:t>
            </a:r>
            <a:r>
              <a:rPr sz="4800" spc="-70" dirty="0">
                <a:solidFill>
                  <a:srgbClr val="455F51"/>
                </a:solidFill>
                <a:latin typeface="Palatino Linotype"/>
                <a:cs typeface="Palatino Linotype"/>
              </a:rPr>
              <a:t> </a:t>
            </a:r>
            <a:r>
              <a:rPr sz="4800" dirty="0">
                <a:solidFill>
                  <a:srgbClr val="455F51"/>
                </a:solidFill>
                <a:latin typeface="Palatino Linotype"/>
                <a:cs typeface="Palatino Linotype"/>
              </a:rPr>
              <a:t>và</a:t>
            </a:r>
            <a:r>
              <a:rPr sz="4800" spc="-75" dirty="0">
                <a:solidFill>
                  <a:srgbClr val="455F51"/>
                </a:solidFill>
                <a:latin typeface="Palatino Linotype"/>
                <a:cs typeface="Palatino Linotype"/>
              </a:rPr>
              <a:t> </a:t>
            </a:r>
            <a:r>
              <a:rPr sz="4800" dirty="0">
                <a:solidFill>
                  <a:srgbClr val="455F51"/>
                </a:solidFill>
                <a:latin typeface="Palatino Linotype"/>
                <a:cs typeface="Palatino Linotype"/>
              </a:rPr>
              <a:t>ánh</a:t>
            </a:r>
            <a:r>
              <a:rPr sz="4800" spc="-75" dirty="0">
                <a:solidFill>
                  <a:srgbClr val="455F51"/>
                </a:solidFill>
                <a:latin typeface="Palatino Linotype"/>
                <a:cs typeface="Palatino Linotype"/>
              </a:rPr>
              <a:t> </a:t>
            </a:r>
            <a:r>
              <a:rPr sz="4800" spc="-25" dirty="0">
                <a:solidFill>
                  <a:srgbClr val="455F51"/>
                </a:solidFill>
                <a:latin typeface="Palatino Linotype"/>
                <a:cs typeface="Palatino Linotype"/>
              </a:rPr>
              <a:t>xạ</a:t>
            </a:r>
            <a:endParaRPr sz="48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75">
              <a:lnSpc>
                <a:spcPts val="1430"/>
              </a:lnSpc>
            </a:pPr>
            <a:fld id="{81D60167-4931-47E6-BA6A-407CBD079E47}" type="slidenum">
              <a:rPr spc="-50" dirty="0">
                <a:latin typeface="Arial"/>
                <a:cs typeface="Arial"/>
              </a:rPr>
              <a:t>7</a:t>
            </a:fld>
            <a:endParaRPr spc="-5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1285875"/>
            <a:ext cx="9017000" cy="5435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6593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455F51"/>
                </a:solidFill>
                <a:latin typeface="Palatino Linotype"/>
                <a:cs typeface="Palatino Linotype"/>
              </a:rPr>
              <a:t>Biểu</a:t>
            </a:r>
            <a:r>
              <a:rPr sz="4800" spc="-80" dirty="0">
                <a:solidFill>
                  <a:srgbClr val="455F51"/>
                </a:solidFill>
                <a:latin typeface="Palatino Linotype"/>
                <a:cs typeface="Palatino Linotype"/>
              </a:rPr>
              <a:t> </a:t>
            </a:r>
            <a:r>
              <a:rPr sz="4800" dirty="0">
                <a:solidFill>
                  <a:srgbClr val="455F51"/>
                </a:solidFill>
                <a:latin typeface="Palatino Linotype"/>
                <a:cs typeface="Palatino Linotype"/>
              </a:rPr>
              <a:t>diễn</a:t>
            </a:r>
            <a:r>
              <a:rPr sz="4800" spc="-70" dirty="0">
                <a:solidFill>
                  <a:srgbClr val="455F51"/>
                </a:solidFill>
                <a:latin typeface="Palatino Linotype"/>
                <a:cs typeface="Palatino Linotype"/>
              </a:rPr>
              <a:t> </a:t>
            </a:r>
            <a:r>
              <a:rPr sz="4800" dirty="0">
                <a:solidFill>
                  <a:srgbClr val="455F51"/>
                </a:solidFill>
                <a:latin typeface="Palatino Linotype"/>
                <a:cs typeface="Palatino Linotype"/>
              </a:rPr>
              <a:t>và</a:t>
            </a:r>
            <a:r>
              <a:rPr sz="4800" spc="-75" dirty="0">
                <a:solidFill>
                  <a:srgbClr val="455F51"/>
                </a:solidFill>
                <a:latin typeface="Palatino Linotype"/>
                <a:cs typeface="Palatino Linotype"/>
              </a:rPr>
              <a:t> </a:t>
            </a:r>
            <a:r>
              <a:rPr sz="4800" dirty="0">
                <a:solidFill>
                  <a:srgbClr val="455F51"/>
                </a:solidFill>
                <a:latin typeface="Palatino Linotype"/>
                <a:cs typeface="Palatino Linotype"/>
              </a:rPr>
              <a:t>ánh</a:t>
            </a:r>
            <a:r>
              <a:rPr sz="4800" spc="-75" dirty="0">
                <a:solidFill>
                  <a:srgbClr val="455F51"/>
                </a:solidFill>
                <a:latin typeface="Palatino Linotype"/>
                <a:cs typeface="Palatino Linotype"/>
              </a:rPr>
              <a:t> </a:t>
            </a:r>
            <a:r>
              <a:rPr sz="4800" spc="-25" dirty="0">
                <a:solidFill>
                  <a:srgbClr val="455F51"/>
                </a:solidFill>
                <a:latin typeface="Palatino Linotype"/>
                <a:cs typeface="Palatino Linotype"/>
              </a:rPr>
              <a:t>xạ</a:t>
            </a:r>
            <a:endParaRPr sz="4800">
              <a:latin typeface="Palatino Linotype"/>
              <a:cs typeface="Palatino Linotype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75">
              <a:lnSpc>
                <a:spcPts val="1430"/>
              </a:lnSpc>
            </a:pPr>
            <a:fld id="{81D60167-4931-47E6-BA6A-407CBD079E47}" type="slidenum">
              <a:rPr spc="-50" dirty="0">
                <a:latin typeface="Arial"/>
                <a:cs typeface="Arial"/>
              </a:rPr>
              <a:t>8</a:t>
            </a:fld>
            <a:endParaRPr spc="-50" dirty="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714688" y="1595437"/>
            <a:ext cx="2330450" cy="2066925"/>
            <a:chOff x="2714688" y="1595437"/>
            <a:chExt cx="2330450" cy="2066925"/>
          </a:xfrm>
        </p:grpSpPr>
        <p:sp>
          <p:nvSpPr>
            <p:cNvPr id="4" name="object 4"/>
            <p:cNvSpPr/>
            <p:nvPr/>
          </p:nvSpPr>
          <p:spPr>
            <a:xfrm>
              <a:off x="2719451" y="1600200"/>
              <a:ext cx="2320925" cy="2057400"/>
            </a:xfrm>
            <a:custGeom>
              <a:avLst/>
              <a:gdLst/>
              <a:ahLst/>
              <a:cxnLst/>
              <a:rect l="l" t="t" r="r" b="b"/>
              <a:pathLst>
                <a:path w="2320925" h="2057400">
                  <a:moveTo>
                    <a:pt x="1560322" y="0"/>
                  </a:moveTo>
                  <a:lnTo>
                    <a:pt x="1160399" y="552450"/>
                  </a:lnTo>
                  <a:lnTo>
                    <a:pt x="897382" y="218566"/>
                  </a:lnTo>
                  <a:lnTo>
                    <a:pt x="785622" y="601979"/>
                  </a:lnTo>
                  <a:lnTo>
                    <a:pt x="39750" y="218566"/>
                  </a:lnTo>
                  <a:lnTo>
                    <a:pt x="497078" y="725551"/>
                  </a:lnTo>
                  <a:lnTo>
                    <a:pt x="0" y="820547"/>
                  </a:lnTo>
                  <a:lnTo>
                    <a:pt x="399923" y="1121537"/>
                  </a:lnTo>
                  <a:lnTo>
                    <a:pt x="14478" y="1389379"/>
                  </a:lnTo>
                  <a:lnTo>
                    <a:pt x="608838" y="1327530"/>
                  </a:lnTo>
                  <a:lnTo>
                    <a:pt x="511556" y="1678051"/>
                  </a:lnTo>
                  <a:lnTo>
                    <a:pt x="828928" y="1488439"/>
                  </a:lnTo>
                  <a:lnTo>
                    <a:pt x="911606" y="2057400"/>
                  </a:lnTo>
                  <a:lnTo>
                    <a:pt x="1131570" y="1422527"/>
                  </a:lnTo>
                  <a:lnTo>
                    <a:pt x="1423289" y="1879980"/>
                  </a:lnTo>
                  <a:lnTo>
                    <a:pt x="1506347" y="1377061"/>
                  </a:lnTo>
                  <a:lnTo>
                    <a:pt x="1949577" y="1723516"/>
                  </a:lnTo>
                  <a:lnTo>
                    <a:pt x="1809114" y="1232662"/>
                  </a:lnTo>
                  <a:lnTo>
                    <a:pt x="2320925" y="1265809"/>
                  </a:lnTo>
                  <a:lnTo>
                    <a:pt x="1891791" y="997712"/>
                  </a:lnTo>
                  <a:lnTo>
                    <a:pt x="2266823" y="775080"/>
                  </a:lnTo>
                  <a:lnTo>
                    <a:pt x="1794510" y="696722"/>
                  </a:lnTo>
                  <a:lnTo>
                    <a:pt x="1974850" y="424561"/>
                  </a:lnTo>
                  <a:lnTo>
                    <a:pt x="1520952" y="507238"/>
                  </a:lnTo>
                  <a:lnTo>
                    <a:pt x="1560322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19451" y="1600200"/>
              <a:ext cx="2320925" cy="2057400"/>
            </a:xfrm>
            <a:custGeom>
              <a:avLst/>
              <a:gdLst/>
              <a:ahLst/>
              <a:cxnLst/>
              <a:rect l="l" t="t" r="r" b="b"/>
              <a:pathLst>
                <a:path w="2320925" h="2057400">
                  <a:moveTo>
                    <a:pt x="1160399" y="552450"/>
                  </a:moveTo>
                  <a:lnTo>
                    <a:pt x="1560322" y="0"/>
                  </a:lnTo>
                  <a:lnTo>
                    <a:pt x="1520952" y="507238"/>
                  </a:lnTo>
                  <a:lnTo>
                    <a:pt x="1974850" y="424561"/>
                  </a:lnTo>
                  <a:lnTo>
                    <a:pt x="1794510" y="696722"/>
                  </a:lnTo>
                  <a:lnTo>
                    <a:pt x="2266823" y="775080"/>
                  </a:lnTo>
                  <a:lnTo>
                    <a:pt x="1891791" y="997712"/>
                  </a:lnTo>
                  <a:lnTo>
                    <a:pt x="2320925" y="1265809"/>
                  </a:lnTo>
                  <a:lnTo>
                    <a:pt x="1809114" y="1232662"/>
                  </a:lnTo>
                  <a:lnTo>
                    <a:pt x="1949577" y="1723516"/>
                  </a:lnTo>
                  <a:lnTo>
                    <a:pt x="1506347" y="1377061"/>
                  </a:lnTo>
                  <a:lnTo>
                    <a:pt x="1423289" y="1879980"/>
                  </a:lnTo>
                  <a:lnTo>
                    <a:pt x="1131570" y="1422527"/>
                  </a:lnTo>
                  <a:lnTo>
                    <a:pt x="911606" y="2057400"/>
                  </a:lnTo>
                  <a:lnTo>
                    <a:pt x="828928" y="1488439"/>
                  </a:lnTo>
                  <a:lnTo>
                    <a:pt x="511556" y="1678051"/>
                  </a:lnTo>
                  <a:lnTo>
                    <a:pt x="608838" y="1327530"/>
                  </a:lnTo>
                  <a:lnTo>
                    <a:pt x="14478" y="1389379"/>
                  </a:lnTo>
                  <a:lnTo>
                    <a:pt x="399923" y="1121537"/>
                  </a:lnTo>
                  <a:lnTo>
                    <a:pt x="0" y="820547"/>
                  </a:lnTo>
                  <a:lnTo>
                    <a:pt x="497078" y="725551"/>
                  </a:lnTo>
                  <a:lnTo>
                    <a:pt x="39750" y="218566"/>
                  </a:lnTo>
                  <a:lnTo>
                    <a:pt x="785622" y="601979"/>
                  </a:lnTo>
                  <a:lnTo>
                    <a:pt x="897382" y="218566"/>
                  </a:lnTo>
                  <a:lnTo>
                    <a:pt x="1160399" y="5524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236467" y="2264790"/>
            <a:ext cx="12077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5080" indent="-635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Tri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thức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thực </a:t>
            </a:r>
            <a:r>
              <a:rPr sz="1800" dirty="0">
                <a:latin typeface="Times New Roman"/>
                <a:cs typeface="Times New Roman"/>
              </a:rPr>
              <a:t>Của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lĩnh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vực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920037" y="1595437"/>
            <a:ext cx="1627505" cy="1834514"/>
            <a:chOff x="7920037" y="1595437"/>
            <a:chExt cx="1627505" cy="1834514"/>
          </a:xfrm>
        </p:grpSpPr>
        <p:sp>
          <p:nvSpPr>
            <p:cNvPr id="8" name="object 8"/>
            <p:cNvSpPr/>
            <p:nvPr/>
          </p:nvSpPr>
          <p:spPr>
            <a:xfrm>
              <a:off x="7924800" y="1600200"/>
              <a:ext cx="1617980" cy="1824989"/>
            </a:xfrm>
            <a:custGeom>
              <a:avLst/>
              <a:gdLst/>
              <a:ahLst/>
              <a:cxnLst/>
              <a:rect l="l" t="t" r="r" b="b"/>
              <a:pathLst>
                <a:path w="1617979" h="1824989">
                  <a:moveTo>
                    <a:pt x="1392554" y="311150"/>
                  </a:moveTo>
                  <a:lnTo>
                    <a:pt x="0" y="311150"/>
                  </a:lnTo>
                  <a:lnTo>
                    <a:pt x="0" y="1759585"/>
                  </a:lnTo>
                  <a:lnTo>
                    <a:pt x="54961" y="1777018"/>
                  </a:lnTo>
                  <a:lnTo>
                    <a:pt x="107036" y="1791518"/>
                  </a:lnTo>
                  <a:lnTo>
                    <a:pt x="156388" y="1803222"/>
                  </a:lnTo>
                  <a:lnTo>
                    <a:pt x="203184" y="1812269"/>
                  </a:lnTo>
                  <a:lnTo>
                    <a:pt x="247588" y="1818797"/>
                  </a:lnTo>
                  <a:lnTo>
                    <a:pt x="289764" y="1822944"/>
                  </a:lnTo>
                  <a:lnTo>
                    <a:pt x="329878" y="1824850"/>
                  </a:lnTo>
                  <a:lnTo>
                    <a:pt x="368095" y="1824651"/>
                  </a:lnTo>
                  <a:lnTo>
                    <a:pt x="439498" y="1818497"/>
                  </a:lnTo>
                  <a:lnTo>
                    <a:pt x="505290" y="1805589"/>
                  </a:lnTo>
                  <a:lnTo>
                    <a:pt x="566793" y="1787034"/>
                  </a:lnTo>
                  <a:lnTo>
                    <a:pt x="625326" y="1763940"/>
                  </a:lnTo>
                  <a:lnTo>
                    <a:pt x="682207" y="1737413"/>
                  </a:lnTo>
                  <a:lnTo>
                    <a:pt x="825851" y="1663345"/>
                  </a:lnTo>
                  <a:lnTo>
                    <a:pt x="856145" y="1648311"/>
                  </a:lnTo>
                  <a:lnTo>
                    <a:pt x="919621" y="1619126"/>
                  </a:lnTo>
                  <a:lnTo>
                    <a:pt x="988044" y="1592046"/>
                  </a:lnTo>
                  <a:lnTo>
                    <a:pt x="1024523" y="1579641"/>
                  </a:lnTo>
                  <a:lnTo>
                    <a:pt x="1062734" y="1568177"/>
                  </a:lnTo>
                  <a:lnTo>
                    <a:pt x="1102842" y="1557792"/>
                  </a:lnTo>
                  <a:lnTo>
                    <a:pt x="1145011" y="1548625"/>
                  </a:lnTo>
                  <a:lnTo>
                    <a:pt x="1189407" y="1540815"/>
                  </a:lnTo>
                  <a:lnTo>
                    <a:pt x="1236194" y="1534499"/>
                  </a:lnTo>
                  <a:lnTo>
                    <a:pt x="1285538" y="1529817"/>
                  </a:lnTo>
                  <a:lnTo>
                    <a:pt x="1337603" y="1526906"/>
                  </a:lnTo>
                  <a:lnTo>
                    <a:pt x="1392554" y="1525904"/>
                  </a:lnTo>
                  <a:lnTo>
                    <a:pt x="1392554" y="311150"/>
                  </a:lnTo>
                  <a:close/>
                </a:path>
                <a:path w="1617979" h="1824989">
                  <a:moveTo>
                    <a:pt x="1497838" y="153670"/>
                  </a:moveTo>
                  <a:lnTo>
                    <a:pt x="114680" y="153670"/>
                  </a:lnTo>
                  <a:lnTo>
                    <a:pt x="114680" y="311150"/>
                  </a:lnTo>
                  <a:lnTo>
                    <a:pt x="1392554" y="311150"/>
                  </a:lnTo>
                  <a:lnTo>
                    <a:pt x="1392554" y="1384427"/>
                  </a:lnTo>
                  <a:lnTo>
                    <a:pt x="1401611" y="1383117"/>
                  </a:lnTo>
                  <a:lnTo>
                    <a:pt x="1425479" y="1380236"/>
                  </a:lnTo>
                  <a:lnTo>
                    <a:pt x="1459206" y="1377354"/>
                  </a:lnTo>
                  <a:lnTo>
                    <a:pt x="1497838" y="1376045"/>
                  </a:lnTo>
                  <a:lnTo>
                    <a:pt x="1497838" y="153670"/>
                  </a:lnTo>
                  <a:close/>
                </a:path>
                <a:path w="1617979" h="1824989">
                  <a:moveTo>
                    <a:pt x="1617726" y="0"/>
                  </a:moveTo>
                  <a:lnTo>
                    <a:pt x="222630" y="0"/>
                  </a:lnTo>
                  <a:lnTo>
                    <a:pt x="222630" y="153670"/>
                  </a:lnTo>
                  <a:lnTo>
                    <a:pt x="1497838" y="153670"/>
                  </a:lnTo>
                  <a:lnTo>
                    <a:pt x="1497838" y="1224914"/>
                  </a:lnTo>
                  <a:lnTo>
                    <a:pt x="1508140" y="1223922"/>
                  </a:lnTo>
                  <a:lnTo>
                    <a:pt x="1535302" y="1221739"/>
                  </a:lnTo>
                  <a:lnTo>
                    <a:pt x="1573704" y="1219557"/>
                  </a:lnTo>
                  <a:lnTo>
                    <a:pt x="1617726" y="1218564"/>
                  </a:lnTo>
                  <a:lnTo>
                    <a:pt x="1617726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924800" y="1600200"/>
              <a:ext cx="1617980" cy="1824989"/>
            </a:xfrm>
            <a:custGeom>
              <a:avLst/>
              <a:gdLst/>
              <a:ahLst/>
              <a:cxnLst/>
              <a:rect l="l" t="t" r="r" b="b"/>
              <a:pathLst>
                <a:path w="1617979" h="1824989">
                  <a:moveTo>
                    <a:pt x="0" y="311150"/>
                  </a:moveTo>
                  <a:lnTo>
                    <a:pt x="1392554" y="311150"/>
                  </a:lnTo>
                  <a:lnTo>
                    <a:pt x="1392554" y="1525904"/>
                  </a:lnTo>
                  <a:lnTo>
                    <a:pt x="1337603" y="1526906"/>
                  </a:lnTo>
                  <a:lnTo>
                    <a:pt x="1285538" y="1529817"/>
                  </a:lnTo>
                  <a:lnTo>
                    <a:pt x="1236194" y="1534499"/>
                  </a:lnTo>
                  <a:lnTo>
                    <a:pt x="1189407" y="1540815"/>
                  </a:lnTo>
                  <a:lnTo>
                    <a:pt x="1145011" y="1548625"/>
                  </a:lnTo>
                  <a:lnTo>
                    <a:pt x="1102842" y="1557792"/>
                  </a:lnTo>
                  <a:lnTo>
                    <a:pt x="1062734" y="1568177"/>
                  </a:lnTo>
                  <a:lnTo>
                    <a:pt x="1024523" y="1579641"/>
                  </a:lnTo>
                  <a:lnTo>
                    <a:pt x="988044" y="1592046"/>
                  </a:lnTo>
                  <a:lnTo>
                    <a:pt x="919621" y="1619126"/>
                  </a:lnTo>
                  <a:lnTo>
                    <a:pt x="856145" y="1648311"/>
                  </a:lnTo>
                  <a:lnTo>
                    <a:pt x="796298" y="1678491"/>
                  </a:lnTo>
                  <a:lnTo>
                    <a:pt x="738758" y="1708561"/>
                  </a:lnTo>
                  <a:lnTo>
                    <a:pt x="710442" y="1723208"/>
                  </a:lnTo>
                  <a:lnTo>
                    <a:pt x="653890" y="1751036"/>
                  </a:lnTo>
                  <a:lnTo>
                    <a:pt x="596348" y="1775985"/>
                  </a:lnTo>
                  <a:lnTo>
                    <a:pt x="536495" y="1796948"/>
                  </a:lnTo>
                  <a:lnTo>
                    <a:pt x="473013" y="1812818"/>
                  </a:lnTo>
                  <a:lnTo>
                    <a:pt x="404580" y="1822488"/>
                  </a:lnTo>
                  <a:lnTo>
                    <a:pt x="329878" y="1824850"/>
                  </a:lnTo>
                  <a:lnTo>
                    <a:pt x="289764" y="1822944"/>
                  </a:lnTo>
                  <a:lnTo>
                    <a:pt x="247588" y="1818797"/>
                  </a:lnTo>
                  <a:lnTo>
                    <a:pt x="203184" y="1812269"/>
                  </a:lnTo>
                  <a:lnTo>
                    <a:pt x="156388" y="1803222"/>
                  </a:lnTo>
                  <a:lnTo>
                    <a:pt x="107036" y="1791518"/>
                  </a:lnTo>
                  <a:lnTo>
                    <a:pt x="54961" y="1777018"/>
                  </a:lnTo>
                  <a:lnTo>
                    <a:pt x="0" y="1759585"/>
                  </a:lnTo>
                  <a:lnTo>
                    <a:pt x="0" y="311150"/>
                  </a:lnTo>
                  <a:close/>
                </a:path>
                <a:path w="1617979" h="1824989">
                  <a:moveTo>
                    <a:pt x="114680" y="311150"/>
                  </a:moveTo>
                  <a:lnTo>
                    <a:pt x="114680" y="153670"/>
                  </a:lnTo>
                  <a:lnTo>
                    <a:pt x="1497838" y="153670"/>
                  </a:lnTo>
                  <a:lnTo>
                    <a:pt x="1497838" y="1376045"/>
                  </a:lnTo>
                  <a:lnTo>
                    <a:pt x="1459206" y="1377354"/>
                  </a:lnTo>
                  <a:lnTo>
                    <a:pt x="1425479" y="1380236"/>
                  </a:lnTo>
                  <a:lnTo>
                    <a:pt x="1401611" y="1383117"/>
                  </a:lnTo>
                  <a:lnTo>
                    <a:pt x="1392554" y="1384427"/>
                  </a:lnTo>
                </a:path>
                <a:path w="1617979" h="1824989">
                  <a:moveTo>
                    <a:pt x="222630" y="153670"/>
                  </a:moveTo>
                  <a:lnTo>
                    <a:pt x="222630" y="0"/>
                  </a:lnTo>
                  <a:lnTo>
                    <a:pt x="1617726" y="0"/>
                  </a:lnTo>
                  <a:lnTo>
                    <a:pt x="1617726" y="1218564"/>
                  </a:lnTo>
                  <a:lnTo>
                    <a:pt x="1573704" y="1219557"/>
                  </a:lnTo>
                  <a:lnTo>
                    <a:pt x="1535302" y="1221739"/>
                  </a:lnTo>
                  <a:lnTo>
                    <a:pt x="1508140" y="1223922"/>
                  </a:lnTo>
                  <a:lnTo>
                    <a:pt x="1497838" y="122491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207502" y="2334844"/>
            <a:ext cx="82867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Tri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thức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tính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toán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246687" y="2281237"/>
            <a:ext cx="2541905" cy="695325"/>
            <a:chOff x="5246687" y="2281237"/>
            <a:chExt cx="2541905" cy="695325"/>
          </a:xfrm>
        </p:grpSpPr>
        <p:sp>
          <p:nvSpPr>
            <p:cNvPr id="12" name="object 12"/>
            <p:cNvSpPr/>
            <p:nvPr/>
          </p:nvSpPr>
          <p:spPr>
            <a:xfrm>
              <a:off x="5251450" y="2286000"/>
              <a:ext cx="2532380" cy="685800"/>
            </a:xfrm>
            <a:custGeom>
              <a:avLst/>
              <a:gdLst/>
              <a:ahLst/>
              <a:cxnLst/>
              <a:rect l="l" t="t" r="r" b="b"/>
              <a:pathLst>
                <a:path w="2532379" h="685800">
                  <a:moveTo>
                    <a:pt x="1899030" y="0"/>
                  </a:moveTo>
                  <a:lnTo>
                    <a:pt x="1899030" y="171450"/>
                  </a:lnTo>
                  <a:lnTo>
                    <a:pt x="0" y="171450"/>
                  </a:lnTo>
                  <a:lnTo>
                    <a:pt x="0" y="514350"/>
                  </a:lnTo>
                  <a:lnTo>
                    <a:pt x="1899030" y="514350"/>
                  </a:lnTo>
                  <a:lnTo>
                    <a:pt x="1899030" y="685800"/>
                  </a:lnTo>
                  <a:lnTo>
                    <a:pt x="2532126" y="342900"/>
                  </a:lnTo>
                  <a:lnTo>
                    <a:pt x="189903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51450" y="2286000"/>
              <a:ext cx="2532380" cy="685800"/>
            </a:xfrm>
            <a:custGeom>
              <a:avLst/>
              <a:gdLst/>
              <a:ahLst/>
              <a:cxnLst/>
              <a:rect l="l" t="t" r="r" b="b"/>
              <a:pathLst>
                <a:path w="2532379" h="685800">
                  <a:moveTo>
                    <a:pt x="0" y="171450"/>
                  </a:moveTo>
                  <a:lnTo>
                    <a:pt x="1899030" y="171450"/>
                  </a:lnTo>
                  <a:lnTo>
                    <a:pt x="1899030" y="0"/>
                  </a:lnTo>
                  <a:lnTo>
                    <a:pt x="2532126" y="342900"/>
                  </a:lnTo>
                  <a:lnTo>
                    <a:pt x="1899030" y="685800"/>
                  </a:lnTo>
                  <a:lnTo>
                    <a:pt x="1899030" y="514350"/>
                  </a:lnTo>
                  <a:lnTo>
                    <a:pt x="0" y="514350"/>
                  </a:lnTo>
                  <a:lnTo>
                    <a:pt x="0" y="1714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599557" y="2465959"/>
            <a:ext cx="15201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Bằng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cách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nào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Calibri"/>
                <a:cs typeface="Calibri"/>
              </a:rPr>
              <a:t>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60194" y="3634866"/>
            <a:ext cx="244792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i="1" dirty="0">
                <a:latin typeface="Times New Roman"/>
                <a:cs typeface="Times New Roman"/>
              </a:rPr>
              <a:t>Gồm: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đối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tượng </a:t>
            </a:r>
            <a:r>
              <a:rPr sz="2800" dirty="0">
                <a:latin typeface="Times New Roman"/>
                <a:cs typeface="Times New Roman"/>
              </a:rPr>
              <a:t>và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các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quan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hệ </a:t>
            </a:r>
            <a:r>
              <a:rPr sz="2800" dirty="0">
                <a:latin typeface="Times New Roman"/>
                <a:cs typeface="Times New Roman"/>
              </a:rPr>
              <a:t>giữa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chúng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trong </a:t>
            </a:r>
            <a:r>
              <a:rPr sz="2800" dirty="0">
                <a:latin typeface="Times New Roman"/>
                <a:cs typeface="Times New Roman"/>
              </a:rPr>
              <a:t>lĩnh</a:t>
            </a:r>
            <a:r>
              <a:rPr sz="2800" spc="-20" dirty="0">
                <a:latin typeface="Times New Roman"/>
                <a:cs typeface="Times New Roman"/>
              </a:rPr>
              <a:t> vực.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58430" y="3528441"/>
            <a:ext cx="243205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0965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Times New Roman"/>
                <a:cs typeface="Times New Roman"/>
              </a:rPr>
              <a:t>Gồm:</a:t>
            </a:r>
            <a:r>
              <a:rPr sz="2400" b="1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Bảng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ánh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xạ </a:t>
            </a:r>
            <a:r>
              <a:rPr sz="2400" spc="-10" dirty="0">
                <a:latin typeface="Times New Roman"/>
                <a:cs typeface="Times New Roman"/>
              </a:rPr>
              <a:t>giữa: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Đối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tượng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thực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Wingdings"/>
                <a:cs typeface="Wingdings"/>
              </a:rPr>
              <a:t>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đối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tượng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tính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toán. </a:t>
            </a:r>
            <a:r>
              <a:rPr sz="2400" dirty="0">
                <a:latin typeface="Times New Roman"/>
                <a:cs typeface="Times New Roman"/>
              </a:rPr>
              <a:t>Quan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hệ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thực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Wingdings"/>
                <a:cs typeface="Wingdings"/>
              </a:rPr>
              <a:t>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quan hệ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tính</a:t>
            </a:r>
            <a:r>
              <a:rPr sz="2400" spc="-10" dirty="0">
                <a:latin typeface="Times New Roman"/>
                <a:cs typeface="Times New Roman"/>
              </a:rPr>
              <a:t> toán.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45126" y="3574160"/>
            <a:ext cx="236982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9065">
              <a:lnSpc>
                <a:spcPct val="100000"/>
              </a:lnSpc>
              <a:spcBef>
                <a:spcPts val="100"/>
              </a:spcBef>
              <a:tabLst>
                <a:tab pos="1612265" algn="l"/>
              </a:tabLst>
            </a:pPr>
            <a:r>
              <a:rPr sz="2400" b="1" i="1" dirty="0">
                <a:latin typeface="Times New Roman"/>
                <a:cs typeface="Times New Roman"/>
              </a:rPr>
              <a:t>Bằng</a:t>
            </a:r>
            <a:r>
              <a:rPr sz="2400" b="1" i="1" spc="-60" dirty="0">
                <a:latin typeface="Times New Roman"/>
                <a:cs typeface="Times New Roman"/>
              </a:rPr>
              <a:t> </a:t>
            </a:r>
            <a:r>
              <a:rPr sz="2400" b="1" i="1" spc="-10" dirty="0">
                <a:latin typeface="Times New Roman"/>
                <a:cs typeface="Times New Roman"/>
              </a:rPr>
              <a:t>cách:</a:t>
            </a:r>
            <a:r>
              <a:rPr sz="2400" b="1" i="1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dùng </a:t>
            </a:r>
            <a:r>
              <a:rPr sz="2400" dirty="0">
                <a:latin typeface="Times New Roman"/>
                <a:cs typeface="Times New Roman"/>
              </a:rPr>
              <a:t>các lược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đồ </a:t>
            </a:r>
            <a:r>
              <a:rPr sz="2400" spc="-20" dirty="0">
                <a:latin typeface="Times New Roman"/>
                <a:cs typeface="Times New Roman"/>
              </a:rPr>
              <a:t>biểu </a:t>
            </a:r>
            <a:r>
              <a:rPr sz="2400" dirty="0">
                <a:latin typeface="Times New Roman"/>
                <a:cs typeface="Times New Roman"/>
              </a:rPr>
              <a:t>diễn </a:t>
            </a:r>
            <a:r>
              <a:rPr sz="2400" spc="-10" dirty="0">
                <a:latin typeface="Times New Roman"/>
                <a:cs typeface="Times New Roman"/>
              </a:rPr>
              <a:t>(scheme).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>
                <a:latin typeface="Times New Roman"/>
                <a:cs typeface="Times New Roman"/>
              </a:rPr>
              <a:t> Chọn dùng </a:t>
            </a:r>
            <a:r>
              <a:rPr sz="2400" spc="-20" dirty="0">
                <a:latin typeface="Times New Roman"/>
                <a:cs typeface="Times New Roman"/>
              </a:rPr>
              <a:t>lược </a:t>
            </a:r>
            <a:r>
              <a:rPr sz="2400" dirty="0">
                <a:latin typeface="Times New Roman"/>
                <a:cs typeface="Times New Roman"/>
              </a:rPr>
              <a:t>đồ cho loại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thức </a:t>
            </a:r>
            <a:r>
              <a:rPr sz="2400" dirty="0">
                <a:latin typeface="Times New Roman"/>
                <a:cs typeface="Times New Roman"/>
              </a:rPr>
              <a:t>là vấn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đề </a:t>
            </a:r>
            <a:r>
              <a:rPr sz="2400" spc="-20" dirty="0">
                <a:latin typeface="Times New Roman"/>
                <a:cs typeface="Times New Roman"/>
              </a:rPr>
              <a:t>quan </a:t>
            </a:r>
            <a:r>
              <a:rPr sz="2400" spc="-10" dirty="0">
                <a:latin typeface="Times New Roman"/>
                <a:cs typeface="Times New Roman"/>
              </a:rPr>
              <a:t>trọng.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722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455F51"/>
                </a:solidFill>
              </a:rPr>
              <a:t>Các</a:t>
            </a:r>
            <a:r>
              <a:rPr sz="4800" spc="-4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mô</a:t>
            </a:r>
            <a:r>
              <a:rPr sz="4800" spc="-3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hình</a:t>
            </a:r>
            <a:r>
              <a:rPr sz="4800" spc="-2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biểu</a:t>
            </a:r>
            <a:r>
              <a:rPr sz="4800" spc="-4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diễn</a:t>
            </a:r>
            <a:r>
              <a:rPr sz="4800" spc="-30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tri</a:t>
            </a:r>
            <a:r>
              <a:rPr sz="4800" spc="-20" dirty="0">
                <a:solidFill>
                  <a:srgbClr val="455F51"/>
                </a:solidFill>
              </a:rPr>
              <a:t> thức</a:t>
            </a:r>
            <a:endParaRPr sz="4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75">
              <a:lnSpc>
                <a:spcPts val="1430"/>
              </a:lnSpc>
            </a:pPr>
            <a:fld id="{81D60167-4931-47E6-BA6A-407CBD079E47}" type="slidenum">
              <a:rPr spc="-50" dirty="0">
                <a:latin typeface="Arial"/>
                <a:cs typeface="Arial"/>
              </a:rPr>
              <a:t>9</a:t>
            </a:fld>
            <a:endParaRPr spc="-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859278"/>
            <a:ext cx="10427970" cy="3996054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440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dirty="0">
                <a:latin typeface="Palatino Linotype"/>
                <a:cs typeface="Palatino Linotype"/>
              </a:rPr>
              <a:t>Chú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ý</a:t>
            </a:r>
            <a:r>
              <a:rPr sz="2800" spc="-1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cần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phân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biệt: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Lược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đồ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biểu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diễn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và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môi</a:t>
            </a:r>
            <a:r>
              <a:rPr sz="2800" spc="-1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trường</a:t>
            </a:r>
            <a:r>
              <a:rPr sz="2800" spc="-1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hiện</a:t>
            </a:r>
            <a:r>
              <a:rPr sz="2800" spc="-50" dirty="0">
                <a:latin typeface="Palatino Linotype"/>
                <a:cs typeface="Palatino Linotype"/>
              </a:rPr>
              <a:t> </a:t>
            </a:r>
            <a:r>
              <a:rPr sz="2800" spc="-20" dirty="0">
                <a:latin typeface="Palatino Linotype"/>
                <a:cs typeface="Palatino Linotype"/>
              </a:rPr>
              <a:t>thực</a:t>
            </a:r>
            <a:endParaRPr sz="2800">
              <a:latin typeface="Palatino Linotype"/>
              <a:cs typeface="Palatino Linotype"/>
            </a:endParaRPr>
          </a:p>
          <a:p>
            <a:pPr marL="286385" indent="-273685">
              <a:lnSpc>
                <a:spcPts val="3190"/>
              </a:lnSpc>
              <a:spcBef>
                <a:spcPts val="340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dirty="0">
                <a:latin typeface="Palatino Linotype"/>
                <a:cs typeface="Palatino Linotype"/>
              </a:rPr>
              <a:t>Tương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tự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như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việc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phân</a:t>
            </a:r>
            <a:r>
              <a:rPr sz="2800" spc="-5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biệt:</a:t>
            </a:r>
            <a:r>
              <a:rPr sz="2800" spc="-5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Cấu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trúc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dữ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liệu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(CTDL)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và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spc="-20" dirty="0">
                <a:latin typeface="Palatino Linotype"/>
                <a:cs typeface="Palatino Linotype"/>
              </a:rPr>
              <a:t>Ngôn</a:t>
            </a:r>
            <a:endParaRPr sz="2800">
              <a:latin typeface="Palatino Linotype"/>
              <a:cs typeface="Palatino Linotype"/>
            </a:endParaRPr>
          </a:p>
          <a:p>
            <a:pPr marL="286385">
              <a:lnSpc>
                <a:spcPts val="3190"/>
              </a:lnSpc>
            </a:pPr>
            <a:r>
              <a:rPr sz="2800" dirty="0">
                <a:latin typeface="Palatino Linotype"/>
                <a:cs typeface="Palatino Linotype"/>
              </a:rPr>
              <a:t>ngữ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lập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spc="-10" dirty="0">
                <a:latin typeface="Palatino Linotype"/>
                <a:cs typeface="Palatino Linotype"/>
              </a:rPr>
              <a:t>trình.</a:t>
            </a:r>
            <a:endParaRPr sz="28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2800">
              <a:latin typeface="Palatino Linotype"/>
              <a:cs typeface="Palatino Linotype"/>
            </a:endParaRPr>
          </a:p>
          <a:p>
            <a:pPr marL="12700" marR="196215">
              <a:lnSpc>
                <a:spcPts val="3020"/>
              </a:lnSpc>
            </a:pPr>
            <a:r>
              <a:rPr sz="2800" dirty="0">
                <a:latin typeface="Palatino Linotype"/>
                <a:cs typeface="Palatino Linotype"/>
              </a:rPr>
              <a:t>Với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một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loại</a:t>
            </a:r>
            <a:r>
              <a:rPr sz="2800" spc="-5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CTDL,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ví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dụ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như: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Bản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ghi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(record),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chúng</a:t>
            </a:r>
            <a:r>
              <a:rPr sz="2800" spc="-5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ta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có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spc="-20" dirty="0">
                <a:latin typeface="Palatino Linotype"/>
                <a:cs typeface="Palatino Linotype"/>
              </a:rPr>
              <a:t>hiện </a:t>
            </a:r>
            <a:r>
              <a:rPr sz="2800" dirty="0">
                <a:latin typeface="Palatino Linotype"/>
                <a:cs typeface="Palatino Linotype"/>
              </a:rPr>
              <a:t>thực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trong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nhiều</a:t>
            </a:r>
            <a:r>
              <a:rPr sz="2800" spc="-6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ngôn</a:t>
            </a:r>
            <a:r>
              <a:rPr sz="2800" spc="-6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ngữ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như:</a:t>
            </a:r>
            <a:r>
              <a:rPr sz="2800" spc="-5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Pascal,</a:t>
            </a:r>
            <a:r>
              <a:rPr sz="2800" spc="-60" dirty="0">
                <a:latin typeface="Palatino Linotype"/>
                <a:cs typeface="Palatino Linotype"/>
              </a:rPr>
              <a:t> </a:t>
            </a:r>
            <a:r>
              <a:rPr sz="2800" spc="-25" dirty="0">
                <a:latin typeface="Palatino Linotype"/>
                <a:cs typeface="Palatino Linotype"/>
              </a:rPr>
              <a:t>C,…</a:t>
            </a:r>
            <a:endParaRPr sz="28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2800">
              <a:latin typeface="Palatino Linotype"/>
              <a:cs typeface="Palatino Linotype"/>
            </a:endParaRPr>
          </a:p>
          <a:p>
            <a:pPr marL="12700">
              <a:lnSpc>
                <a:spcPts val="3195"/>
              </a:lnSpc>
            </a:pPr>
            <a:r>
              <a:rPr sz="2800" dirty="0">
                <a:latin typeface="Palatino Linotype"/>
                <a:cs typeface="Palatino Linotype"/>
              </a:rPr>
              <a:t>Tương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tự,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với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một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loại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lược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đồ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nào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đó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chúng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ta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có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thể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chọn</a:t>
            </a:r>
            <a:r>
              <a:rPr sz="2800" spc="-50" dirty="0">
                <a:latin typeface="Palatino Linotype"/>
                <a:cs typeface="Palatino Linotype"/>
              </a:rPr>
              <a:t> </a:t>
            </a:r>
            <a:r>
              <a:rPr sz="2800" spc="-25" dirty="0">
                <a:latin typeface="Palatino Linotype"/>
                <a:cs typeface="Palatino Linotype"/>
              </a:rPr>
              <a:t>một</a:t>
            </a:r>
            <a:endParaRPr sz="2800">
              <a:latin typeface="Palatino Linotype"/>
              <a:cs typeface="Palatino Linotype"/>
            </a:endParaRPr>
          </a:p>
          <a:p>
            <a:pPr marL="12700">
              <a:lnSpc>
                <a:spcPts val="3195"/>
              </a:lnSpc>
            </a:pPr>
            <a:r>
              <a:rPr sz="2800" dirty="0">
                <a:latin typeface="Palatino Linotype"/>
                <a:cs typeface="Palatino Linotype"/>
              </a:rPr>
              <a:t>trong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các</a:t>
            </a:r>
            <a:r>
              <a:rPr sz="2800" spc="-50" dirty="0">
                <a:latin typeface="Palatino Linotype"/>
                <a:cs typeface="Palatino Linotype"/>
              </a:rPr>
              <a:t> </a:t>
            </a:r>
            <a:r>
              <a:rPr sz="2800" spc="-10" dirty="0">
                <a:latin typeface="Palatino Linotype"/>
                <a:cs typeface="Palatino Linotype"/>
              </a:rPr>
              <a:t>NNLT</a:t>
            </a:r>
            <a:r>
              <a:rPr sz="2800" spc="-5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để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hiện</a:t>
            </a:r>
            <a:r>
              <a:rPr sz="2800" spc="-5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thực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spc="-25" dirty="0">
                <a:latin typeface="Palatino Linotype"/>
                <a:cs typeface="Palatino Linotype"/>
              </a:rPr>
              <a:t>nó.</a:t>
            </a:r>
            <a:endParaRPr sz="28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709929"/>
            <a:ext cx="94310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455F51"/>
                </a:solidFill>
              </a:rPr>
              <a:t>Thế</a:t>
            </a:r>
            <a:r>
              <a:rPr sz="4800" spc="-10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nào</a:t>
            </a:r>
            <a:r>
              <a:rPr sz="4800" spc="-1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là biểu</a:t>
            </a:r>
            <a:r>
              <a:rPr sz="4800" spc="-1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diễn</a:t>
            </a:r>
            <a:r>
              <a:rPr sz="4800" spc="-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tri</a:t>
            </a:r>
            <a:r>
              <a:rPr sz="4800" spc="-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thức</a:t>
            </a:r>
            <a:r>
              <a:rPr sz="4800" spc="-1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hiệu </a:t>
            </a:r>
            <a:r>
              <a:rPr sz="4800" spc="-20" dirty="0">
                <a:solidFill>
                  <a:srgbClr val="455F51"/>
                </a:solidFill>
              </a:rPr>
              <a:t>quả?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1419458" y="6516116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Palatino Linotype"/>
                <a:cs typeface="Palatino Linotype"/>
              </a:rPr>
              <a:t>10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43058" y="2550160"/>
            <a:ext cx="2160270" cy="3806190"/>
          </a:xfrm>
          <a:prstGeom prst="rect">
            <a:avLst/>
          </a:prstGeom>
          <a:solidFill>
            <a:srgbClr val="E8F3D3"/>
          </a:solidFill>
        </p:spPr>
        <p:txBody>
          <a:bodyPr vert="horz" wrap="square" lIns="0" tIns="22860" rIns="0" bIns="0" rtlCol="0">
            <a:spAutoFit/>
          </a:bodyPr>
          <a:lstStyle/>
          <a:p>
            <a:pPr marL="327025" marR="764540" indent="-109855">
              <a:lnSpc>
                <a:spcPct val="100000"/>
              </a:lnSpc>
              <a:spcBef>
                <a:spcPts val="180"/>
              </a:spcBef>
              <a:buClr>
                <a:srgbClr val="539E39"/>
              </a:buClr>
              <a:buSzPct val="83928"/>
              <a:buFont typeface="Wingdings 2"/>
              <a:buChar char=""/>
              <a:tabLst>
                <a:tab pos="327025" algn="l"/>
                <a:tab pos="473709" algn="l"/>
              </a:tabLst>
            </a:pPr>
            <a:r>
              <a:rPr sz="2800" dirty="0">
                <a:latin typeface="Palatino Linotype"/>
                <a:cs typeface="Palatino Linotype"/>
              </a:rPr>
              <a:t>	Dễ</a:t>
            </a:r>
            <a:r>
              <a:rPr sz="2800" spc="-5" dirty="0">
                <a:latin typeface="Palatino Linotype"/>
                <a:cs typeface="Palatino Linotype"/>
              </a:rPr>
              <a:t> </a:t>
            </a:r>
            <a:r>
              <a:rPr sz="2800" spc="-25" dirty="0">
                <a:latin typeface="Palatino Linotype"/>
                <a:cs typeface="Palatino Linotype"/>
              </a:rPr>
              <a:t>sử </a:t>
            </a:r>
            <a:r>
              <a:rPr sz="2800" spc="-20" dirty="0">
                <a:latin typeface="Palatino Linotype"/>
                <a:cs typeface="Palatino Linotype"/>
              </a:rPr>
              <a:t>dụng</a:t>
            </a:r>
            <a:endParaRPr sz="28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930"/>
              </a:spcBef>
              <a:buClr>
                <a:srgbClr val="539E39"/>
              </a:buClr>
              <a:buFont typeface="Wingdings 2"/>
              <a:buChar char=""/>
            </a:pPr>
            <a:endParaRPr sz="2800">
              <a:latin typeface="Palatino Linotype"/>
              <a:cs typeface="Palatino Linotype"/>
            </a:endParaRPr>
          </a:p>
          <a:p>
            <a:pPr marL="327025" marR="191770" indent="-109855" algn="just">
              <a:lnSpc>
                <a:spcPct val="100000"/>
              </a:lnSpc>
              <a:buClr>
                <a:srgbClr val="539E39"/>
              </a:buClr>
              <a:buSzPct val="83928"/>
              <a:buFont typeface="Wingdings 2"/>
              <a:buChar char=""/>
              <a:tabLst>
                <a:tab pos="327025" algn="l"/>
                <a:tab pos="473709" algn="l"/>
              </a:tabLst>
            </a:pPr>
            <a:r>
              <a:rPr sz="2800" dirty="0">
                <a:latin typeface="Palatino Linotype"/>
                <a:cs typeface="Palatino Linotype"/>
              </a:rPr>
              <a:t>	Dễ</a:t>
            </a:r>
            <a:r>
              <a:rPr sz="2800" spc="-5" dirty="0">
                <a:latin typeface="Palatino Linotype"/>
                <a:cs typeface="Palatino Linotype"/>
              </a:rPr>
              <a:t> </a:t>
            </a:r>
            <a:r>
              <a:rPr sz="2800" spc="-10" dirty="0">
                <a:latin typeface="Palatino Linotype"/>
                <a:cs typeface="Palatino Linotype"/>
              </a:rPr>
              <a:t>chỉnh </a:t>
            </a:r>
            <a:r>
              <a:rPr sz="2800" dirty="0">
                <a:latin typeface="Palatino Linotype"/>
                <a:cs typeface="Palatino Linotype"/>
              </a:rPr>
              <a:t>sửa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và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spc="-25" dirty="0">
                <a:latin typeface="Palatino Linotype"/>
                <a:cs typeface="Palatino Linotype"/>
              </a:rPr>
              <a:t>mở </a:t>
            </a:r>
            <a:r>
              <a:rPr sz="2800" spc="-20" dirty="0">
                <a:latin typeface="Palatino Linotype"/>
                <a:cs typeface="Palatino Linotype"/>
              </a:rPr>
              <a:t>rộng</a:t>
            </a:r>
            <a:endParaRPr sz="280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9600" y="1582028"/>
            <a:ext cx="8520430" cy="5263515"/>
          </a:xfrm>
          <a:custGeom>
            <a:avLst/>
            <a:gdLst/>
            <a:ahLst/>
            <a:cxnLst/>
            <a:rect l="l" t="t" r="r" b="b"/>
            <a:pathLst>
              <a:path w="8520430" h="5263515">
                <a:moveTo>
                  <a:pt x="0" y="5263007"/>
                </a:moveTo>
                <a:lnTo>
                  <a:pt x="8519922" y="5263007"/>
                </a:lnTo>
                <a:lnTo>
                  <a:pt x="8519922" y="0"/>
                </a:lnTo>
                <a:lnTo>
                  <a:pt x="0" y="0"/>
                </a:lnTo>
                <a:lnTo>
                  <a:pt x="0" y="5263007"/>
                </a:lnTo>
                <a:close/>
              </a:path>
            </a:pathLst>
          </a:custGeom>
          <a:ln w="9525">
            <a:solidFill>
              <a:srgbClr val="E2DED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8340" y="1603374"/>
            <a:ext cx="8328659" cy="5146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460375" indent="-3429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Tính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thích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hợp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biểu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diễn: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khả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năng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biểu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diễn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tất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cả </a:t>
            </a:r>
            <a:r>
              <a:rPr sz="2800" dirty="0">
                <a:latin typeface="Times New Roman"/>
                <a:cs typeface="Times New Roman"/>
              </a:rPr>
              <a:t>các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kiểu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tri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thức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cần thiết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trong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lĩnh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vực</a:t>
            </a:r>
            <a:endParaRPr sz="2800">
              <a:latin typeface="Times New Roman"/>
              <a:cs typeface="Times New Roman"/>
            </a:endParaRPr>
          </a:p>
          <a:p>
            <a:pPr marL="354330" marR="313690" indent="-341630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Tính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thích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hợp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suy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diễn: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khả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năng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thao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tác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các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cấu 	</a:t>
            </a:r>
            <a:r>
              <a:rPr sz="2800" dirty="0">
                <a:latin typeface="Times New Roman"/>
                <a:cs typeface="Times New Roman"/>
              </a:rPr>
              <a:t>trúc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biểu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diễn theo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cách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sao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cho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dẫn xuất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các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cấu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trúc 	</a:t>
            </a:r>
            <a:r>
              <a:rPr sz="2800" dirty="0">
                <a:latin typeface="Times New Roman"/>
                <a:cs typeface="Times New Roman"/>
              </a:rPr>
              <a:t>mới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tương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ứng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với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tri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thức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mới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được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diễn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từ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tri 	</a:t>
            </a:r>
            <a:r>
              <a:rPr sz="2800" dirty="0">
                <a:latin typeface="Times New Roman"/>
                <a:cs typeface="Times New Roman"/>
              </a:rPr>
              <a:t>thức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cũ</a:t>
            </a:r>
            <a:endParaRPr sz="2800">
              <a:latin typeface="Times New Roman"/>
              <a:cs typeface="Times New Roman"/>
            </a:endParaRPr>
          </a:p>
          <a:p>
            <a:pPr marL="354330" marR="5080" indent="-341630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Tính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hiệu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quả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suy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diễn: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khả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năng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kết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hợp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vào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cấu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trúc 	</a:t>
            </a:r>
            <a:r>
              <a:rPr sz="2800" dirty="0">
                <a:latin typeface="Times New Roman"/>
                <a:cs typeface="Times New Roman"/>
              </a:rPr>
              <a:t>tri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thức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thông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bổ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sung,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thông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này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có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thể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được 	</a:t>
            </a:r>
            <a:r>
              <a:rPr sz="2800" dirty="0">
                <a:latin typeface="Times New Roman"/>
                <a:cs typeface="Times New Roman"/>
              </a:rPr>
              <a:t>dùng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để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định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hướng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cơ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chế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diễn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hướng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hứa 	</a:t>
            </a:r>
            <a:r>
              <a:rPr sz="2800" dirty="0">
                <a:latin typeface="Times New Roman"/>
                <a:cs typeface="Times New Roman"/>
              </a:rPr>
              <a:t>hẹn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nhất</a:t>
            </a:r>
            <a:endParaRPr sz="2800">
              <a:latin typeface="Times New Roman"/>
              <a:cs typeface="Times New Roman"/>
            </a:endParaRPr>
          </a:p>
          <a:p>
            <a:pPr marL="355600" marR="336550" indent="-3429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Tính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hiệu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quả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thu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nhận: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khả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năng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thu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nhận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dễ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dàng </a:t>
            </a:r>
            <a:r>
              <a:rPr sz="2800" dirty="0">
                <a:latin typeface="Times New Roman"/>
                <a:cs typeface="Times New Roman"/>
              </a:rPr>
              <a:t>thông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mới.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Trường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hợp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đơn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giản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nhất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là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xen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7482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455F51"/>
                </a:solidFill>
              </a:rPr>
              <a:t>Các</a:t>
            </a:r>
            <a:r>
              <a:rPr sz="4800" spc="-20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phương</a:t>
            </a:r>
            <a:r>
              <a:rPr sz="4800" spc="-10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pháp</a:t>
            </a:r>
            <a:r>
              <a:rPr sz="4800" spc="-1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biểu diễn</a:t>
            </a:r>
            <a:r>
              <a:rPr sz="4800" spc="-1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tri thức cơ</a:t>
            </a:r>
            <a:r>
              <a:rPr sz="4800" spc="-25" dirty="0">
                <a:solidFill>
                  <a:srgbClr val="455F51"/>
                </a:solidFill>
              </a:rPr>
              <a:t> bản</a:t>
            </a:r>
            <a:endParaRPr sz="48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11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860321"/>
            <a:ext cx="3179445" cy="207391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70"/>
              </a:spcBef>
              <a:buClr>
                <a:srgbClr val="C0CF39"/>
              </a:buClr>
              <a:buSzPct val="94642"/>
              <a:buAutoNum type="arabicPeriod"/>
              <a:tabLst>
                <a:tab pos="469900" algn="l"/>
              </a:tabLst>
            </a:pPr>
            <a:r>
              <a:rPr sz="2800" dirty="0">
                <a:latin typeface="Palatino Linotype"/>
                <a:cs typeface="Palatino Linotype"/>
              </a:rPr>
              <a:t>Mô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hình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spc="-10" dirty="0">
                <a:latin typeface="Palatino Linotype"/>
                <a:cs typeface="Palatino Linotype"/>
              </a:rPr>
              <a:t>logic</a:t>
            </a:r>
            <a:endParaRPr sz="2800">
              <a:latin typeface="Palatino Linotype"/>
              <a:cs typeface="Palatino Linotype"/>
            </a:endParaRPr>
          </a:p>
          <a:p>
            <a:pPr marL="469900" indent="-457200">
              <a:lnSpc>
                <a:spcPct val="100000"/>
              </a:lnSpc>
              <a:spcBef>
                <a:spcPts val="675"/>
              </a:spcBef>
              <a:buClr>
                <a:srgbClr val="C0CF39"/>
              </a:buClr>
              <a:buSzPct val="94642"/>
              <a:buAutoNum type="arabicPeriod"/>
              <a:tabLst>
                <a:tab pos="469900" algn="l"/>
              </a:tabLst>
            </a:pPr>
            <a:r>
              <a:rPr sz="2800" dirty="0">
                <a:latin typeface="Palatino Linotype"/>
                <a:cs typeface="Palatino Linotype"/>
              </a:rPr>
              <a:t>Mô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hình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thủ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spc="-25" dirty="0">
                <a:latin typeface="Palatino Linotype"/>
                <a:cs typeface="Palatino Linotype"/>
              </a:rPr>
              <a:t>tục</a:t>
            </a:r>
            <a:endParaRPr sz="2800">
              <a:latin typeface="Palatino Linotype"/>
              <a:cs typeface="Palatino Linotype"/>
            </a:endParaRPr>
          </a:p>
          <a:p>
            <a:pPr marL="469900" indent="-457200">
              <a:lnSpc>
                <a:spcPct val="100000"/>
              </a:lnSpc>
              <a:spcBef>
                <a:spcPts val="670"/>
              </a:spcBef>
              <a:buClr>
                <a:srgbClr val="C0CF39"/>
              </a:buClr>
              <a:buSzPct val="94642"/>
              <a:buAutoNum type="arabicPeriod"/>
              <a:tabLst>
                <a:tab pos="469900" algn="l"/>
              </a:tabLst>
            </a:pPr>
            <a:r>
              <a:rPr sz="2800" dirty="0">
                <a:latin typeface="Palatino Linotype"/>
                <a:cs typeface="Palatino Linotype"/>
              </a:rPr>
              <a:t>Mô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hình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spc="-20" dirty="0">
                <a:latin typeface="Palatino Linotype"/>
                <a:cs typeface="Palatino Linotype"/>
              </a:rPr>
              <a:t>mạng</a:t>
            </a:r>
            <a:endParaRPr sz="2800">
              <a:latin typeface="Palatino Linotype"/>
              <a:cs typeface="Palatino Linotype"/>
            </a:endParaRPr>
          </a:p>
          <a:p>
            <a:pPr marL="469900" indent="-457200">
              <a:lnSpc>
                <a:spcPct val="100000"/>
              </a:lnSpc>
              <a:spcBef>
                <a:spcPts val="675"/>
              </a:spcBef>
              <a:buClr>
                <a:srgbClr val="C0CF39"/>
              </a:buClr>
              <a:buSzPct val="94642"/>
              <a:buAutoNum type="arabicPeriod"/>
              <a:tabLst>
                <a:tab pos="469900" algn="l"/>
              </a:tabLst>
            </a:pPr>
            <a:r>
              <a:rPr sz="2800" dirty="0">
                <a:latin typeface="Palatino Linotype"/>
                <a:cs typeface="Palatino Linotype"/>
              </a:rPr>
              <a:t>Mô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hình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cấu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spc="-20" dirty="0">
                <a:latin typeface="Palatino Linotype"/>
                <a:cs typeface="Palatino Linotype"/>
              </a:rPr>
              <a:t>trúc</a:t>
            </a:r>
            <a:endParaRPr sz="28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4508753"/>
            <a:ext cx="11135995" cy="1816100"/>
          </a:xfrm>
          <a:prstGeom prst="rect">
            <a:avLst/>
          </a:prstGeom>
          <a:solidFill>
            <a:srgbClr val="DBEFF3"/>
          </a:solidFill>
        </p:spPr>
        <p:txBody>
          <a:bodyPr vert="horz" wrap="square" lIns="0" tIns="31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"/>
              </a:spcBef>
            </a:pPr>
            <a:r>
              <a:rPr sz="2800" dirty="0">
                <a:solidFill>
                  <a:srgbClr val="89B833"/>
                </a:solidFill>
                <a:latin typeface="Lucida Sans Unicode"/>
                <a:cs typeface="Lucida Sans Unicode"/>
              </a:rPr>
              <a:t>Logic</a:t>
            </a:r>
            <a:r>
              <a:rPr sz="2800" spc="-60" dirty="0">
                <a:solidFill>
                  <a:srgbClr val="89B833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89B833"/>
                </a:solidFill>
                <a:latin typeface="Lucida Sans Unicode"/>
                <a:cs typeface="Lucida Sans Unicode"/>
              </a:rPr>
              <a:t>based</a:t>
            </a:r>
            <a:r>
              <a:rPr sz="2800" spc="-90" dirty="0">
                <a:solidFill>
                  <a:srgbClr val="89B833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89B833"/>
                </a:solidFill>
                <a:latin typeface="Lucida Sans Unicode"/>
                <a:cs typeface="Lucida Sans Unicode"/>
              </a:rPr>
              <a:t>representation</a:t>
            </a:r>
            <a:r>
              <a:rPr sz="2800" spc="-25" dirty="0">
                <a:solidFill>
                  <a:srgbClr val="89B833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–</a:t>
            </a:r>
            <a:r>
              <a:rPr sz="2800" spc="-7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first</a:t>
            </a:r>
            <a:r>
              <a:rPr sz="2800" spc="-7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order</a:t>
            </a:r>
            <a:r>
              <a:rPr sz="2800" spc="-7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predicate</a:t>
            </a:r>
            <a:r>
              <a:rPr sz="2800" spc="-7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logic,</a:t>
            </a:r>
            <a:r>
              <a:rPr sz="2800" spc="-100" dirty="0">
                <a:latin typeface="Palatino Linotype"/>
                <a:cs typeface="Palatino Linotype"/>
              </a:rPr>
              <a:t> </a:t>
            </a:r>
            <a:r>
              <a:rPr sz="2800" spc="-10" dirty="0">
                <a:latin typeface="Palatino Linotype"/>
                <a:cs typeface="Palatino Linotype"/>
              </a:rPr>
              <a:t>Prolog</a:t>
            </a:r>
            <a:endParaRPr sz="2800">
              <a:latin typeface="Palatino Linotype"/>
              <a:cs typeface="Palatino Linotype"/>
            </a:endParaRPr>
          </a:p>
          <a:p>
            <a:pPr marL="91440">
              <a:lnSpc>
                <a:spcPct val="100000"/>
              </a:lnSpc>
            </a:pPr>
            <a:r>
              <a:rPr sz="2800" dirty="0">
                <a:solidFill>
                  <a:srgbClr val="89B833"/>
                </a:solidFill>
                <a:latin typeface="Lucida Sans Unicode"/>
                <a:cs typeface="Lucida Sans Unicode"/>
              </a:rPr>
              <a:t>Procedural</a:t>
            </a:r>
            <a:r>
              <a:rPr sz="2800" spc="-60" dirty="0">
                <a:solidFill>
                  <a:srgbClr val="89B833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89B833"/>
                </a:solidFill>
                <a:latin typeface="Lucida Sans Unicode"/>
                <a:cs typeface="Lucida Sans Unicode"/>
              </a:rPr>
              <a:t>representation</a:t>
            </a:r>
            <a:r>
              <a:rPr sz="2800" spc="-65" dirty="0">
                <a:solidFill>
                  <a:srgbClr val="89B833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–</a:t>
            </a:r>
            <a:r>
              <a:rPr sz="2800" spc="-8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rules,</a:t>
            </a:r>
            <a:r>
              <a:rPr sz="2800" spc="-10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production</a:t>
            </a:r>
            <a:r>
              <a:rPr sz="2800" spc="-85" dirty="0">
                <a:latin typeface="Palatino Linotype"/>
                <a:cs typeface="Palatino Linotype"/>
              </a:rPr>
              <a:t> </a:t>
            </a:r>
            <a:r>
              <a:rPr sz="2800" spc="-10" dirty="0">
                <a:latin typeface="Palatino Linotype"/>
                <a:cs typeface="Palatino Linotype"/>
              </a:rPr>
              <a:t>system</a:t>
            </a:r>
            <a:endParaRPr sz="2800">
              <a:latin typeface="Palatino Linotype"/>
              <a:cs typeface="Palatino Linotype"/>
            </a:endParaRPr>
          </a:p>
          <a:p>
            <a:pPr marL="91440">
              <a:lnSpc>
                <a:spcPct val="100000"/>
              </a:lnSpc>
            </a:pPr>
            <a:r>
              <a:rPr sz="2800" dirty="0">
                <a:solidFill>
                  <a:srgbClr val="89B833"/>
                </a:solidFill>
                <a:latin typeface="Lucida Sans Unicode"/>
                <a:cs typeface="Lucida Sans Unicode"/>
              </a:rPr>
              <a:t>Network</a:t>
            </a:r>
            <a:r>
              <a:rPr sz="2800" spc="-85" dirty="0">
                <a:solidFill>
                  <a:srgbClr val="89B833"/>
                </a:solidFill>
                <a:latin typeface="Lucida Sans Unicode"/>
                <a:cs typeface="Lucida Sans Unicode"/>
              </a:rPr>
              <a:t> </a:t>
            </a:r>
            <a:r>
              <a:rPr sz="2800" spc="-10" dirty="0">
                <a:solidFill>
                  <a:srgbClr val="89B833"/>
                </a:solidFill>
                <a:latin typeface="Lucida Sans Unicode"/>
                <a:cs typeface="Lucida Sans Unicode"/>
              </a:rPr>
              <a:t>representation</a:t>
            </a:r>
            <a:r>
              <a:rPr sz="2800" spc="-215" dirty="0">
                <a:solidFill>
                  <a:srgbClr val="89B833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–</a:t>
            </a:r>
            <a:r>
              <a:rPr sz="2800" spc="-7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semantic</a:t>
            </a:r>
            <a:r>
              <a:rPr sz="2800" spc="-10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networks,</a:t>
            </a:r>
            <a:r>
              <a:rPr sz="2800" spc="-7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conceptual</a:t>
            </a:r>
            <a:r>
              <a:rPr sz="2800" spc="-85" dirty="0">
                <a:latin typeface="Palatino Linotype"/>
                <a:cs typeface="Palatino Linotype"/>
              </a:rPr>
              <a:t> </a:t>
            </a:r>
            <a:r>
              <a:rPr sz="2800" spc="-10" dirty="0">
                <a:latin typeface="Palatino Linotype"/>
                <a:cs typeface="Palatino Linotype"/>
              </a:rPr>
              <a:t>graphs</a:t>
            </a:r>
            <a:endParaRPr sz="2800">
              <a:latin typeface="Palatino Linotype"/>
              <a:cs typeface="Palatino Linotype"/>
            </a:endParaRPr>
          </a:p>
          <a:p>
            <a:pPr marL="91440">
              <a:lnSpc>
                <a:spcPct val="100000"/>
              </a:lnSpc>
            </a:pPr>
            <a:r>
              <a:rPr sz="2800" dirty="0">
                <a:solidFill>
                  <a:srgbClr val="89B833"/>
                </a:solidFill>
                <a:latin typeface="Lucida Sans Unicode"/>
                <a:cs typeface="Lucida Sans Unicode"/>
              </a:rPr>
              <a:t>Structural</a:t>
            </a:r>
            <a:r>
              <a:rPr sz="2800" spc="-60" dirty="0">
                <a:solidFill>
                  <a:srgbClr val="89B833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solidFill>
                  <a:srgbClr val="89B833"/>
                </a:solidFill>
                <a:latin typeface="Lucida Sans Unicode"/>
                <a:cs typeface="Lucida Sans Unicode"/>
              </a:rPr>
              <a:t>representation</a:t>
            </a:r>
            <a:r>
              <a:rPr sz="2800" spc="-75" dirty="0">
                <a:solidFill>
                  <a:srgbClr val="89B833"/>
                </a:solidFill>
                <a:latin typeface="Lucida Sans Unicode"/>
                <a:cs typeface="Lucida Sans Unicod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–</a:t>
            </a:r>
            <a:r>
              <a:rPr sz="2800" spc="-8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scripts,</a:t>
            </a:r>
            <a:r>
              <a:rPr sz="2800" spc="-8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frames,</a:t>
            </a:r>
            <a:r>
              <a:rPr sz="2800" spc="-85" dirty="0">
                <a:latin typeface="Palatino Linotype"/>
                <a:cs typeface="Palatino Linotype"/>
              </a:rPr>
              <a:t> </a:t>
            </a:r>
            <a:r>
              <a:rPr sz="2800" spc="-10" dirty="0">
                <a:latin typeface="Palatino Linotype"/>
                <a:cs typeface="Palatino Linotype"/>
              </a:rPr>
              <a:t>objects</a:t>
            </a:r>
            <a:endParaRPr sz="2800">
              <a:latin typeface="Palatino Linotype"/>
              <a:cs typeface="Palatino Linotype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7265" y="1502181"/>
            <a:ext cx="6004651" cy="30065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582929"/>
            <a:ext cx="34804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455F51"/>
                </a:solidFill>
              </a:rPr>
              <a:t>Mô</a:t>
            </a:r>
            <a:r>
              <a:rPr sz="4800" spc="-5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hình</a:t>
            </a:r>
            <a:r>
              <a:rPr sz="4800" spc="-35" dirty="0">
                <a:solidFill>
                  <a:srgbClr val="455F51"/>
                </a:solidFill>
              </a:rPr>
              <a:t> </a:t>
            </a:r>
            <a:r>
              <a:rPr sz="4800" spc="-10" dirty="0">
                <a:solidFill>
                  <a:srgbClr val="455F51"/>
                </a:solidFill>
              </a:rPr>
              <a:t>logic</a:t>
            </a:r>
            <a:endParaRPr sz="4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12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565275"/>
            <a:ext cx="10984230" cy="467296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86385" marR="5080" indent="-274320">
              <a:lnSpc>
                <a:spcPts val="3460"/>
              </a:lnSpc>
              <a:spcBef>
                <a:spcPts val="535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>
                <a:latin typeface="Palatino Linotype"/>
                <a:cs typeface="Palatino Linotype"/>
              </a:rPr>
              <a:t>Dùng</a:t>
            </a:r>
            <a:r>
              <a:rPr sz="3200" spc="-7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các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biểu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thức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trong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logic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hình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thức,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như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phép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toán</a:t>
            </a:r>
            <a:r>
              <a:rPr sz="3200" spc="-55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vị </a:t>
            </a:r>
            <a:r>
              <a:rPr sz="3200" dirty="0">
                <a:latin typeface="Palatino Linotype"/>
                <a:cs typeface="Palatino Linotype"/>
              </a:rPr>
              <a:t>từ,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để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biểu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diễn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tri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spc="-10" dirty="0">
                <a:latin typeface="Palatino Linotype"/>
                <a:cs typeface="Palatino Linotype"/>
              </a:rPr>
              <a:t>thức.</a:t>
            </a:r>
            <a:endParaRPr sz="32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330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>
                <a:latin typeface="Palatino Linotype"/>
                <a:cs typeface="Palatino Linotype"/>
              </a:rPr>
              <a:t>Các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phương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pháp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suy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spc="-20" dirty="0">
                <a:latin typeface="Palatino Linotype"/>
                <a:cs typeface="Palatino Linotype"/>
              </a:rPr>
              <a:t>diễn</a:t>
            </a:r>
            <a:endParaRPr sz="32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384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>
                <a:latin typeface="Palatino Linotype"/>
                <a:cs typeface="Palatino Linotype"/>
              </a:rPr>
              <a:t>Ví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dụ:</a:t>
            </a:r>
            <a:endParaRPr sz="32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buFont typeface="Wingdings 2"/>
              <a:buChar char=""/>
            </a:pPr>
            <a:endParaRPr sz="32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buClr>
                <a:srgbClr val="C0CF39"/>
              </a:buClr>
              <a:buSzPct val="95161"/>
              <a:buFont typeface="Wingdings 2"/>
              <a:buChar char=""/>
              <a:tabLst>
                <a:tab pos="286385" algn="l"/>
              </a:tabLst>
            </a:pPr>
            <a:r>
              <a:rPr sz="3100" dirty="0">
                <a:latin typeface="Times New Roman"/>
                <a:cs typeface="Times New Roman"/>
              </a:rPr>
              <a:t>“Không</a:t>
            </a:r>
            <a:r>
              <a:rPr sz="3100" spc="-5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phải</a:t>
            </a:r>
            <a:r>
              <a:rPr sz="3100" spc="-4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tất</a:t>
            </a:r>
            <a:r>
              <a:rPr sz="3100" spc="-4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cả</a:t>
            </a:r>
            <a:r>
              <a:rPr sz="3100" spc="-7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các</a:t>
            </a:r>
            <a:r>
              <a:rPr sz="3100" spc="-5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sinh</a:t>
            </a:r>
            <a:r>
              <a:rPr sz="3100" spc="-4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viên</a:t>
            </a:r>
            <a:r>
              <a:rPr sz="3100" spc="-5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máy</a:t>
            </a:r>
            <a:r>
              <a:rPr sz="3100" spc="-5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tính</a:t>
            </a:r>
            <a:r>
              <a:rPr sz="3100" spc="-4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đều</a:t>
            </a:r>
            <a:r>
              <a:rPr sz="3100" spc="-5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thông</a:t>
            </a:r>
            <a:r>
              <a:rPr sz="3100" spc="-3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minh”.</a:t>
            </a:r>
            <a:r>
              <a:rPr sz="3100" spc="-110" dirty="0">
                <a:latin typeface="Times New Roman"/>
                <a:cs typeface="Times New Roman"/>
              </a:rPr>
              <a:t> </a:t>
            </a:r>
            <a:r>
              <a:rPr sz="3100" spc="-20" dirty="0">
                <a:latin typeface="Times New Roman"/>
                <a:cs typeface="Times New Roman"/>
              </a:rPr>
              <a:t>Với:</a:t>
            </a:r>
            <a:endParaRPr sz="3100">
              <a:latin typeface="Times New Roman"/>
              <a:cs typeface="Times New Roman"/>
            </a:endParaRPr>
          </a:p>
          <a:p>
            <a:pPr marL="652780" lvl="1" indent="-247015">
              <a:lnSpc>
                <a:spcPct val="100000"/>
              </a:lnSpc>
              <a:spcBef>
                <a:spcPts val="370"/>
              </a:spcBef>
              <a:buClr>
                <a:srgbClr val="539E39"/>
              </a:buClr>
              <a:buSzPct val="85483"/>
              <a:buFont typeface="Wingdings 2"/>
              <a:buChar char=""/>
              <a:tabLst>
                <a:tab pos="652780" algn="l"/>
              </a:tabLst>
            </a:pPr>
            <a:r>
              <a:rPr sz="3100" dirty="0">
                <a:latin typeface="Times New Roman"/>
                <a:cs typeface="Times New Roman"/>
              </a:rPr>
              <a:t>thong_minh(X):</a:t>
            </a:r>
            <a:r>
              <a:rPr sz="3100" spc="-7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“X</a:t>
            </a:r>
            <a:r>
              <a:rPr sz="3100" spc="-10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thông</a:t>
            </a:r>
            <a:r>
              <a:rPr sz="3100" spc="-80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minh”</a:t>
            </a:r>
            <a:endParaRPr sz="3100">
              <a:latin typeface="Times New Roman"/>
              <a:cs typeface="Times New Roman"/>
            </a:endParaRPr>
          </a:p>
          <a:p>
            <a:pPr marL="652145" lvl="1" indent="-246379">
              <a:lnSpc>
                <a:spcPct val="100000"/>
              </a:lnSpc>
              <a:spcBef>
                <a:spcPts val="395"/>
              </a:spcBef>
              <a:buClr>
                <a:srgbClr val="539E39"/>
              </a:buClr>
              <a:buSzPct val="84375"/>
              <a:buFont typeface="Wingdings 2"/>
              <a:buChar char=""/>
              <a:tabLst>
                <a:tab pos="652145" algn="l"/>
              </a:tabLst>
            </a:pPr>
            <a:r>
              <a:rPr sz="3200" dirty="0">
                <a:latin typeface="Times New Roman"/>
                <a:cs typeface="Times New Roman"/>
              </a:rPr>
              <a:t>sv_mt(X):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“X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là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sinh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viên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máy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tính”</a:t>
            </a:r>
            <a:endParaRPr sz="3200">
              <a:latin typeface="Times New Roman"/>
              <a:cs typeface="Times New Roman"/>
            </a:endParaRPr>
          </a:p>
          <a:p>
            <a:pPr marL="405765">
              <a:lnSpc>
                <a:spcPct val="100000"/>
              </a:lnSpc>
              <a:spcBef>
                <a:spcPts val="375"/>
              </a:spcBef>
            </a:pPr>
            <a:r>
              <a:rPr sz="3100" dirty="0">
                <a:latin typeface="Times New Roman"/>
                <a:cs typeface="Times New Roman"/>
              </a:rPr>
              <a:t>Câu</a:t>
            </a:r>
            <a:r>
              <a:rPr sz="3100" spc="-8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trên</a:t>
            </a:r>
            <a:r>
              <a:rPr sz="3100" spc="-5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chuyển</a:t>
            </a:r>
            <a:r>
              <a:rPr sz="3100" spc="-6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sang</a:t>
            </a:r>
            <a:r>
              <a:rPr sz="3100" spc="-5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là:</a:t>
            </a:r>
            <a:r>
              <a:rPr sz="3100" spc="-6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Symbol"/>
                <a:cs typeface="Symbol"/>
              </a:rPr>
              <a:t></a:t>
            </a:r>
            <a:r>
              <a:rPr sz="3100" dirty="0">
                <a:latin typeface="Times New Roman"/>
                <a:cs typeface="Times New Roman"/>
              </a:rPr>
              <a:t>X(sv_mt(X)</a:t>
            </a:r>
            <a:r>
              <a:rPr sz="3100" spc="-3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^</a:t>
            </a:r>
            <a:r>
              <a:rPr sz="3100" spc="-65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Symbol"/>
                <a:cs typeface="Symbol"/>
              </a:rPr>
              <a:t></a:t>
            </a:r>
            <a:r>
              <a:rPr sz="3100" spc="-10" dirty="0">
                <a:latin typeface="Times New Roman"/>
                <a:cs typeface="Times New Roman"/>
              </a:rPr>
              <a:t>thong_minh(X)).</a:t>
            </a:r>
            <a:endParaRPr sz="3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722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455F51"/>
                </a:solidFill>
              </a:rPr>
              <a:t>Mô</a:t>
            </a:r>
            <a:r>
              <a:rPr sz="4800" spc="-6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hình</a:t>
            </a:r>
            <a:r>
              <a:rPr sz="4800" spc="-3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thủ</a:t>
            </a:r>
            <a:r>
              <a:rPr sz="4800" spc="-50" dirty="0">
                <a:solidFill>
                  <a:srgbClr val="455F51"/>
                </a:solidFill>
              </a:rPr>
              <a:t> </a:t>
            </a:r>
            <a:r>
              <a:rPr sz="4800" spc="-25" dirty="0">
                <a:solidFill>
                  <a:srgbClr val="455F51"/>
                </a:solidFill>
              </a:rPr>
              <a:t>tục</a:t>
            </a:r>
            <a:endParaRPr sz="4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13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713433"/>
            <a:ext cx="10285730" cy="376013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>
                <a:latin typeface="Palatino Linotype"/>
                <a:cs typeface="Palatino Linotype"/>
              </a:rPr>
              <a:t>Biểu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diễn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tri thức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như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b="1" dirty="0">
                <a:latin typeface="Palatino Linotype"/>
                <a:cs typeface="Palatino Linotype"/>
              </a:rPr>
              <a:t>tập</a:t>
            </a:r>
            <a:r>
              <a:rPr sz="3200" b="1" spc="-30" dirty="0">
                <a:latin typeface="Palatino Linotype"/>
                <a:cs typeface="Palatino Linotype"/>
              </a:rPr>
              <a:t> </a:t>
            </a:r>
            <a:r>
              <a:rPr sz="3200" b="1" dirty="0">
                <a:latin typeface="Palatino Linotype"/>
                <a:cs typeface="Palatino Linotype"/>
              </a:rPr>
              <a:t>các</a:t>
            </a:r>
            <a:r>
              <a:rPr sz="3200" b="1" spc="-35" dirty="0">
                <a:latin typeface="Palatino Linotype"/>
                <a:cs typeface="Palatino Linotype"/>
              </a:rPr>
              <a:t> </a:t>
            </a:r>
            <a:r>
              <a:rPr sz="3200" b="1" dirty="0">
                <a:latin typeface="Palatino Linotype"/>
                <a:cs typeface="Palatino Linotype"/>
              </a:rPr>
              <a:t>chỉ</a:t>
            </a:r>
            <a:r>
              <a:rPr sz="3200" b="1" spc="-20" dirty="0">
                <a:latin typeface="Palatino Linotype"/>
                <a:cs typeface="Palatino Linotype"/>
              </a:rPr>
              <a:t> </a:t>
            </a:r>
            <a:r>
              <a:rPr sz="3200" b="1" dirty="0">
                <a:latin typeface="Palatino Linotype"/>
                <a:cs typeface="Palatino Linotype"/>
              </a:rPr>
              <a:t>thị</a:t>
            </a:r>
            <a:r>
              <a:rPr sz="3200" b="1" spc="-35" dirty="0">
                <a:latin typeface="Palatino Linotype"/>
                <a:cs typeface="Palatino Linotype"/>
              </a:rPr>
              <a:t> </a:t>
            </a:r>
            <a:r>
              <a:rPr sz="3200" b="1" dirty="0">
                <a:latin typeface="Palatino Linotype"/>
                <a:cs typeface="Palatino Linotype"/>
              </a:rPr>
              <a:t>lệnh</a:t>
            </a:r>
            <a:r>
              <a:rPr sz="3200" b="1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để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giải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spc="-10" dirty="0">
                <a:latin typeface="Palatino Linotype"/>
                <a:cs typeface="Palatino Linotype"/>
              </a:rPr>
              <a:t>quyết </a:t>
            </a:r>
            <a:r>
              <a:rPr sz="3200" dirty="0">
                <a:latin typeface="Palatino Linotype"/>
                <a:cs typeface="Palatino Linotype"/>
              </a:rPr>
              <a:t>vấn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đề.</a:t>
            </a:r>
            <a:endParaRPr sz="3200">
              <a:latin typeface="Palatino Linotype"/>
              <a:cs typeface="Palatino Linotype"/>
            </a:endParaRPr>
          </a:p>
          <a:p>
            <a:pPr marL="286385" marR="57785" indent="-274320">
              <a:lnSpc>
                <a:spcPct val="100000"/>
              </a:lnSpc>
              <a:spcBef>
                <a:spcPts val="770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>
                <a:latin typeface="Palatino Linotype"/>
                <a:cs typeface="Palatino Linotype"/>
              </a:rPr>
              <a:t>Ngược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lại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với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các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lược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đồ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dạng</a:t>
            </a:r>
            <a:r>
              <a:rPr sz="3200" spc="-5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khai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báo,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như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logic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và </a:t>
            </a:r>
            <a:r>
              <a:rPr sz="3200" dirty="0">
                <a:latin typeface="Palatino Linotype"/>
                <a:cs typeface="Palatino Linotype"/>
              </a:rPr>
              <a:t>mạng,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các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chỉ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thị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lệnh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trong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lược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đồ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thủ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tục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chỉ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ra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spc="-20" dirty="0">
                <a:latin typeface="Palatino Linotype"/>
                <a:cs typeface="Palatino Linotype"/>
              </a:rPr>
              <a:t>bằng </a:t>
            </a:r>
            <a:r>
              <a:rPr sz="3200" dirty="0">
                <a:latin typeface="Palatino Linotype"/>
                <a:cs typeface="Palatino Linotype"/>
              </a:rPr>
              <a:t>cách</a:t>
            </a:r>
            <a:r>
              <a:rPr sz="3200" spc="-6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nào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giải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quyết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vấn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đề.</a:t>
            </a:r>
            <a:endParaRPr sz="3200">
              <a:latin typeface="Palatino Linotype"/>
              <a:cs typeface="Palatino Linotype"/>
            </a:endParaRPr>
          </a:p>
          <a:p>
            <a:pPr marL="12700" marR="755650" indent="273685">
              <a:lnSpc>
                <a:spcPct val="120100"/>
              </a:lnSpc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smtClean="0">
                <a:latin typeface="Palatino Linotype"/>
                <a:cs typeface="Palatino Linotype"/>
              </a:rPr>
              <a:t>Hệ</a:t>
            </a:r>
            <a:r>
              <a:rPr sz="3200" spc="-25" smtClean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luật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sinh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là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ví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dụ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điển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hình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của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loại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lược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đồ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này </a:t>
            </a:r>
            <a:r>
              <a:rPr sz="3200" dirty="0">
                <a:latin typeface="Palatino Linotype"/>
                <a:cs typeface="Palatino Linotype"/>
              </a:rPr>
              <a:t>(học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nội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dung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này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ở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chương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6)</a:t>
            </a:r>
            <a:endParaRPr sz="3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722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455F51"/>
                </a:solidFill>
              </a:rPr>
              <a:t>Mô</a:t>
            </a:r>
            <a:r>
              <a:rPr sz="4800" spc="-5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hình</a:t>
            </a:r>
            <a:r>
              <a:rPr sz="4800" spc="-35" dirty="0">
                <a:solidFill>
                  <a:srgbClr val="455F51"/>
                </a:solidFill>
              </a:rPr>
              <a:t> </a:t>
            </a:r>
            <a:r>
              <a:rPr sz="4800" spc="-20" dirty="0">
                <a:solidFill>
                  <a:srgbClr val="455F51"/>
                </a:solidFill>
              </a:rPr>
              <a:t>mạng</a:t>
            </a:r>
            <a:endParaRPr sz="4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14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941702"/>
            <a:ext cx="10556240" cy="2562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379095" indent="-274320">
              <a:lnSpc>
                <a:spcPct val="100000"/>
              </a:lnSpc>
              <a:spcBef>
                <a:spcPts val="105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>
                <a:latin typeface="Palatino Linotype"/>
                <a:cs typeface="Palatino Linotype"/>
              </a:rPr>
              <a:t>Biểu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diễn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tri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thức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như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là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đồ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thị: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các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đỉnh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như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là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các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đối </a:t>
            </a:r>
            <a:r>
              <a:rPr sz="3200" dirty="0">
                <a:latin typeface="Palatino Linotype"/>
                <a:cs typeface="Palatino Linotype"/>
              </a:rPr>
              <a:t>tượng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hoặc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khái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niệm,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các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cung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như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là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quan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hệ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spc="-20" dirty="0">
                <a:latin typeface="Palatino Linotype"/>
                <a:cs typeface="Palatino Linotype"/>
              </a:rPr>
              <a:t>giữa </a:t>
            </a:r>
            <a:r>
              <a:rPr sz="3200" spc="-10" dirty="0">
                <a:latin typeface="Palatino Linotype"/>
                <a:cs typeface="Palatino Linotype"/>
              </a:rPr>
              <a:t>chúng.</a:t>
            </a:r>
            <a:endParaRPr sz="3200">
              <a:latin typeface="Palatino Linotype"/>
              <a:cs typeface="Palatino Linotype"/>
            </a:endParaRPr>
          </a:p>
          <a:p>
            <a:pPr marL="286385" marR="5080" indent="-274320">
              <a:lnSpc>
                <a:spcPct val="100000"/>
              </a:lnSpc>
              <a:spcBef>
                <a:spcPts val="770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>
                <a:latin typeface="Palatino Linotype"/>
                <a:cs typeface="Palatino Linotype"/>
              </a:rPr>
              <a:t>Các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ví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dụ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về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loại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lược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đồ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này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gồm: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mạng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ngữ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nghĩa,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phụ </a:t>
            </a:r>
            <a:r>
              <a:rPr sz="3200" dirty="0">
                <a:latin typeface="Palatino Linotype"/>
                <a:cs typeface="Palatino Linotype"/>
              </a:rPr>
              <a:t>thuộc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khái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niệm,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đồ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thị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khái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spc="-10" dirty="0">
                <a:latin typeface="Palatino Linotype"/>
                <a:cs typeface="Palatino Linotype"/>
              </a:rPr>
              <a:t>niệm…</a:t>
            </a:r>
            <a:endParaRPr sz="3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1187" y="188721"/>
            <a:ext cx="97453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455F51"/>
                </a:solidFill>
              </a:rPr>
              <a:t>Biểu</a:t>
            </a:r>
            <a:r>
              <a:rPr sz="4800" spc="-1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diễn</a:t>
            </a:r>
            <a:r>
              <a:rPr sz="4800" spc="-10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tri</a:t>
            </a:r>
            <a:r>
              <a:rPr sz="4800" spc="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thức</a:t>
            </a:r>
            <a:r>
              <a:rPr sz="4800" spc="-20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bằng</a:t>
            </a:r>
            <a:r>
              <a:rPr sz="4800" spc="-10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mạng</a:t>
            </a:r>
            <a:r>
              <a:rPr sz="4800" spc="-10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ngữ</a:t>
            </a:r>
            <a:r>
              <a:rPr sz="4800" spc="-5" dirty="0">
                <a:solidFill>
                  <a:srgbClr val="455F51"/>
                </a:solidFill>
              </a:rPr>
              <a:t> </a:t>
            </a:r>
            <a:r>
              <a:rPr sz="4800" spc="-10" dirty="0">
                <a:solidFill>
                  <a:srgbClr val="455F51"/>
                </a:solidFill>
              </a:rPr>
              <a:t>nghĩa</a:t>
            </a:r>
            <a:endParaRPr sz="4800"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15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5337" y="976020"/>
            <a:ext cx="10843260" cy="116586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25"/>
              </a:spcBef>
              <a:buClr>
                <a:srgbClr val="C0CF39"/>
              </a:buClr>
              <a:buSzPct val="93181"/>
              <a:buFont typeface="Wingdings 2"/>
              <a:buChar char=""/>
              <a:tabLst>
                <a:tab pos="287020" algn="l"/>
              </a:tabLst>
            </a:pPr>
            <a:r>
              <a:rPr sz="2200" dirty="0">
                <a:latin typeface="Palatino Linotype"/>
                <a:cs typeface="Palatino Linotype"/>
              </a:rPr>
              <a:t>Định</a:t>
            </a:r>
            <a:r>
              <a:rPr sz="2200" spc="-25" dirty="0">
                <a:latin typeface="Palatino Linotype"/>
                <a:cs typeface="Palatino Linotype"/>
              </a:rPr>
              <a:t> </a:t>
            </a:r>
            <a:r>
              <a:rPr sz="2200" spc="-10" dirty="0">
                <a:latin typeface="Palatino Linotype"/>
                <a:cs typeface="Palatino Linotype"/>
              </a:rPr>
              <a:t>nghĩa:</a:t>
            </a:r>
            <a:endParaRPr sz="2200">
              <a:latin typeface="Palatino Linotype"/>
              <a:cs typeface="Palatino Linotype"/>
            </a:endParaRPr>
          </a:p>
          <a:p>
            <a:pPr marL="927100">
              <a:lnSpc>
                <a:spcPct val="100000"/>
              </a:lnSpc>
              <a:spcBef>
                <a:spcPts val="530"/>
              </a:spcBef>
            </a:pPr>
            <a:r>
              <a:rPr sz="2200" dirty="0">
                <a:latin typeface="Palatino Linotype"/>
                <a:cs typeface="Palatino Linotype"/>
              </a:rPr>
              <a:t>Là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một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lược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đồ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biểu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diễn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kiểu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mạng,</a:t>
            </a:r>
            <a:r>
              <a:rPr sz="2200" spc="-4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dùng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đồ</a:t>
            </a:r>
            <a:r>
              <a:rPr sz="2200" spc="-1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thị</a:t>
            </a:r>
            <a:r>
              <a:rPr sz="2200" spc="-5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để</a:t>
            </a:r>
            <a:r>
              <a:rPr sz="2200" spc="-2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biểu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diễn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tri</a:t>
            </a:r>
            <a:r>
              <a:rPr sz="2200" spc="-2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thức.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Các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spc="-20" dirty="0">
                <a:latin typeface="Palatino Linotype"/>
                <a:cs typeface="Palatino Linotype"/>
              </a:rPr>
              <a:t>đỉnh</a:t>
            </a:r>
            <a:endParaRPr sz="2200">
              <a:latin typeface="Palatino Linotype"/>
              <a:cs typeface="Palatino Linotype"/>
            </a:endParaRPr>
          </a:p>
          <a:p>
            <a:pPr marL="287020">
              <a:lnSpc>
                <a:spcPct val="100000"/>
              </a:lnSpc>
            </a:pPr>
            <a:r>
              <a:rPr sz="2200" dirty="0">
                <a:latin typeface="Palatino Linotype"/>
                <a:cs typeface="Palatino Linotype"/>
              </a:rPr>
              <a:t>biểu</a:t>
            </a:r>
            <a:r>
              <a:rPr sz="2200" spc="-2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diễn</a:t>
            </a:r>
            <a:r>
              <a:rPr sz="2200" spc="-2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đối</a:t>
            </a:r>
            <a:r>
              <a:rPr sz="2200" spc="-1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tượng;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các</a:t>
            </a:r>
            <a:r>
              <a:rPr sz="2200" spc="-2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cung</a:t>
            </a:r>
            <a:r>
              <a:rPr sz="2200" spc="-1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biểu</a:t>
            </a:r>
            <a:r>
              <a:rPr sz="2200" spc="-2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diễn</a:t>
            </a:r>
            <a:r>
              <a:rPr sz="2200" spc="-2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quan</a:t>
            </a:r>
            <a:r>
              <a:rPr sz="2200" spc="-1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hệ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giữa</a:t>
            </a:r>
            <a:r>
              <a:rPr sz="2200" spc="-20" dirty="0">
                <a:latin typeface="Palatino Linotype"/>
                <a:cs typeface="Palatino Linotype"/>
              </a:rPr>
              <a:t> </a:t>
            </a:r>
            <a:r>
              <a:rPr sz="2200" spc="-10" dirty="0">
                <a:latin typeface="Palatino Linotype"/>
                <a:cs typeface="Palatino Linotype"/>
              </a:rPr>
              <a:t>chúng.</a:t>
            </a:r>
            <a:endParaRPr sz="22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5337" y="2184018"/>
            <a:ext cx="10604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5"/>
              </a:spcBef>
              <a:buClr>
                <a:srgbClr val="C0CF39"/>
              </a:buClr>
              <a:buSzPct val="93181"/>
              <a:buFont typeface="Wingdings 2"/>
              <a:buChar char=""/>
              <a:tabLst>
                <a:tab pos="287020" algn="l"/>
              </a:tabLst>
            </a:pPr>
            <a:r>
              <a:rPr sz="2200" dirty="0">
                <a:latin typeface="Palatino Linotype"/>
                <a:cs typeface="Palatino Linotype"/>
              </a:rPr>
              <a:t>Ví</a:t>
            </a:r>
            <a:r>
              <a:rPr sz="2200" spc="-10" dirty="0">
                <a:latin typeface="Palatino Linotype"/>
                <a:cs typeface="Palatino Linotype"/>
              </a:rPr>
              <a:t> </a:t>
            </a:r>
            <a:r>
              <a:rPr sz="2200" spc="-25" dirty="0">
                <a:latin typeface="Palatino Linotype"/>
                <a:cs typeface="Palatino Linotype"/>
              </a:rPr>
              <a:t>dụ:</a:t>
            </a:r>
            <a:endParaRPr sz="2200">
              <a:latin typeface="Palatino Linotype"/>
              <a:cs typeface="Palatino Linotyp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61860" y="3556127"/>
            <a:ext cx="3566795" cy="1987550"/>
            <a:chOff x="661860" y="3556127"/>
            <a:chExt cx="3566795" cy="1987550"/>
          </a:xfrm>
        </p:grpSpPr>
        <p:sp>
          <p:nvSpPr>
            <p:cNvPr id="6" name="object 6"/>
            <p:cNvSpPr/>
            <p:nvPr/>
          </p:nvSpPr>
          <p:spPr>
            <a:xfrm>
              <a:off x="4045585" y="3556126"/>
              <a:ext cx="183515" cy="1987550"/>
            </a:xfrm>
            <a:custGeom>
              <a:avLst/>
              <a:gdLst/>
              <a:ahLst/>
              <a:cxnLst/>
              <a:rect l="l" t="t" r="r" b="b"/>
              <a:pathLst>
                <a:path w="183514" h="1987550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3274" y="76200"/>
                  </a:lnTo>
                  <a:lnTo>
                    <a:pt x="33274" y="542036"/>
                  </a:lnTo>
                  <a:lnTo>
                    <a:pt x="42799" y="542036"/>
                  </a:lnTo>
                  <a:lnTo>
                    <a:pt x="42799" y="76200"/>
                  </a:lnTo>
                  <a:lnTo>
                    <a:pt x="76200" y="76200"/>
                  </a:lnTo>
                  <a:close/>
                </a:path>
                <a:path w="183514" h="1987550">
                  <a:moveTo>
                    <a:pt x="183007" y="1911096"/>
                  </a:moveTo>
                  <a:lnTo>
                    <a:pt x="149606" y="1911096"/>
                  </a:lnTo>
                  <a:lnTo>
                    <a:pt x="149606" y="1354963"/>
                  </a:lnTo>
                  <a:lnTo>
                    <a:pt x="140081" y="1354963"/>
                  </a:lnTo>
                  <a:lnTo>
                    <a:pt x="140081" y="1911096"/>
                  </a:lnTo>
                  <a:lnTo>
                    <a:pt x="106807" y="1911096"/>
                  </a:lnTo>
                  <a:lnTo>
                    <a:pt x="144907" y="1987296"/>
                  </a:lnTo>
                  <a:lnTo>
                    <a:pt x="176657" y="1923796"/>
                  </a:lnTo>
                  <a:lnTo>
                    <a:pt x="183007" y="1911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6623" y="4098163"/>
              <a:ext cx="961390" cy="813435"/>
            </a:xfrm>
            <a:custGeom>
              <a:avLst/>
              <a:gdLst/>
              <a:ahLst/>
              <a:cxnLst/>
              <a:rect l="l" t="t" r="r" b="b"/>
              <a:pathLst>
                <a:path w="961389" h="813435">
                  <a:moveTo>
                    <a:pt x="480517" y="0"/>
                  </a:moveTo>
                  <a:lnTo>
                    <a:pt x="428160" y="2385"/>
                  </a:lnTo>
                  <a:lnTo>
                    <a:pt x="377435" y="9375"/>
                  </a:lnTo>
                  <a:lnTo>
                    <a:pt x="328637" y="20722"/>
                  </a:lnTo>
                  <a:lnTo>
                    <a:pt x="282058" y="36178"/>
                  </a:lnTo>
                  <a:lnTo>
                    <a:pt x="237992" y="55494"/>
                  </a:lnTo>
                  <a:lnTo>
                    <a:pt x="196731" y="78423"/>
                  </a:lnTo>
                  <a:lnTo>
                    <a:pt x="158568" y="104716"/>
                  </a:lnTo>
                  <a:lnTo>
                    <a:pt x="123798" y="134125"/>
                  </a:lnTo>
                  <a:lnTo>
                    <a:pt x="92712" y="166402"/>
                  </a:lnTo>
                  <a:lnTo>
                    <a:pt x="65605" y="201299"/>
                  </a:lnTo>
                  <a:lnTo>
                    <a:pt x="42769" y="238568"/>
                  </a:lnTo>
                  <a:lnTo>
                    <a:pt x="24497" y="277961"/>
                  </a:lnTo>
                  <a:lnTo>
                    <a:pt x="11083" y="319229"/>
                  </a:lnTo>
                  <a:lnTo>
                    <a:pt x="2819" y="362125"/>
                  </a:lnTo>
                  <a:lnTo>
                    <a:pt x="0" y="406400"/>
                  </a:lnTo>
                  <a:lnTo>
                    <a:pt x="2819" y="450698"/>
                  </a:lnTo>
                  <a:lnTo>
                    <a:pt x="11083" y="493614"/>
                  </a:lnTo>
                  <a:lnTo>
                    <a:pt x="24497" y="534900"/>
                  </a:lnTo>
                  <a:lnTo>
                    <a:pt x="42769" y="574308"/>
                  </a:lnTo>
                  <a:lnTo>
                    <a:pt x="65605" y="611589"/>
                  </a:lnTo>
                  <a:lnTo>
                    <a:pt x="92712" y="646497"/>
                  </a:lnTo>
                  <a:lnTo>
                    <a:pt x="123798" y="678782"/>
                  </a:lnTo>
                  <a:lnTo>
                    <a:pt x="158568" y="708198"/>
                  </a:lnTo>
                  <a:lnTo>
                    <a:pt x="196731" y="734495"/>
                  </a:lnTo>
                  <a:lnTo>
                    <a:pt x="237992" y="757428"/>
                  </a:lnTo>
                  <a:lnTo>
                    <a:pt x="282058" y="776746"/>
                  </a:lnTo>
                  <a:lnTo>
                    <a:pt x="328637" y="792203"/>
                  </a:lnTo>
                  <a:lnTo>
                    <a:pt x="377435" y="803551"/>
                  </a:lnTo>
                  <a:lnTo>
                    <a:pt x="428160" y="810541"/>
                  </a:lnTo>
                  <a:lnTo>
                    <a:pt x="480517" y="812926"/>
                  </a:lnTo>
                  <a:lnTo>
                    <a:pt x="532869" y="810541"/>
                  </a:lnTo>
                  <a:lnTo>
                    <a:pt x="583589" y="803551"/>
                  </a:lnTo>
                  <a:lnTo>
                    <a:pt x="632384" y="792203"/>
                  </a:lnTo>
                  <a:lnTo>
                    <a:pt x="678960" y="776746"/>
                  </a:lnTo>
                  <a:lnTo>
                    <a:pt x="723024" y="757427"/>
                  </a:lnTo>
                  <a:lnTo>
                    <a:pt x="764283" y="734495"/>
                  </a:lnTo>
                  <a:lnTo>
                    <a:pt x="802443" y="708198"/>
                  </a:lnTo>
                  <a:lnTo>
                    <a:pt x="837213" y="678782"/>
                  </a:lnTo>
                  <a:lnTo>
                    <a:pt x="868297" y="646497"/>
                  </a:lnTo>
                  <a:lnTo>
                    <a:pt x="895404" y="611589"/>
                  </a:lnTo>
                  <a:lnTo>
                    <a:pt x="918240" y="574308"/>
                  </a:lnTo>
                  <a:lnTo>
                    <a:pt x="936511" y="534900"/>
                  </a:lnTo>
                  <a:lnTo>
                    <a:pt x="949925" y="493614"/>
                  </a:lnTo>
                  <a:lnTo>
                    <a:pt x="958189" y="450698"/>
                  </a:lnTo>
                  <a:lnTo>
                    <a:pt x="961008" y="406400"/>
                  </a:lnTo>
                  <a:lnTo>
                    <a:pt x="958189" y="362125"/>
                  </a:lnTo>
                  <a:lnTo>
                    <a:pt x="949925" y="319229"/>
                  </a:lnTo>
                  <a:lnTo>
                    <a:pt x="936511" y="277961"/>
                  </a:lnTo>
                  <a:lnTo>
                    <a:pt x="918240" y="238568"/>
                  </a:lnTo>
                  <a:lnTo>
                    <a:pt x="895404" y="201299"/>
                  </a:lnTo>
                  <a:lnTo>
                    <a:pt x="868297" y="166402"/>
                  </a:lnTo>
                  <a:lnTo>
                    <a:pt x="837213" y="134125"/>
                  </a:lnTo>
                  <a:lnTo>
                    <a:pt x="802443" y="104716"/>
                  </a:lnTo>
                  <a:lnTo>
                    <a:pt x="764283" y="78423"/>
                  </a:lnTo>
                  <a:lnTo>
                    <a:pt x="723024" y="55494"/>
                  </a:lnTo>
                  <a:lnTo>
                    <a:pt x="678960" y="36178"/>
                  </a:lnTo>
                  <a:lnTo>
                    <a:pt x="632384" y="20722"/>
                  </a:lnTo>
                  <a:lnTo>
                    <a:pt x="583589" y="9375"/>
                  </a:lnTo>
                  <a:lnTo>
                    <a:pt x="532869" y="2385"/>
                  </a:lnTo>
                  <a:lnTo>
                    <a:pt x="480517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6623" y="4098163"/>
              <a:ext cx="961390" cy="813435"/>
            </a:xfrm>
            <a:custGeom>
              <a:avLst/>
              <a:gdLst/>
              <a:ahLst/>
              <a:cxnLst/>
              <a:rect l="l" t="t" r="r" b="b"/>
              <a:pathLst>
                <a:path w="961389" h="813435">
                  <a:moveTo>
                    <a:pt x="0" y="406400"/>
                  </a:moveTo>
                  <a:lnTo>
                    <a:pt x="2819" y="362125"/>
                  </a:lnTo>
                  <a:lnTo>
                    <a:pt x="11083" y="319229"/>
                  </a:lnTo>
                  <a:lnTo>
                    <a:pt x="24497" y="277961"/>
                  </a:lnTo>
                  <a:lnTo>
                    <a:pt x="42769" y="238568"/>
                  </a:lnTo>
                  <a:lnTo>
                    <a:pt x="65605" y="201299"/>
                  </a:lnTo>
                  <a:lnTo>
                    <a:pt x="92712" y="166402"/>
                  </a:lnTo>
                  <a:lnTo>
                    <a:pt x="123798" y="134125"/>
                  </a:lnTo>
                  <a:lnTo>
                    <a:pt x="158568" y="104716"/>
                  </a:lnTo>
                  <a:lnTo>
                    <a:pt x="196731" y="78423"/>
                  </a:lnTo>
                  <a:lnTo>
                    <a:pt x="237992" y="55494"/>
                  </a:lnTo>
                  <a:lnTo>
                    <a:pt x="282058" y="36178"/>
                  </a:lnTo>
                  <a:lnTo>
                    <a:pt x="328637" y="20722"/>
                  </a:lnTo>
                  <a:lnTo>
                    <a:pt x="377435" y="9375"/>
                  </a:lnTo>
                  <a:lnTo>
                    <a:pt x="428160" y="2385"/>
                  </a:lnTo>
                  <a:lnTo>
                    <a:pt x="480517" y="0"/>
                  </a:lnTo>
                  <a:lnTo>
                    <a:pt x="532869" y="2385"/>
                  </a:lnTo>
                  <a:lnTo>
                    <a:pt x="583589" y="9375"/>
                  </a:lnTo>
                  <a:lnTo>
                    <a:pt x="632384" y="20722"/>
                  </a:lnTo>
                  <a:lnTo>
                    <a:pt x="678960" y="36178"/>
                  </a:lnTo>
                  <a:lnTo>
                    <a:pt x="723024" y="55494"/>
                  </a:lnTo>
                  <a:lnTo>
                    <a:pt x="764283" y="78423"/>
                  </a:lnTo>
                  <a:lnTo>
                    <a:pt x="802443" y="104716"/>
                  </a:lnTo>
                  <a:lnTo>
                    <a:pt x="837213" y="134125"/>
                  </a:lnTo>
                  <a:lnTo>
                    <a:pt x="868297" y="166402"/>
                  </a:lnTo>
                  <a:lnTo>
                    <a:pt x="895404" y="201299"/>
                  </a:lnTo>
                  <a:lnTo>
                    <a:pt x="918240" y="238568"/>
                  </a:lnTo>
                  <a:lnTo>
                    <a:pt x="936511" y="277961"/>
                  </a:lnTo>
                  <a:lnTo>
                    <a:pt x="949925" y="319229"/>
                  </a:lnTo>
                  <a:lnTo>
                    <a:pt x="958189" y="362125"/>
                  </a:lnTo>
                  <a:lnTo>
                    <a:pt x="961008" y="406400"/>
                  </a:lnTo>
                  <a:lnTo>
                    <a:pt x="958189" y="450698"/>
                  </a:lnTo>
                  <a:lnTo>
                    <a:pt x="949925" y="493614"/>
                  </a:lnTo>
                  <a:lnTo>
                    <a:pt x="936511" y="534900"/>
                  </a:lnTo>
                  <a:lnTo>
                    <a:pt x="918240" y="574308"/>
                  </a:lnTo>
                  <a:lnTo>
                    <a:pt x="895404" y="611589"/>
                  </a:lnTo>
                  <a:lnTo>
                    <a:pt x="868297" y="646497"/>
                  </a:lnTo>
                  <a:lnTo>
                    <a:pt x="837213" y="678782"/>
                  </a:lnTo>
                  <a:lnTo>
                    <a:pt x="802443" y="708198"/>
                  </a:lnTo>
                  <a:lnTo>
                    <a:pt x="764283" y="734495"/>
                  </a:lnTo>
                  <a:lnTo>
                    <a:pt x="723024" y="757427"/>
                  </a:lnTo>
                  <a:lnTo>
                    <a:pt x="678960" y="776746"/>
                  </a:lnTo>
                  <a:lnTo>
                    <a:pt x="632384" y="792203"/>
                  </a:lnTo>
                  <a:lnTo>
                    <a:pt x="583589" y="803551"/>
                  </a:lnTo>
                  <a:lnTo>
                    <a:pt x="532869" y="810541"/>
                  </a:lnTo>
                  <a:lnTo>
                    <a:pt x="480517" y="812926"/>
                  </a:lnTo>
                  <a:lnTo>
                    <a:pt x="428160" y="810541"/>
                  </a:lnTo>
                  <a:lnTo>
                    <a:pt x="377435" y="803551"/>
                  </a:lnTo>
                  <a:lnTo>
                    <a:pt x="328637" y="792203"/>
                  </a:lnTo>
                  <a:lnTo>
                    <a:pt x="282058" y="776746"/>
                  </a:lnTo>
                  <a:lnTo>
                    <a:pt x="237992" y="757428"/>
                  </a:lnTo>
                  <a:lnTo>
                    <a:pt x="196731" y="734495"/>
                  </a:lnTo>
                  <a:lnTo>
                    <a:pt x="158568" y="708198"/>
                  </a:lnTo>
                  <a:lnTo>
                    <a:pt x="123798" y="678782"/>
                  </a:lnTo>
                  <a:lnTo>
                    <a:pt x="92712" y="646497"/>
                  </a:lnTo>
                  <a:lnTo>
                    <a:pt x="65605" y="611589"/>
                  </a:lnTo>
                  <a:lnTo>
                    <a:pt x="42769" y="574308"/>
                  </a:lnTo>
                  <a:lnTo>
                    <a:pt x="24497" y="534900"/>
                  </a:lnTo>
                  <a:lnTo>
                    <a:pt x="11083" y="493614"/>
                  </a:lnTo>
                  <a:lnTo>
                    <a:pt x="2819" y="450698"/>
                  </a:lnTo>
                  <a:lnTo>
                    <a:pt x="0" y="406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51712" y="4244466"/>
            <a:ext cx="5321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2555" marR="5080" indent="-110489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latin typeface="Arial"/>
                <a:cs typeface="Arial"/>
              </a:rPr>
              <a:t>Chim </a:t>
            </a:r>
            <a:r>
              <a:rPr sz="1600" b="1" spc="-25" dirty="0">
                <a:latin typeface="Arial"/>
                <a:cs typeface="Arial"/>
              </a:rPr>
              <a:t>yến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651821" y="4093400"/>
            <a:ext cx="970915" cy="822960"/>
            <a:chOff x="3651821" y="4093400"/>
            <a:chExt cx="970915" cy="822960"/>
          </a:xfrm>
        </p:grpSpPr>
        <p:sp>
          <p:nvSpPr>
            <p:cNvPr id="11" name="object 11"/>
            <p:cNvSpPr/>
            <p:nvPr/>
          </p:nvSpPr>
          <p:spPr>
            <a:xfrm>
              <a:off x="3656584" y="4098163"/>
              <a:ext cx="961390" cy="813435"/>
            </a:xfrm>
            <a:custGeom>
              <a:avLst/>
              <a:gdLst/>
              <a:ahLst/>
              <a:cxnLst/>
              <a:rect l="l" t="t" r="r" b="b"/>
              <a:pathLst>
                <a:path w="961389" h="813435">
                  <a:moveTo>
                    <a:pt x="480440" y="0"/>
                  </a:moveTo>
                  <a:lnTo>
                    <a:pt x="428098" y="2385"/>
                  </a:lnTo>
                  <a:lnTo>
                    <a:pt x="377386" y="9375"/>
                  </a:lnTo>
                  <a:lnTo>
                    <a:pt x="328598" y="20722"/>
                  </a:lnTo>
                  <a:lnTo>
                    <a:pt x="282028" y="36178"/>
                  </a:lnTo>
                  <a:lnTo>
                    <a:pt x="237969" y="55494"/>
                  </a:lnTo>
                  <a:lnTo>
                    <a:pt x="196714" y="78423"/>
                  </a:lnTo>
                  <a:lnTo>
                    <a:pt x="158557" y="104716"/>
                  </a:lnTo>
                  <a:lnTo>
                    <a:pt x="123790" y="134125"/>
                  </a:lnTo>
                  <a:lnTo>
                    <a:pt x="92707" y="166402"/>
                  </a:lnTo>
                  <a:lnTo>
                    <a:pt x="65602" y="201299"/>
                  </a:lnTo>
                  <a:lnTo>
                    <a:pt x="42767" y="238568"/>
                  </a:lnTo>
                  <a:lnTo>
                    <a:pt x="24496" y="277961"/>
                  </a:lnTo>
                  <a:lnTo>
                    <a:pt x="11082" y="319229"/>
                  </a:lnTo>
                  <a:lnTo>
                    <a:pt x="2819" y="362125"/>
                  </a:lnTo>
                  <a:lnTo>
                    <a:pt x="0" y="406400"/>
                  </a:lnTo>
                  <a:lnTo>
                    <a:pt x="2819" y="450698"/>
                  </a:lnTo>
                  <a:lnTo>
                    <a:pt x="11082" y="493614"/>
                  </a:lnTo>
                  <a:lnTo>
                    <a:pt x="24496" y="534900"/>
                  </a:lnTo>
                  <a:lnTo>
                    <a:pt x="42767" y="574308"/>
                  </a:lnTo>
                  <a:lnTo>
                    <a:pt x="65602" y="611589"/>
                  </a:lnTo>
                  <a:lnTo>
                    <a:pt x="92707" y="646497"/>
                  </a:lnTo>
                  <a:lnTo>
                    <a:pt x="123790" y="678782"/>
                  </a:lnTo>
                  <a:lnTo>
                    <a:pt x="158557" y="708198"/>
                  </a:lnTo>
                  <a:lnTo>
                    <a:pt x="196714" y="734495"/>
                  </a:lnTo>
                  <a:lnTo>
                    <a:pt x="237969" y="757428"/>
                  </a:lnTo>
                  <a:lnTo>
                    <a:pt x="282028" y="776746"/>
                  </a:lnTo>
                  <a:lnTo>
                    <a:pt x="328598" y="792203"/>
                  </a:lnTo>
                  <a:lnTo>
                    <a:pt x="377386" y="803551"/>
                  </a:lnTo>
                  <a:lnTo>
                    <a:pt x="428098" y="810541"/>
                  </a:lnTo>
                  <a:lnTo>
                    <a:pt x="480440" y="812926"/>
                  </a:lnTo>
                  <a:lnTo>
                    <a:pt x="532807" y="810541"/>
                  </a:lnTo>
                  <a:lnTo>
                    <a:pt x="583540" y="803551"/>
                  </a:lnTo>
                  <a:lnTo>
                    <a:pt x="632345" y="792203"/>
                  </a:lnTo>
                  <a:lnTo>
                    <a:pt x="678930" y="776746"/>
                  </a:lnTo>
                  <a:lnTo>
                    <a:pt x="723001" y="757427"/>
                  </a:lnTo>
                  <a:lnTo>
                    <a:pt x="764266" y="734495"/>
                  </a:lnTo>
                  <a:lnTo>
                    <a:pt x="802432" y="708198"/>
                  </a:lnTo>
                  <a:lnTo>
                    <a:pt x="837205" y="678782"/>
                  </a:lnTo>
                  <a:lnTo>
                    <a:pt x="868292" y="646497"/>
                  </a:lnTo>
                  <a:lnTo>
                    <a:pt x="895401" y="611589"/>
                  </a:lnTo>
                  <a:lnTo>
                    <a:pt x="918238" y="574308"/>
                  </a:lnTo>
                  <a:lnTo>
                    <a:pt x="936511" y="534900"/>
                  </a:lnTo>
                  <a:lnTo>
                    <a:pt x="949925" y="493614"/>
                  </a:lnTo>
                  <a:lnTo>
                    <a:pt x="958189" y="450698"/>
                  </a:lnTo>
                  <a:lnTo>
                    <a:pt x="961008" y="406400"/>
                  </a:lnTo>
                  <a:lnTo>
                    <a:pt x="958189" y="362125"/>
                  </a:lnTo>
                  <a:lnTo>
                    <a:pt x="949925" y="319229"/>
                  </a:lnTo>
                  <a:lnTo>
                    <a:pt x="936511" y="277961"/>
                  </a:lnTo>
                  <a:lnTo>
                    <a:pt x="918238" y="238568"/>
                  </a:lnTo>
                  <a:lnTo>
                    <a:pt x="895401" y="201299"/>
                  </a:lnTo>
                  <a:lnTo>
                    <a:pt x="868292" y="166402"/>
                  </a:lnTo>
                  <a:lnTo>
                    <a:pt x="837205" y="134125"/>
                  </a:lnTo>
                  <a:lnTo>
                    <a:pt x="802432" y="104716"/>
                  </a:lnTo>
                  <a:lnTo>
                    <a:pt x="764266" y="78423"/>
                  </a:lnTo>
                  <a:lnTo>
                    <a:pt x="723001" y="55494"/>
                  </a:lnTo>
                  <a:lnTo>
                    <a:pt x="678930" y="36178"/>
                  </a:lnTo>
                  <a:lnTo>
                    <a:pt x="632345" y="20722"/>
                  </a:lnTo>
                  <a:lnTo>
                    <a:pt x="583540" y="9375"/>
                  </a:lnTo>
                  <a:lnTo>
                    <a:pt x="532807" y="2385"/>
                  </a:lnTo>
                  <a:lnTo>
                    <a:pt x="48044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56584" y="4098163"/>
              <a:ext cx="961390" cy="813435"/>
            </a:xfrm>
            <a:custGeom>
              <a:avLst/>
              <a:gdLst/>
              <a:ahLst/>
              <a:cxnLst/>
              <a:rect l="l" t="t" r="r" b="b"/>
              <a:pathLst>
                <a:path w="961389" h="813435">
                  <a:moveTo>
                    <a:pt x="0" y="406400"/>
                  </a:moveTo>
                  <a:lnTo>
                    <a:pt x="2819" y="362125"/>
                  </a:lnTo>
                  <a:lnTo>
                    <a:pt x="11082" y="319229"/>
                  </a:lnTo>
                  <a:lnTo>
                    <a:pt x="24496" y="277961"/>
                  </a:lnTo>
                  <a:lnTo>
                    <a:pt x="42767" y="238568"/>
                  </a:lnTo>
                  <a:lnTo>
                    <a:pt x="65602" y="201299"/>
                  </a:lnTo>
                  <a:lnTo>
                    <a:pt x="92707" y="166402"/>
                  </a:lnTo>
                  <a:lnTo>
                    <a:pt x="123790" y="134125"/>
                  </a:lnTo>
                  <a:lnTo>
                    <a:pt x="158557" y="104716"/>
                  </a:lnTo>
                  <a:lnTo>
                    <a:pt x="196714" y="78423"/>
                  </a:lnTo>
                  <a:lnTo>
                    <a:pt x="237969" y="55494"/>
                  </a:lnTo>
                  <a:lnTo>
                    <a:pt x="282028" y="36178"/>
                  </a:lnTo>
                  <a:lnTo>
                    <a:pt x="328598" y="20722"/>
                  </a:lnTo>
                  <a:lnTo>
                    <a:pt x="377386" y="9375"/>
                  </a:lnTo>
                  <a:lnTo>
                    <a:pt x="428098" y="2385"/>
                  </a:lnTo>
                  <a:lnTo>
                    <a:pt x="480440" y="0"/>
                  </a:lnTo>
                  <a:lnTo>
                    <a:pt x="532807" y="2385"/>
                  </a:lnTo>
                  <a:lnTo>
                    <a:pt x="583540" y="9375"/>
                  </a:lnTo>
                  <a:lnTo>
                    <a:pt x="632345" y="20722"/>
                  </a:lnTo>
                  <a:lnTo>
                    <a:pt x="678930" y="36178"/>
                  </a:lnTo>
                  <a:lnTo>
                    <a:pt x="723001" y="55494"/>
                  </a:lnTo>
                  <a:lnTo>
                    <a:pt x="764266" y="78423"/>
                  </a:lnTo>
                  <a:lnTo>
                    <a:pt x="802432" y="104716"/>
                  </a:lnTo>
                  <a:lnTo>
                    <a:pt x="837205" y="134125"/>
                  </a:lnTo>
                  <a:lnTo>
                    <a:pt x="868292" y="166402"/>
                  </a:lnTo>
                  <a:lnTo>
                    <a:pt x="895401" y="201299"/>
                  </a:lnTo>
                  <a:lnTo>
                    <a:pt x="918238" y="238568"/>
                  </a:lnTo>
                  <a:lnTo>
                    <a:pt x="936511" y="277961"/>
                  </a:lnTo>
                  <a:lnTo>
                    <a:pt x="949925" y="319229"/>
                  </a:lnTo>
                  <a:lnTo>
                    <a:pt x="958189" y="362125"/>
                  </a:lnTo>
                  <a:lnTo>
                    <a:pt x="961008" y="406400"/>
                  </a:lnTo>
                  <a:lnTo>
                    <a:pt x="958189" y="450698"/>
                  </a:lnTo>
                  <a:lnTo>
                    <a:pt x="949925" y="493614"/>
                  </a:lnTo>
                  <a:lnTo>
                    <a:pt x="936511" y="534900"/>
                  </a:lnTo>
                  <a:lnTo>
                    <a:pt x="918238" y="574308"/>
                  </a:lnTo>
                  <a:lnTo>
                    <a:pt x="895401" y="611589"/>
                  </a:lnTo>
                  <a:lnTo>
                    <a:pt x="868292" y="646497"/>
                  </a:lnTo>
                  <a:lnTo>
                    <a:pt x="837205" y="678782"/>
                  </a:lnTo>
                  <a:lnTo>
                    <a:pt x="802432" y="708198"/>
                  </a:lnTo>
                  <a:lnTo>
                    <a:pt x="764266" y="734495"/>
                  </a:lnTo>
                  <a:lnTo>
                    <a:pt x="723001" y="757427"/>
                  </a:lnTo>
                  <a:lnTo>
                    <a:pt x="678930" y="776746"/>
                  </a:lnTo>
                  <a:lnTo>
                    <a:pt x="632345" y="792203"/>
                  </a:lnTo>
                  <a:lnTo>
                    <a:pt x="583540" y="803551"/>
                  </a:lnTo>
                  <a:lnTo>
                    <a:pt x="532807" y="810541"/>
                  </a:lnTo>
                  <a:lnTo>
                    <a:pt x="480440" y="812926"/>
                  </a:lnTo>
                  <a:lnTo>
                    <a:pt x="428098" y="810541"/>
                  </a:lnTo>
                  <a:lnTo>
                    <a:pt x="377386" y="803551"/>
                  </a:lnTo>
                  <a:lnTo>
                    <a:pt x="328598" y="792203"/>
                  </a:lnTo>
                  <a:lnTo>
                    <a:pt x="282028" y="776746"/>
                  </a:lnTo>
                  <a:lnTo>
                    <a:pt x="237969" y="757428"/>
                  </a:lnTo>
                  <a:lnTo>
                    <a:pt x="196714" y="734495"/>
                  </a:lnTo>
                  <a:lnTo>
                    <a:pt x="158557" y="708198"/>
                  </a:lnTo>
                  <a:lnTo>
                    <a:pt x="123790" y="678782"/>
                  </a:lnTo>
                  <a:lnTo>
                    <a:pt x="92707" y="646497"/>
                  </a:lnTo>
                  <a:lnTo>
                    <a:pt x="65602" y="611589"/>
                  </a:lnTo>
                  <a:lnTo>
                    <a:pt x="42767" y="574308"/>
                  </a:lnTo>
                  <a:lnTo>
                    <a:pt x="24496" y="534900"/>
                  </a:lnTo>
                  <a:lnTo>
                    <a:pt x="11082" y="493614"/>
                  </a:lnTo>
                  <a:lnTo>
                    <a:pt x="2819" y="450698"/>
                  </a:lnTo>
                  <a:lnTo>
                    <a:pt x="0" y="406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884803" y="4358766"/>
            <a:ext cx="4552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latin typeface="Calibri"/>
                <a:cs typeface="Calibri"/>
              </a:rPr>
              <a:t>Chim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651821" y="2738437"/>
            <a:ext cx="970915" cy="822960"/>
            <a:chOff x="3651821" y="2738437"/>
            <a:chExt cx="970915" cy="822960"/>
          </a:xfrm>
        </p:grpSpPr>
        <p:sp>
          <p:nvSpPr>
            <p:cNvPr id="15" name="object 15"/>
            <p:cNvSpPr/>
            <p:nvPr/>
          </p:nvSpPr>
          <p:spPr>
            <a:xfrm>
              <a:off x="3656584" y="2743200"/>
              <a:ext cx="961390" cy="813435"/>
            </a:xfrm>
            <a:custGeom>
              <a:avLst/>
              <a:gdLst/>
              <a:ahLst/>
              <a:cxnLst/>
              <a:rect l="l" t="t" r="r" b="b"/>
              <a:pathLst>
                <a:path w="961389" h="813435">
                  <a:moveTo>
                    <a:pt x="480440" y="0"/>
                  </a:moveTo>
                  <a:lnTo>
                    <a:pt x="428098" y="2385"/>
                  </a:lnTo>
                  <a:lnTo>
                    <a:pt x="377386" y="9375"/>
                  </a:lnTo>
                  <a:lnTo>
                    <a:pt x="328598" y="20723"/>
                  </a:lnTo>
                  <a:lnTo>
                    <a:pt x="282028" y="36180"/>
                  </a:lnTo>
                  <a:lnTo>
                    <a:pt x="237969" y="55498"/>
                  </a:lnTo>
                  <a:lnTo>
                    <a:pt x="196714" y="78431"/>
                  </a:lnTo>
                  <a:lnTo>
                    <a:pt x="158557" y="104728"/>
                  </a:lnTo>
                  <a:lnTo>
                    <a:pt x="123790" y="134144"/>
                  </a:lnTo>
                  <a:lnTo>
                    <a:pt x="92707" y="166429"/>
                  </a:lnTo>
                  <a:lnTo>
                    <a:pt x="65602" y="201337"/>
                  </a:lnTo>
                  <a:lnTo>
                    <a:pt x="42767" y="238618"/>
                  </a:lnTo>
                  <a:lnTo>
                    <a:pt x="24496" y="278026"/>
                  </a:lnTo>
                  <a:lnTo>
                    <a:pt x="11082" y="319312"/>
                  </a:lnTo>
                  <a:lnTo>
                    <a:pt x="2819" y="362228"/>
                  </a:lnTo>
                  <a:lnTo>
                    <a:pt x="0" y="406526"/>
                  </a:lnTo>
                  <a:lnTo>
                    <a:pt x="2819" y="450801"/>
                  </a:lnTo>
                  <a:lnTo>
                    <a:pt x="11082" y="493697"/>
                  </a:lnTo>
                  <a:lnTo>
                    <a:pt x="24496" y="534965"/>
                  </a:lnTo>
                  <a:lnTo>
                    <a:pt x="42767" y="574358"/>
                  </a:lnTo>
                  <a:lnTo>
                    <a:pt x="65602" y="611627"/>
                  </a:lnTo>
                  <a:lnTo>
                    <a:pt x="92707" y="646524"/>
                  </a:lnTo>
                  <a:lnTo>
                    <a:pt x="123790" y="678801"/>
                  </a:lnTo>
                  <a:lnTo>
                    <a:pt x="158557" y="708210"/>
                  </a:lnTo>
                  <a:lnTo>
                    <a:pt x="196714" y="734503"/>
                  </a:lnTo>
                  <a:lnTo>
                    <a:pt x="237969" y="757432"/>
                  </a:lnTo>
                  <a:lnTo>
                    <a:pt x="282028" y="776748"/>
                  </a:lnTo>
                  <a:lnTo>
                    <a:pt x="328598" y="792204"/>
                  </a:lnTo>
                  <a:lnTo>
                    <a:pt x="377386" y="803551"/>
                  </a:lnTo>
                  <a:lnTo>
                    <a:pt x="428098" y="810541"/>
                  </a:lnTo>
                  <a:lnTo>
                    <a:pt x="480440" y="812926"/>
                  </a:lnTo>
                  <a:lnTo>
                    <a:pt x="532807" y="810541"/>
                  </a:lnTo>
                  <a:lnTo>
                    <a:pt x="583540" y="803551"/>
                  </a:lnTo>
                  <a:lnTo>
                    <a:pt x="632345" y="792204"/>
                  </a:lnTo>
                  <a:lnTo>
                    <a:pt x="678930" y="776748"/>
                  </a:lnTo>
                  <a:lnTo>
                    <a:pt x="723001" y="757432"/>
                  </a:lnTo>
                  <a:lnTo>
                    <a:pt x="764266" y="734503"/>
                  </a:lnTo>
                  <a:lnTo>
                    <a:pt x="802432" y="708210"/>
                  </a:lnTo>
                  <a:lnTo>
                    <a:pt x="837205" y="678801"/>
                  </a:lnTo>
                  <a:lnTo>
                    <a:pt x="868292" y="646524"/>
                  </a:lnTo>
                  <a:lnTo>
                    <a:pt x="895401" y="611627"/>
                  </a:lnTo>
                  <a:lnTo>
                    <a:pt x="918238" y="574358"/>
                  </a:lnTo>
                  <a:lnTo>
                    <a:pt x="936511" y="534965"/>
                  </a:lnTo>
                  <a:lnTo>
                    <a:pt x="949925" y="493697"/>
                  </a:lnTo>
                  <a:lnTo>
                    <a:pt x="958189" y="450801"/>
                  </a:lnTo>
                  <a:lnTo>
                    <a:pt x="961008" y="406526"/>
                  </a:lnTo>
                  <a:lnTo>
                    <a:pt x="958189" y="362228"/>
                  </a:lnTo>
                  <a:lnTo>
                    <a:pt x="949925" y="319312"/>
                  </a:lnTo>
                  <a:lnTo>
                    <a:pt x="936511" y="278026"/>
                  </a:lnTo>
                  <a:lnTo>
                    <a:pt x="918238" y="238618"/>
                  </a:lnTo>
                  <a:lnTo>
                    <a:pt x="895401" y="201337"/>
                  </a:lnTo>
                  <a:lnTo>
                    <a:pt x="868292" y="166429"/>
                  </a:lnTo>
                  <a:lnTo>
                    <a:pt x="837205" y="134144"/>
                  </a:lnTo>
                  <a:lnTo>
                    <a:pt x="802432" y="104728"/>
                  </a:lnTo>
                  <a:lnTo>
                    <a:pt x="764266" y="78431"/>
                  </a:lnTo>
                  <a:lnTo>
                    <a:pt x="723001" y="55499"/>
                  </a:lnTo>
                  <a:lnTo>
                    <a:pt x="678930" y="36180"/>
                  </a:lnTo>
                  <a:lnTo>
                    <a:pt x="632345" y="20723"/>
                  </a:lnTo>
                  <a:lnTo>
                    <a:pt x="583540" y="9375"/>
                  </a:lnTo>
                  <a:lnTo>
                    <a:pt x="532807" y="2385"/>
                  </a:lnTo>
                  <a:lnTo>
                    <a:pt x="48044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56584" y="2743200"/>
              <a:ext cx="961390" cy="813435"/>
            </a:xfrm>
            <a:custGeom>
              <a:avLst/>
              <a:gdLst/>
              <a:ahLst/>
              <a:cxnLst/>
              <a:rect l="l" t="t" r="r" b="b"/>
              <a:pathLst>
                <a:path w="961389" h="813435">
                  <a:moveTo>
                    <a:pt x="0" y="406526"/>
                  </a:moveTo>
                  <a:lnTo>
                    <a:pt x="2819" y="362228"/>
                  </a:lnTo>
                  <a:lnTo>
                    <a:pt x="11082" y="319312"/>
                  </a:lnTo>
                  <a:lnTo>
                    <a:pt x="24496" y="278026"/>
                  </a:lnTo>
                  <a:lnTo>
                    <a:pt x="42767" y="238618"/>
                  </a:lnTo>
                  <a:lnTo>
                    <a:pt x="65602" y="201337"/>
                  </a:lnTo>
                  <a:lnTo>
                    <a:pt x="92707" y="166429"/>
                  </a:lnTo>
                  <a:lnTo>
                    <a:pt x="123790" y="134144"/>
                  </a:lnTo>
                  <a:lnTo>
                    <a:pt x="158557" y="104728"/>
                  </a:lnTo>
                  <a:lnTo>
                    <a:pt x="196714" y="78431"/>
                  </a:lnTo>
                  <a:lnTo>
                    <a:pt x="237969" y="55498"/>
                  </a:lnTo>
                  <a:lnTo>
                    <a:pt x="282028" y="36180"/>
                  </a:lnTo>
                  <a:lnTo>
                    <a:pt x="328598" y="20723"/>
                  </a:lnTo>
                  <a:lnTo>
                    <a:pt x="377386" y="9375"/>
                  </a:lnTo>
                  <a:lnTo>
                    <a:pt x="428098" y="2385"/>
                  </a:lnTo>
                  <a:lnTo>
                    <a:pt x="480440" y="0"/>
                  </a:lnTo>
                  <a:lnTo>
                    <a:pt x="532807" y="2385"/>
                  </a:lnTo>
                  <a:lnTo>
                    <a:pt x="583540" y="9375"/>
                  </a:lnTo>
                  <a:lnTo>
                    <a:pt x="632345" y="20723"/>
                  </a:lnTo>
                  <a:lnTo>
                    <a:pt x="678930" y="36180"/>
                  </a:lnTo>
                  <a:lnTo>
                    <a:pt x="723001" y="55499"/>
                  </a:lnTo>
                  <a:lnTo>
                    <a:pt x="764266" y="78431"/>
                  </a:lnTo>
                  <a:lnTo>
                    <a:pt x="802432" y="104728"/>
                  </a:lnTo>
                  <a:lnTo>
                    <a:pt x="837205" y="134144"/>
                  </a:lnTo>
                  <a:lnTo>
                    <a:pt x="868292" y="166429"/>
                  </a:lnTo>
                  <a:lnTo>
                    <a:pt x="895401" y="201337"/>
                  </a:lnTo>
                  <a:lnTo>
                    <a:pt x="918238" y="238618"/>
                  </a:lnTo>
                  <a:lnTo>
                    <a:pt x="936511" y="278026"/>
                  </a:lnTo>
                  <a:lnTo>
                    <a:pt x="949925" y="319312"/>
                  </a:lnTo>
                  <a:lnTo>
                    <a:pt x="958189" y="362228"/>
                  </a:lnTo>
                  <a:lnTo>
                    <a:pt x="961008" y="406526"/>
                  </a:lnTo>
                  <a:lnTo>
                    <a:pt x="958189" y="450801"/>
                  </a:lnTo>
                  <a:lnTo>
                    <a:pt x="949925" y="493697"/>
                  </a:lnTo>
                  <a:lnTo>
                    <a:pt x="936511" y="534965"/>
                  </a:lnTo>
                  <a:lnTo>
                    <a:pt x="918238" y="574358"/>
                  </a:lnTo>
                  <a:lnTo>
                    <a:pt x="895401" y="611627"/>
                  </a:lnTo>
                  <a:lnTo>
                    <a:pt x="868292" y="646524"/>
                  </a:lnTo>
                  <a:lnTo>
                    <a:pt x="837205" y="678801"/>
                  </a:lnTo>
                  <a:lnTo>
                    <a:pt x="802432" y="708210"/>
                  </a:lnTo>
                  <a:lnTo>
                    <a:pt x="764266" y="734503"/>
                  </a:lnTo>
                  <a:lnTo>
                    <a:pt x="723001" y="757432"/>
                  </a:lnTo>
                  <a:lnTo>
                    <a:pt x="678930" y="776748"/>
                  </a:lnTo>
                  <a:lnTo>
                    <a:pt x="632345" y="792204"/>
                  </a:lnTo>
                  <a:lnTo>
                    <a:pt x="583540" y="803551"/>
                  </a:lnTo>
                  <a:lnTo>
                    <a:pt x="532807" y="810541"/>
                  </a:lnTo>
                  <a:lnTo>
                    <a:pt x="480440" y="812926"/>
                  </a:lnTo>
                  <a:lnTo>
                    <a:pt x="428098" y="810541"/>
                  </a:lnTo>
                  <a:lnTo>
                    <a:pt x="377386" y="803551"/>
                  </a:lnTo>
                  <a:lnTo>
                    <a:pt x="328598" y="792204"/>
                  </a:lnTo>
                  <a:lnTo>
                    <a:pt x="282028" y="776748"/>
                  </a:lnTo>
                  <a:lnTo>
                    <a:pt x="237969" y="757432"/>
                  </a:lnTo>
                  <a:lnTo>
                    <a:pt x="196714" y="734503"/>
                  </a:lnTo>
                  <a:lnTo>
                    <a:pt x="158557" y="708210"/>
                  </a:lnTo>
                  <a:lnTo>
                    <a:pt x="123790" y="678801"/>
                  </a:lnTo>
                  <a:lnTo>
                    <a:pt x="92707" y="646524"/>
                  </a:lnTo>
                  <a:lnTo>
                    <a:pt x="65602" y="611627"/>
                  </a:lnTo>
                  <a:lnTo>
                    <a:pt x="42767" y="574358"/>
                  </a:lnTo>
                  <a:lnTo>
                    <a:pt x="24496" y="534965"/>
                  </a:lnTo>
                  <a:lnTo>
                    <a:pt x="11082" y="493697"/>
                  </a:lnTo>
                  <a:lnTo>
                    <a:pt x="2819" y="450801"/>
                  </a:lnTo>
                  <a:lnTo>
                    <a:pt x="0" y="40652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81754" y="3011169"/>
            <a:ext cx="509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Arial"/>
                <a:cs typeface="Arial"/>
              </a:rPr>
              <a:t>Cánh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651821" y="5538660"/>
            <a:ext cx="970915" cy="822960"/>
            <a:chOff x="3651821" y="5538660"/>
            <a:chExt cx="970915" cy="822960"/>
          </a:xfrm>
        </p:grpSpPr>
        <p:sp>
          <p:nvSpPr>
            <p:cNvPr id="19" name="object 19"/>
            <p:cNvSpPr/>
            <p:nvPr/>
          </p:nvSpPr>
          <p:spPr>
            <a:xfrm>
              <a:off x="3656584" y="5543422"/>
              <a:ext cx="961390" cy="813435"/>
            </a:xfrm>
            <a:custGeom>
              <a:avLst/>
              <a:gdLst/>
              <a:ahLst/>
              <a:cxnLst/>
              <a:rect l="l" t="t" r="r" b="b"/>
              <a:pathLst>
                <a:path w="961389" h="813435">
                  <a:moveTo>
                    <a:pt x="480440" y="0"/>
                  </a:moveTo>
                  <a:lnTo>
                    <a:pt x="428098" y="2384"/>
                  </a:lnTo>
                  <a:lnTo>
                    <a:pt x="377386" y="9373"/>
                  </a:lnTo>
                  <a:lnTo>
                    <a:pt x="328598" y="20719"/>
                  </a:lnTo>
                  <a:lnTo>
                    <a:pt x="282028" y="36173"/>
                  </a:lnTo>
                  <a:lnTo>
                    <a:pt x="237969" y="55487"/>
                  </a:lnTo>
                  <a:lnTo>
                    <a:pt x="196714" y="78415"/>
                  </a:lnTo>
                  <a:lnTo>
                    <a:pt x="158557" y="104707"/>
                  </a:lnTo>
                  <a:lnTo>
                    <a:pt x="123790" y="134117"/>
                  </a:lnTo>
                  <a:lnTo>
                    <a:pt x="92707" y="166397"/>
                  </a:lnTo>
                  <a:lnTo>
                    <a:pt x="65602" y="201297"/>
                  </a:lnTo>
                  <a:lnTo>
                    <a:pt x="42767" y="238572"/>
                  </a:lnTo>
                  <a:lnTo>
                    <a:pt x="24496" y="277972"/>
                  </a:lnTo>
                  <a:lnTo>
                    <a:pt x="11082" y="319251"/>
                  </a:lnTo>
                  <a:lnTo>
                    <a:pt x="2819" y="362159"/>
                  </a:lnTo>
                  <a:lnTo>
                    <a:pt x="0" y="406450"/>
                  </a:lnTo>
                  <a:lnTo>
                    <a:pt x="2819" y="450739"/>
                  </a:lnTo>
                  <a:lnTo>
                    <a:pt x="11082" y="493647"/>
                  </a:lnTo>
                  <a:lnTo>
                    <a:pt x="24496" y="534926"/>
                  </a:lnTo>
                  <a:lnTo>
                    <a:pt x="42767" y="574328"/>
                  </a:lnTo>
                  <a:lnTo>
                    <a:pt x="65602" y="611604"/>
                  </a:lnTo>
                  <a:lnTo>
                    <a:pt x="92707" y="646508"/>
                  </a:lnTo>
                  <a:lnTo>
                    <a:pt x="123790" y="678790"/>
                  </a:lnTo>
                  <a:lnTo>
                    <a:pt x="158557" y="708203"/>
                  </a:lnTo>
                  <a:lnTo>
                    <a:pt x="196714" y="734499"/>
                  </a:lnTo>
                  <a:lnTo>
                    <a:pt x="237969" y="757429"/>
                  </a:lnTo>
                  <a:lnTo>
                    <a:pt x="282028" y="776747"/>
                  </a:lnTo>
                  <a:lnTo>
                    <a:pt x="328598" y="792204"/>
                  </a:lnTo>
                  <a:lnTo>
                    <a:pt x="377386" y="803551"/>
                  </a:lnTo>
                  <a:lnTo>
                    <a:pt x="428098" y="810541"/>
                  </a:lnTo>
                  <a:lnTo>
                    <a:pt x="480440" y="812926"/>
                  </a:lnTo>
                  <a:lnTo>
                    <a:pt x="532807" y="810541"/>
                  </a:lnTo>
                  <a:lnTo>
                    <a:pt x="583540" y="803551"/>
                  </a:lnTo>
                  <a:lnTo>
                    <a:pt x="632345" y="792204"/>
                  </a:lnTo>
                  <a:lnTo>
                    <a:pt x="678930" y="776747"/>
                  </a:lnTo>
                  <a:lnTo>
                    <a:pt x="723001" y="757429"/>
                  </a:lnTo>
                  <a:lnTo>
                    <a:pt x="764266" y="734499"/>
                  </a:lnTo>
                  <a:lnTo>
                    <a:pt x="802432" y="708203"/>
                  </a:lnTo>
                  <a:lnTo>
                    <a:pt x="837205" y="678790"/>
                  </a:lnTo>
                  <a:lnTo>
                    <a:pt x="868292" y="646508"/>
                  </a:lnTo>
                  <a:lnTo>
                    <a:pt x="895401" y="611604"/>
                  </a:lnTo>
                  <a:lnTo>
                    <a:pt x="918238" y="574328"/>
                  </a:lnTo>
                  <a:lnTo>
                    <a:pt x="936511" y="534926"/>
                  </a:lnTo>
                  <a:lnTo>
                    <a:pt x="949925" y="493647"/>
                  </a:lnTo>
                  <a:lnTo>
                    <a:pt x="958189" y="450739"/>
                  </a:lnTo>
                  <a:lnTo>
                    <a:pt x="961008" y="406450"/>
                  </a:lnTo>
                  <a:lnTo>
                    <a:pt x="958189" y="362159"/>
                  </a:lnTo>
                  <a:lnTo>
                    <a:pt x="949925" y="319251"/>
                  </a:lnTo>
                  <a:lnTo>
                    <a:pt x="936511" y="277972"/>
                  </a:lnTo>
                  <a:lnTo>
                    <a:pt x="918238" y="238572"/>
                  </a:lnTo>
                  <a:lnTo>
                    <a:pt x="895401" y="201297"/>
                  </a:lnTo>
                  <a:lnTo>
                    <a:pt x="868292" y="166397"/>
                  </a:lnTo>
                  <a:lnTo>
                    <a:pt x="837205" y="134117"/>
                  </a:lnTo>
                  <a:lnTo>
                    <a:pt x="802432" y="104707"/>
                  </a:lnTo>
                  <a:lnTo>
                    <a:pt x="764266" y="78415"/>
                  </a:lnTo>
                  <a:lnTo>
                    <a:pt x="723001" y="55487"/>
                  </a:lnTo>
                  <a:lnTo>
                    <a:pt x="678930" y="36173"/>
                  </a:lnTo>
                  <a:lnTo>
                    <a:pt x="632345" y="20719"/>
                  </a:lnTo>
                  <a:lnTo>
                    <a:pt x="583540" y="9373"/>
                  </a:lnTo>
                  <a:lnTo>
                    <a:pt x="532807" y="2384"/>
                  </a:lnTo>
                  <a:lnTo>
                    <a:pt x="48044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56584" y="5543422"/>
              <a:ext cx="961390" cy="813435"/>
            </a:xfrm>
            <a:custGeom>
              <a:avLst/>
              <a:gdLst/>
              <a:ahLst/>
              <a:cxnLst/>
              <a:rect l="l" t="t" r="r" b="b"/>
              <a:pathLst>
                <a:path w="961389" h="813435">
                  <a:moveTo>
                    <a:pt x="0" y="406450"/>
                  </a:moveTo>
                  <a:lnTo>
                    <a:pt x="2819" y="362159"/>
                  </a:lnTo>
                  <a:lnTo>
                    <a:pt x="11082" y="319251"/>
                  </a:lnTo>
                  <a:lnTo>
                    <a:pt x="24496" y="277972"/>
                  </a:lnTo>
                  <a:lnTo>
                    <a:pt x="42767" y="238572"/>
                  </a:lnTo>
                  <a:lnTo>
                    <a:pt x="65602" y="201297"/>
                  </a:lnTo>
                  <a:lnTo>
                    <a:pt x="92707" y="166397"/>
                  </a:lnTo>
                  <a:lnTo>
                    <a:pt x="123790" y="134117"/>
                  </a:lnTo>
                  <a:lnTo>
                    <a:pt x="158557" y="104707"/>
                  </a:lnTo>
                  <a:lnTo>
                    <a:pt x="196714" y="78415"/>
                  </a:lnTo>
                  <a:lnTo>
                    <a:pt x="237969" y="55487"/>
                  </a:lnTo>
                  <a:lnTo>
                    <a:pt x="282028" y="36173"/>
                  </a:lnTo>
                  <a:lnTo>
                    <a:pt x="328598" y="20719"/>
                  </a:lnTo>
                  <a:lnTo>
                    <a:pt x="377386" y="9373"/>
                  </a:lnTo>
                  <a:lnTo>
                    <a:pt x="428098" y="2384"/>
                  </a:lnTo>
                  <a:lnTo>
                    <a:pt x="480440" y="0"/>
                  </a:lnTo>
                  <a:lnTo>
                    <a:pt x="532807" y="2384"/>
                  </a:lnTo>
                  <a:lnTo>
                    <a:pt x="583540" y="9373"/>
                  </a:lnTo>
                  <a:lnTo>
                    <a:pt x="632345" y="20719"/>
                  </a:lnTo>
                  <a:lnTo>
                    <a:pt x="678930" y="36173"/>
                  </a:lnTo>
                  <a:lnTo>
                    <a:pt x="723001" y="55487"/>
                  </a:lnTo>
                  <a:lnTo>
                    <a:pt x="764266" y="78415"/>
                  </a:lnTo>
                  <a:lnTo>
                    <a:pt x="802432" y="104707"/>
                  </a:lnTo>
                  <a:lnTo>
                    <a:pt x="837205" y="134117"/>
                  </a:lnTo>
                  <a:lnTo>
                    <a:pt x="868292" y="166397"/>
                  </a:lnTo>
                  <a:lnTo>
                    <a:pt x="895401" y="201297"/>
                  </a:lnTo>
                  <a:lnTo>
                    <a:pt x="918238" y="238572"/>
                  </a:lnTo>
                  <a:lnTo>
                    <a:pt x="936511" y="277972"/>
                  </a:lnTo>
                  <a:lnTo>
                    <a:pt x="949925" y="319251"/>
                  </a:lnTo>
                  <a:lnTo>
                    <a:pt x="958189" y="362159"/>
                  </a:lnTo>
                  <a:lnTo>
                    <a:pt x="961008" y="406450"/>
                  </a:lnTo>
                  <a:lnTo>
                    <a:pt x="958189" y="450739"/>
                  </a:lnTo>
                  <a:lnTo>
                    <a:pt x="949925" y="493647"/>
                  </a:lnTo>
                  <a:lnTo>
                    <a:pt x="936511" y="534926"/>
                  </a:lnTo>
                  <a:lnTo>
                    <a:pt x="918238" y="574328"/>
                  </a:lnTo>
                  <a:lnTo>
                    <a:pt x="895401" y="611604"/>
                  </a:lnTo>
                  <a:lnTo>
                    <a:pt x="868292" y="646508"/>
                  </a:lnTo>
                  <a:lnTo>
                    <a:pt x="837205" y="678790"/>
                  </a:lnTo>
                  <a:lnTo>
                    <a:pt x="802432" y="708203"/>
                  </a:lnTo>
                  <a:lnTo>
                    <a:pt x="764266" y="734499"/>
                  </a:lnTo>
                  <a:lnTo>
                    <a:pt x="723001" y="757429"/>
                  </a:lnTo>
                  <a:lnTo>
                    <a:pt x="678930" y="776747"/>
                  </a:lnTo>
                  <a:lnTo>
                    <a:pt x="632345" y="792204"/>
                  </a:lnTo>
                  <a:lnTo>
                    <a:pt x="583540" y="803551"/>
                  </a:lnTo>
                  <a:lnTo>
                    <a:pt x="532807" y="810541"/>
                  </a:lnTo>
                  <a:lnTo>
                    <a:pt x="480440" y="812926"/>
                  </a:lnTo>
                  <a:lnTo>
                    <a:pt x="428098" y="810541"/>
                  </a:lnTo>
                  <a:lnTo>
                    <a:pt x="377386" y="803551"/>
                  </a:lnTo>
                  <a:lnTo>
                    <a:pt x="328598" y="792204"/>
                  </a:lnTo>
                  <a:lnTo>
                    <a:pt x="282028" y="776747"/>
                  </a:lnTo>
                  <a:lnTo>
                    <a:pt x="237969" y="757429"/>
                  </a:lnTo>
                  <a:lnTo>
                    <a:pt x="196714" y="734499"/>
                  </a:lnTo>
                  <a:lnTo>
                    <a:pt x="158557" y="708203"/>
                  </a:lnTo>
                  <a:lnTo>
                    <a:pt x="123790" y="678790"/>
                  </a:lnTo>
                  <a:lnTo>
                    <a:pt x="92707" y="646508"/>
                  </a:lnTo>
                  <a:lnTo>
                    <a:pt x="65602" y="611604"/>
                  </a:lnTo>
                  <a:lnTo>
                    <a:pt x="42767" y="574328"/>
                  </a:lnTo>
                  <a:lnTo>
                    <a:pt x="24496" y="534926"/>
                  </a:lnTo>
                  <a:lnTo>
                    <a:pt x="11082" y="493647"/>
                  </a:lnTo>
                  <a:lnTo>
                    <a:pt x="2819" y="450739"/>
                  </a:lnTo>
                  <a:lnTo>
                    <a:pt x="0" y="40645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976242" y="5803798"/>
            <a:ext cx="3219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libri"/>
                <a:cs typeface="Calibri"/>
              </a:rPr>
              <a:t>Bay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627632" y="4511675"/>
            <a:ext cx="2029460" cy="76200"/>
          </a:xfrm>
          <a:custGeom>
            <a:avLst/>
            <a:gdLst/>
            <a:ahLst/>
            <a:cxnLst/>
            <a:rect l="l" t="t" r="r" b="b"/>
            <a:pathLst>
              <a:path w="2029460" h="76200">
                <a:moveTo>
                  <a:pt x="1952752" y="0"/>
                </a:moveTo>
                <a:lnTo>
                  <a:pt x="1952752" y="76200"/>
                </a:lnTo>
                <a:lnTo>
                  <a:pt x="2019554" y="42799"/>
                </a:lnTo>
                <a:lnTo>
                  <a:pt x="1965452" y="42799"/>
                </a:lnTo>
                <a:lnTo>
                  <a:pt x="1965452" y="33274"/>
                </a:lnTo>
                <a:lnTo>
                  <a:pt x="2019300" y="33274"/>
                </a:lnTo>
                <a:lnTo>
                  <a:pt x="1952752" y="0"/>
                </a:lnTo>
                <a:close/>
              </a:path>
              <a:path w="2029460" h="76200">
                <a:moveTo>
                  <a:pt x="1952752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1952752" y="42799"/>
                </a:lnTo>
                <a:lnTo>
                  <a:pt x="1952752" y="33274"/>
                </a:lnTo>
                <a:close/>
              </a:path>
              <a:path w="2029460" h="76200">
                <a:moveTo>
                  <a:pt x="2019300" y="33274"/>
                </a:moveTo>
                <a:lnTo>
                  <a:pt x="1965452" y="33274"/>
                </a:lnTo>
                <a:lnTo>
                  <a:pt x="1965452" y="42799"/>
                </a:lnTo>
                <a:lnTo>
                  <a:pt x="2019554" y="42799"/>
                </a:lnTo>
                <a:lnTo>
                  <a:pt x="2028952" y="38100"/>
                </a:lnTo>
                <a:lnTo>
                  <a:pt x="2019300" y="33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160523" y="4250182"/>
            <a:ext cx="3829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IS-</a:t>
            </a:r>
            <a:r>
              <a:rPr sz="1400" b="1" spc="-50" dirty="0">
                <a:latin typeface="Times New Roman"/>
                <a:cs typeface="Times New Roman"/>
              </a:rPr>
              <a:t>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00576" y="3683253"/>
            <a:ext cx="241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Arial"/>
                <a:cs typeface="Arial"/>
              </a:rPr>
              <a:t>có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42765" y="5028946"/>
            <a:ext cx="9245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"/>
                <a:cs typeface="Arial"/>
              </a:rPr>
              <a:t>Di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chuyển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72658" y="2402204"/>
            <a:ext cx="5838825" cy="4049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Xem</a:t>
            </a:r>
            <a:r>
              <a:rPr sz="2200" b="1" i="1" u="sng" spc="-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mạng</a:t>
            </a:r>
            <a:r>
              <a:rPr sz="2200" b="1" i="1" u="sng" spc="-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i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bên</a:t>
            </a:r>
            <a:r>
              <a:rPr sz="2200" b="1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buFont typeface="Calibri"/>
              <a:buChar char="-"/>
              <a:tabLst>
                <a:tab pos="161925" algn="l"/>
              </a:tabLst>
            </a:pPr>
            <a:r>
              <a:rPr sz="2200" dirty="0">
                <a:latin typeface="Times New Roman"/>
                <a:cs typeface="Times New Roman"/>
              </a:rPr>
              <a:t>Có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hai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đỉnh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biểu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diễn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đối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tượng</a:t>
            </a:r>
            <a:r>
              <a:rPr sz="2200" spc="-10" dirty="0">
                <a:latin typeface="Calibri"/>
                <a:cs typeface="Calibri"/>
              </a:rPr>
              <a:t>,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và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hai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đỉnh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còn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lại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biểu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diễn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thuộc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tính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12700" marR="127000" indent="149225">
              <a:lnSpc>
                <a:spcPct val="100000"/>
              </a:lnSpc>
              <a:spcBef>
                <a:spcPts val="5"/>
              </a:spcBef>
              <a:buFont typeface="Calibri"/>
              <a:buChar char="-"/>
              <a:tabLst>
                <a:tab pos="161925" algn="l"/>
              </a:tabLst>
            </a:pPr>
            <a:r>
              <a:rPr sz="2200" dirty="0">
                <a:latin typeface="Times New Roman"/>
                <a:cs typeface="Times New Roman"/>
              </a:rPr>
              <a:t>đỉnh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có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nhãn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434" dirty="0">
                <a:latin typeface="Calibri"/>
                <a:cs typeface="Calibri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“Chim”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nối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với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hai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đỉnh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thuộc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tính </a:t>
            </a:r>
            <a:r>
              <a:rPr sz="2200" dirty="0">
                <a:latin typeface="Times New Roman"/>
                <a:cs typeface="Times New Roman"/>
              </a:rPr>
              <a:t>có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nhãn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“Cánh”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“Bay”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nên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có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thể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biểu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diễn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“Một </a:t>
            </a:r>
            <a:r>
              <a:rPr sz="2200" dirty="0">
                <a:latin typeface="Times New Roman"/>
                <a:cs typeface="Times New Roman"/>
              </a:rPr>
              <a:t>con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chim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thì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có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cánh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và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có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hình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thức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chuyển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là </a:t>
            </a:r>
            <a:r>
              <a:rPr sz="2200" spc="-10" dirty="0">
                <a:latin typeface="Times New Roman"/>
                <a:cs typeface="Times New Roman"/>
              </a:rPr>
              <a:t>bay”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2200" spc="-10" dirty="0">
                <a:latin typeface="Times New Roman"/>
                <a:cs typeface="Times New Roman"/>
              </a:rPr>
              <a:t>-</a:t>
            </a:r>
            <a:r>
              <a:rPr sz="2200" dirty="0">
                <a:latin typeface="Times New Roman"/>
                <a:cs typeface="Times New Roman"/>
              </a:rPr>
              <a:t>Đỉnh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có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nhãn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“Chim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yến”</a:t>
            </a:r>
            <a:r>
              <a:rPr sz="2200" b="1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nối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với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đỉnh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“Chim” </a:t>
            </a:r>
            <a:r>
              <a:rPr sz="2200" dirty="0">
                <a:latin typeface="Times New Roman"/>
                <a:cs typeface="Times New Roman"/>
              </a:rPr>
              <a:t>thông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qua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cung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đặc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biệt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“IS</a:t>
            </a:r>
            <a:r>
              <a:rPr sz="2200" b="1" spc="-20" dirty="0">
                <a:latin typeface="Calibri"/>
                <a:cs typeface="Calibri"/>
              </a:rPr>
              <a:t>-</a:t>
            </a:r>
            <a:r>
              <a:rPr sz="2200" b="1" dirty="0">
                <a:latin typeface="Times New Roman"/>
                <a:cs typeface="Times New Roman"/>
              </a:rPr>
              <a:t>A”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nói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lên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“Chim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yến </a:t>
            </a:r>
            <a:r>
              <a:rPr sz="2200" dirty="0">
                <a:latin typeface="Times New Roman"/>
                <a:cs typeface="Times New Roman"/>
              </a:rPr>
              <a:t>là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một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loài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chim”</a:t>
            </a:r>
            <a:r>
              <a:rPr sz="2200" dirty="0">
                <a:latin typeface="Calibri"/>
                <a:cs typeface="Calibri"/>
              </a:rPr>
              <a:t>.</a:t>
            </a:r>
            <a:r>
              <a:rPr sz="2200" dirty="0">
                <a:latin typeface="Times New Roman"/>
                <a:cs typeface="Times New Roman"/>
              </a:rPr>
              <a:t>Vì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vậy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chim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yến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có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thể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sỡ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hữu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các </a:t>
            </a:r>
            <a:r>
              <a:rPr sz="2200" dirty="0">
                <a:latin typeface="Times New Roman"/>
                <a:cs typeface="Times New Roman"/>
              </a:rPr>
              <a:t>thuộc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tính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có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cánh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bay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như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một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chim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thông thường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4708" y="13208"/>
            <a:ext cx="40779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455F51"/>
                </a:solidFill>
              </a:rPr>
              <a:t>Mạng</a:t>
            </a:r>
            <a:r>
              <a:rPr sz="4800" spc="10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ngữ</a:t>
            </a:r>
            <a:r>
              <a:rPr sz="4800" spc="120" dirty="0">
                <a:solidFill>
                  <a:srgbClr val="455F51"/>
                </a:solidFill>
              </a:rPr>
              <a:t> </a:t>
            </a:r>
            <a:r>
              <a:rPr sz="4800" spc="-10" dirty="0">
                <a:solidFill>
                  <a:srgbClr val="455F51"/>
                </a:solidFill>
              </a:rPr>
              <a:t>nghĩa</a:t>
            </a:r>
            <a:endParaRPr sz="480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16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3695" y="1022349"/>
            <a:ext cx="5902960" cy="5591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990099"/>
                </a:solidFill>
                <a:latin typeface="Palatino Linotype"/>
                <a:cs typeface="Palatino Linotype"/>
              </a:rPr>
              <a:t>Mở</a:t>
            </a:r>
            <a:r>
              <a:rPr sz="2200" spc="-45" dirty="0">
                <a:solidFill>
                  <a:srgbClr val="990099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990099"/>
                </a:solidFill>
                <a:latin typeface="Palatino Linotype"/>
                <a:cs typeface="Palatino Linotype"/>
              </a:rPr>
              <a:t>rộng</a:t>
            </a:r>
            <a:r>
              <a:rPr sz="2200" spc="-30" dirty="0">
                <a:solidFill>
                  <a:srgbClr val="990099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990099"/>
                </a:solidFill>
                <a:latin typeface="Palatino Linotype"/>
                <a:cs typeface="Palatino Linotype"/>
              </a:rPr>
              <a:t>mạng</a:t>
            </a:r>
            <a:r>
              <a:rPr sz="2200" spc="-50" dirty="0">
                <a:solidFill>
                  <a:srgbClr val="990099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990099"/>
                </a:solidFill>
                <a:latin typeface="Palatino Linotype"/>
                <a:cs typeface="Palatino Linotype"/>
              </a:rPr>
              <a:t>ngữ</a:t>
            </a:r>
            <a:r>
              <a:rPr sz="2200" spc="-35" dirty="0">
                <a:solidFill>
                  <a:srgbClr val="990099"/>
                </a:solidFill>
                <a:latin typeface="Palatino Linotype"/>
                <a:cs typeface="Palatino Linotype"/>
              </a:rPr>
              <a:t> </a:t>
            </a:r>
            <a:r>
              <a:rPr sz="2200" spc="-10" dirty="0">
                <a:solidFill>
                  <a:srgbClr val="990099"/>
                </a:solidFill>
                <a:latin typeface="Palatino Linotype"/>
                <a:cs typeface="Palatino Linotype"/>
              </a:rPr>
              <a:t>nghĩa:</a:t>
            </a:r>
            <a:endParaRPr sz="2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solidFill>
                  <a:srgbClr val="FF3399"/>
                </a:solidFill>
                <a:latin typeface="Palatino Linotype"/>
                <a:cs typeface="Palatino Linotype"/>
              </a:rPr>
              <a:t>Tính</a:t>
            </a:r>
            <a:r>
              <a:rPr sz="2200" spc="-15" dirty="0">
                <a:solidFill>
                  <a:srgbClr val="FF3399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FF3399"/>
                </a:solidFill>
                <a:latin typeface="Palatino Linotype"/>
                <a:cs typeface="Palatino Linotype"/>
              </a:rPr>
              <a:t>mở</a:t>
            </a:r>
            <a:r>
              <a:rPr sz="2200" spc="-20" dirty="0">
                <a:solidFill>
                  <a:srgbClr val="FF3399"/>
                </a:solidFill>
                <a:latin typeface="Palatino Linotype"/>
                <a:cs typeface="Palatino Linotype"/>
              </a:rPr>
              <a:t> rộng</a:t>
            </a:r>
            <a:r>
              <a:rPr sz="2200" spc="-20" dirty="0">
                <a:solidFill>
                  <a:srgbClr val="990099"/>
                </a:solidFill>
                <a:latin typeface="Palatino Linotype"/>
                <a:cs typeface="Palatino Linotype"/>
              </a:rPr>
              <a:t>:</a:t>
            </a:r>
            <a:endParaRPr sz="2200">
              <a:latin typeface="Palatino Linotype"/>
              <a:cs typeface="Palatino Linotype"/>
            </a:endParaRPr>
          </a:p>
          <a:p>
            <a:pPr marL="546100" marR="13970" indent="-533400">
              <a:lnSpc>
                <a:spcPct val="80000"/>
              </a:lnSpc>
              <a:spcBef>
                <a:spcPts val="530"/>
              </a:spcBef>
              <a:tabLst>
                <a:tab pos="5267325" algn="l"/>
              </a:tabLst>
            </a:pPr>
            <a:r>
              <a:rPr lang="en-US" sz="2200" smtClean="0">
                <a:latin typeface="Palatino Linotype"/>
                <a:cs typeface="Palatino Linotype"/>
              </a:rPr>
              <a:t>	</a:t>
            </a:r>
            <a:r>
              <a:rPr sz="2200" smtClean="0">
                <a:latin typeface="Palatino Linotype"/>
                <a:cs typeface="Palatino Linotype"/>
              </a:rPr>
              <a:t>Để</a:t>
            </a:r>
            <a:r>
              <a:rPr sz="2200" spc="-40" smtClean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mở</a:t>
            </a:r>
            <a:r>
              <a:rPr sz="2200" spc="-4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rộng</a:t>
            </a:r>
            <a:r>
              <a:rPr sz="2200" spc="-1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mạng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thật</a:t>
            </a:r>
            <a:r>
              <a:rPr sz="2200" spc="-5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đơn</a:t>
            </a:r>
            <a:r>
              <a:rPr sz="2200" spc="-2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giản;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chúng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ta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spc="-25" dirty="0">
                <a:latin typeface="Palatino Linotype"/>
                <a:cs typeface="Palatino Linotype"/>
              </a:rPr>
              <a:t>chỉ </a:t>
            </a:r>
            <a:r>
              <a:rPr sz="2200" dirty="0">
                <a:latin typeface="Palatino Linotype"/>
                <a:cs typeface="Palatino Linotype"/>
              </a:rPr>
              <a:t>việc</a:t>
            </a:r>
            <a:r>
              <a:rPr sz="2200" spc="-1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thêm</a:t>
            </a:r>
            <a:r>
              <a:rPr sz="2200" spc="-4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các</a:t>
            </a:r>
            <a:r>
              <a:rPr sz="2200" spc="-1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đỉnh</a:t>
            </a:r>
            <a:r>
              <a:rPr sz="2200" spc="-1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và</a:t>
            </a:r>
            <a:r>
              <a:rPr sz="2200" spc="-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các</a:t>
            </a:r>
            <a:r>
              <a:rPr sz="2200" spc="-1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cung</a:t>
            </a:r>
            <a:r>
              <a:rPr sz="2200" spc="-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quan</a:t>
            </a:r>
            <a:r>
              <a:rPr sz="2200" spc="-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hệ</a:t>
            </a:r>
            <a:r>
              <a:rPr sz="2200" spc="-20" dirty="0">
                <a:latin typeface="Palatino Linotype"/>
                <a:cs typeface="Palatino Linotype"/>
              </a:rPr>
              <a:t> </a:t>
            </a:r>
            <a:r>
              <a:rPr sz="2200" spc="-25" dirty="0">
                <a:latin typeface="Palatino Linotype"/>
                <a:cs typeface="Palatino Linotype"/>
              </a:rPr>
              <a:t>với </a:t>
            </a:r>
            <a:r>
              <a:rPr sz="2200" dirty="0">
                <a:latin typeface="Palatino Linotype"/>
                <a:cs typeface="Palatino Linotype"/>
              </a:rPr>
              <a:t>các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đỉnh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có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sẵn.</a:t>
            </a:r>
            <a:r>
              <a:rPr sz="2200" spc="-4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Các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đỉnh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được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thêm</a:t>
            </a:r>
            <a:r>
              <a:rPr sz="2200" spc="-50" dirty="0">
                <a:latin typeface="Palatino Linotype"/>
                <a:cs typeface="Palatino Linotype"/>
              </a:rPr>
              <a:t> </a:t>
            </a:r>
            <a:r>
              <a:rPr sz="2200" spc="-25" dirty="0">
                <a:latin typeface="Palatino Linotype"/>
                <a:cs typeface="Palatino Linotype"/>
              </a:rPr>
              <a:t>vào </a:t>
            </a:r>
            <a:r>
              <a:rPr sz="2200" dirty="0">
                <a:latin typeface="Palatino Linotype"/>
                <a:cs typeface="Palatino Linotype"/>
              </a:rPr>
              <a:t>mạng</a:t>
            </a:r>
            <a:r>
              <a:rPr sz="2200" spc="-4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hoặc</a:t>
            </a:r>
            <a:r>
              <a:rPr sz="2200" spc="-4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là</a:t>
            </a:r>
            <a:r>
              <a:rPr sz="2200" spc="-2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biểu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diễn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đối</a:t>
            </a:r>
            <a:r>
              <a:rPr sz="2200" spc="-2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tượng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hoặc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spc="-25" dirty="0">
                <a:latin typeface="Palatino Linotype"/>
                <a:cs typeface="Palatino Linotype"/>
              </a:rPr>
              <a:t>là </a:t>
            </a:r>
            <a:r>
              <a:rPr sz="2200" dirty="0">
                <a:latin typeface="Palatino Linotype"/>
                <a:cs typeface="Palatino Linotype"/>
              </a:rPr>
              <a:t>biểu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diễn</a:t>
            </a:r>
            <a:r>
              <a:rPr sz="2200" spc="-2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thuộc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tính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như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ví</a:t>
            </a:r>
            <a:r>
              <a:rPr sz="2200" spc="-2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dụ</a:t>
            </a:r>
            <a:r>
              <a:rPr sz="2200" spc="-10" dirty="0">
                <a:latin typeface="Palatino Linotype"/>
                <a:cs typeface="Palatino Linotype"/>
              </a:rPr>
              <a:t> trước.</a:t>
            </a:r>
            <a:r>
              <a:rPr sz="2200" dirty="0">
                <a:latin typeface="Palatino Linotype"/>
                <a:cs typeface="Palatino Linotype"/>
              </a:rPr>
              <a:t>	</a:t>
            </a:r>
            <a:r>
              <a:rPr sz="2200" spc="-25" dirty="0">
                <a:latin typeface="Palatino Linotype"/>
                <a:cs typeface="Palatino Linotype"/>
              </a:rPr>
              <a:t>Xét </a:t>
            </a:r>
            <a:r>
              <a:rPr sz="2200" dirty="0">
                <a:latin typeface="Palatino Linotype"/>
                <a:cs typeface="Palatino Linotype"/>
              </a:rPr>
              <a:t>ví</a:t>
            </a:r>
            <a:r>
              <a:rPr sz="2200" spc="-2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dụ</a:t>
            </a:r>
            <a:r>
              <a:rPr sz="2200" spc="-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sau</a:t>
            </a:r>
            <a:r>
              <a:rPr sz="2200" spc="-1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đây</a:t>
            </a:r>
            <a:r>
              <a:rPr sz="2200" spc="-1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minh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họa</a:t>
            </a:r>
            <a:r>
              <a:rPr sz="2200" spc="-2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việc</a:t>
            </a:r>
            <a:r>
              <a:rPr sz="2200" spc="-2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mở</a:t>
            </a:r>
            <a:r>
              <a:rPr sz="2200" spc="-20" dirty="0">
                <a:latin typeface="Palatino Linotype"/>
                <a:cs typeface="Palatino Linotype"/>
              </a:rPr>
              <a:t> rộng</a:t>
            </a:r>
            <a:r>
              <a:rPr sz="2200" dirty="0">
                <a:latin typeface="Palatino Linotype"/>
                <a:cs typeface="Palatino Linotype"/>
              </a:rPr>
              <a:t> mạng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đã</a:t>
            </a:r>
            <a:r>
              <a:rPr sz="2200" spc="-10" dirty="0">
                <a:latin typeface="Palatino Linotype"/>
                <a:cs typeface="Palatino Linotype"/>
              </a:rPr>
              <a:t> </a:t>
            </a:r>
            <a:r>
              <a:rPr sz="2200" spc="-25" dirty="0">
                <a:latin typeface="Palatino Linotype"/>
                <a:cs typeface="Palatino Linotype"/>
              </a:rPr>
              <a:t>có.</a:t>
            </a:r>
            <a:endParaRPr sz="2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solidFill>
                  <a:srgbClr val="990099"/>
                </a:solidFill>
                <a:latin typeface="Palatino Linotype"/>
                <a:cs typeface="Palatino Linotype"/>
              </a:rPr>
              <a:t>Tính</a:t>
            </a:r>
            <a:r>
              <a:rPr sz="2200" spc="-30" dirty="0">
                <a:solidFill>
                  <a:srgbClr val="990099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990099"/>
                </a:solidFill>
                <a:latin typeface="Palatino Linotype"/>
                <a:cs typeface="Palatino Linotype"/>
              </a:rPr>
              <a:t>thừa</a:t>
            </a:r>
            <a:r>
              <a:rPr sz="2200" spc="-30" dirty="0">
                <a:solidFill>
                  <a:srgbClr val="990099"/>
                </a:solidFill>
                <a:latin typeface="Palatino Linotype"/>
                <a:cs typeface="Palatino Linotype"/>
              </a:rPr>
              <a:t> </a:t>
            </a:r>
            <a:r>
              <a:rPr sz="2200" spc="-25" dirty="0">
                <a:solidFill>
                  <a:srgbClr val="990099"/>
                </a:solidFill>
                <a:latin typeface="Palatino Linotype"/>
                <a:cs typeface="Palatino Linotype"/>
              </a:rPr>
              <a:t>kế:</a:t>
            </a:r>
            <a:endParaRPr sz="2200">
              <a:latin typeface="Palatino Linotype"/>
              <a:cs typeface="Palatino Linotype"/>
            </a:endParaRPr>
          </a:p>
          <a:p>
            <a:pPr marL="546100" marR="60960">
              <a:lnSpc>
                <a:spcPct val="80000"/>
              </a:lnSpc>
              <a:spcBef>
                <a:spcPts val="530"/>
              </a:spcBef>
            </a:pPr>
            <a:r>
              <a:rPr sz="2200" dirty="0">
                <a:latin typeface="Palatino Linotype"/>
                <a:cs typeface="Palatino Linotype"/>
              </a:rPr>
              <a:t>Là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đặc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điểm</a:t>
            </a:r>
            <a:r>
              <a:rPr sz="2200" spc="-2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nổi</a:t>
            </a:r>
            <a:r>
              <a:rPr sz="2200" spc="-4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bật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của</a:t>
            </a:r>
            <a:r>
              <a:rPr sz="2200" spc="-2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lược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đồ</a:t>
            </a:r>
            <a:r>
              <a:rPr sz="2200" spc="-2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mạng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spc="-25" dirty="0">
                <a:latin typeface="Palatino Linotype"/>
                <a:cs typeface="Palatino Linotype"/>
              </a:rPr>
              <a:t>ngữ </a:t>
            </a:r>
            <a:r>
              <a:rPr sz="2200" dirty="0">
                <a:latin typeface="Palatino Linotype"/>
                <a:cs typeface="Palatino Linotype"/>
              </a:rPr>
              <a:t>nghĩa.</a:t>
            </a:r>
            <a:r>
              <a:rPr sz="2200" spc="-6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Mạng</a:t>
            </a:r>
            <a:r>
              <a:rPr sz="2200" spc="-4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ngữ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nghĩa</a:t>
            </a:r>
            <a:r>
              <a:rPr sz="2200" spc="-5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định</a:t>
            </a:r>
            <a:r>
              <a:rPr sz="2200" spc="-4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ra</a:t>
            </a:r>
            <a:r>
              <a:rPr sz="2200" spc="-2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cung</a:t>
            </a:r>
            <a:r>
              <a:rPr sz="2200" spc="-25" dirty="0">
                <a:latin typeface="Palatino Linotype"/>
                <a:cs typeface="Palatino Linotype"/>
              </a:rPr>
              <a:t> </a:t>
            </a:r>
            <a:r>
              <a:rPr sz="2200" spc="-20" dirty="0">
                <a:latin typeface="Palatino Linotype"/>
                <a:cs typeface="Palatino Linotype"/>
              </a:rPr>
              <a:t>quan </a:t>
            </a:r>
            <a:r>
              <a:rPr sz="2200" dirty="0">
                <a:latin typeface="Palatino Linotype"/>
                <a:cs typeface="Palatino Linotype"/>
              </a:rPr>
              <a:t>hệ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đặc</a:t>
            </a:r>
            <a:r>
              <a:rPr sz="2200" spc="-1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biệt</a:t>
            </a:r>
            <a:r>
              <a:rPr sz="2200" spc="-25" dirty="0">
                <a:latin typeface="Palatino Linotype"/>
                <a:cs typeface="Palatino Linotype"/>
              </a:rPr>
              <a:t> </a:t>
            </a:r>
            <a:r>
              <a:rPr sz="2200" spc="-10" dirty="0">
                <a:latin typeface="Palatino Linotype"/>
                <a:cs typeface="Palatino Linotype"/>
              </a:rPr>
              <a:t>“IS-</a:t>
            </a:r>
            <a:r>
              <a:rPr sz="2200" dirty="0">
                <a:latin typeface="Palatino Linotype"/>
                <a:cs typeface="Palatino Linotype"/>
              </a:rPr>
              <a:t>A”</a:t>
            </a:r>
            <a:r>
              <a:rPr sz="2200" spc="-2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để</a:t>
            </a:r>
            <a:r>
              <a:rPr sz="2200" spc="-1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chỉ</a:t>
            </a:r>
            <a:r>
              <a:rPr sz="2200" spc="-1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ra</a:t>
            </a:r>
            <a:r>
              <a:rPr sz="2200" spc="-1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sự</a:t>
            </a:r>
            <a:r>
              <a:rPr sz="2200" spc="-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thừa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kế.</a:t>
            </a:r>
            <a:r>
              <a:rPr sz="2200" spc="-25" dirty="0">
                <a:latin typeface="Palatino Linotype"/>
                <a:cs typeface="Palatino Linotype"/>
              </a:rPr>
              <a:t> Ví </a:t>
            </a:r>
            <a:r>
              <a:rPr sz="2200" dirty="0">
                <a:latin typeface="Palatino Linotype"/>
                <a:cs typeface="Palatino Linotype"/>
              </a:rPr>
              <a:t>dụ,</a:t>
            </a:r>
            <a:r>
              <a:rPr sz="2200" spc="-1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nhờ</a:t>
            </a:r>
            <a:r>
              <a:rPr sz="2200" spc="-5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tính</a:t>
            </a:r>
            <a:r>
              <a:rPr sz="2200" spc="-4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thừa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kế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mà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từ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mạng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spc="-25" dirty="0">
                <a:latin typeface="Palatino Linotype"/>
                <a:cs typeface="Palatino Linotype"/>
              </a:rPr>
              <a:t>bên </a:t>
            </a:r>
            <a:r>
              <a:rPr sz="2200" dirty="0">
                <a:latin typeface="Palatino Linotype"/>
                <a:cs typeface="Palatino Linotype"/>
              </a:rPr>
              <a:t>chúng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ta</a:t>
            </a:r>
            <a:r>
              <a:rPr sz="2200" spc="-2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có</a:t>
            </a:r>
            <a:r>
              <a:rPr sz="2200" spc="-2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thể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suy</a:t>
            </a:r>
            <a:r>
              <a:rPr sz="2200" spc="-2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ra: “Lilo</a:t>
            </a:r>
            <a:r>
              <a:rPr sz="2200" spc="-2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là</a:t>
            </a:r>
            <a:r>
              <a:rPr sz="2200" spc="-1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một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spc="-20" dirty="0">
                <a:latin typeface="Palatino Linotype"/>
                <a:cs typeface="Palatino Linotype"/>
              </a:rPr>
              <a:t>động </a:t>
            </a:r>
            <a:r>
              <a:rPr sz="2200" dirty="0">
                <a:latin typeface="Palatino Linotype"/>
                <a:cs typeface="Palatino Linotype"/>
              </a:rPr>
              <a:t>vật</a:t>
            </a:r>
            <a:r>
              <a:rPr sz="2200" spc="-2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có</a:t>
            </a:r>
            <a:r>
              <a:rPr sz="2200" spc="-2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thể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bay</a:t>
            </a:r>
            <a:r>
              <a:rPr sz="2200" spc="-1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và</a:t>
            </a:r>
            <a:r>
              <a:rPr sz="2200" spc="-2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hít</a:t>
            </a:r>
            <a:r>
              <a:rPr sz="2200" spc="-2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thở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không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spc="-10" dirty="0">
                <a:latin typeface="Palatino Linotype"/>
                <a:cs typeface="Palatino Linotype"/>
              </a:rPr>
              <a:t>khí.”</a:t>
            </a:r>
            <a:endParaRPr sz="2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solidFill>
                  <a:srgbClr val="990099"/>
                </a:solidFill>
                <a:latin typeface="Palatino Linotype"/>
                <a:cs typeface="Palatino Linotype"/>
              </a:rPr>
              <a:t>Tính</a:t>
            </a:r>
            <a:r>
              <a:rPr sz="2200" spc="-40" dirty="0">
                <a:solidFill>
                  <a:srgbClr val="990099"/>
                </a:solidFill>
                <a:latin typeface="Palatino Linotype"/>
                <a:cs typeface="Palatino Linotype"/>
              </a:rPr>
              <a:t> </a:t>
            </a:r>
            <a:r>
              <a:rPr sz="2200" dirty="0">
                <a:solidFill>
                  <a:srgbClr val="990099"/>
                </a:solidFill>
                <a:latin typeface="Palatino Linotype"/>
                <a:cs typeface="Palatino Linotype"/>
              </a:rPr>
              <a:t>ngoại</a:t>
            </a:r>
            <a:r>
              <a:rPr sz="2200" spc="-40" dirty="0">
                <a:solidFill>
                  <a:srgbClr val="990099"/>
                </a:solidFill>
                <a:latin typeface="Palatino Linotype"/>
                <a:cs typeface="Palatino Linotype"/>
              </a:rPr>
              <a:t> </a:t>
            </a:r>
            <a:r>
              <a:rPr sz="2200" spc="-25" dirty="0">
                <a:solidFill>
                  <a:srgbClr val="990099"/>
                </a:solidFill>
                <a:latin typeface="Palatino Linotype"/>
                <a:cs typeface="Palatino Linotype"/>
              </a:rPr>
              <a:t>lệ:</a:t>
            </a:r>
            <a:endParaRPr sz="2200">
              <a:latin typeface="Palatino Linotype"/>
              <a:cs typeface="Palatino Linotype"/>
            </a:endParaRPr>
          </a:p>
          <a:p>
            <a:pPr marL="546100" marR="5080">
              <a:lnSpc>
                <a:spcPct val="80000"/>
              </a:lnSpc>
              <a:spcBef>
                <a:spcPts val="525"/>
              </a:spcBef>
            </a:pPr>
            <a:r>
              <a:rPr sz="2200" dirty="0">
                <a:latin typeface="Palatino Linotype"/>
                <a:cs typeface="Palatino Linotype"/>
              </a:rPr>
              <a:t>Định</a:t>
            </a:r>
            <a:r>
              <a:rPr sz="2200" spc="-4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nghĩa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một</a:t>
            </a:r>
            <a:r>
              <a:rPr sz="2200" spc="-2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cung</a:t>
            </a:r>
            <a:r>
              <a:rPr sz="2200" spc="-1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quan</a:t>
            </a:r>
            <a:r>
              <a:rPr sz="2200" spc="-1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hệ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mới</a:t>
            </a:r>
            <a:r>
              <a:rPr sz="2200" spc="-4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đến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spc="-25" dirty="0">
                <a:latin typeface="Palatino Linotype"/>
                <a:cs typeface="Palatino Linotype"/>
              </a:rPr>
              <a:t>một </a:t>
            </a:r>
            <a:r>
              <a:rPr sz="2200" dirty="0">
                <a:latin typeface="Palatino Linotype"/>
                <a:cs typeface="Palatino Linotype"/>
              </a:rPr>
              <a:t>đỉnh</a:t>
            </a:r>
            <a:r>
              <a:rPr sz="2200" spc="-4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có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trị</a:t>
            </a:r>
            <a:r>
              <a:rPr sz="2200" spc="-40" dirty="0">
                <a:latin typeface="Palatino Linotype"/>
                <a:cs typeface="Palatino Linotype"/>
              </a:rPr>
              <a:t> </a:t>
            </a:r>
            <a:r>
              <a:rPr sz="2200" spc="-20" dirty="0">
                <a:latin typeface="Palatino Linotype"/>
                <a:cs typeface="Palatino Linotype"/>
              </a:rPr>
              <a:t>khác.</a:t>
            </a:r>
            <a:endParaRPr sz="2200">
              <a:latin typeface="Palatino Linotype"/>
              <a:cs typeface="Palatino Linotyp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02438" y="1747837"/>
            <a:ext cx="4089273" cy="43529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55585" y="3054223"/>
            <a:ext cx="49910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4300" marR="5080" indent="-102235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Arial"/>
                <a:cs typeface="Arial"/>
              </a:rPr>
              <a:t>Chim </a:t>
            </a:r>
            <a:r>
              <a:rPr sz="1600" spc="-25" dirty="0">
                <a:latin typeface="Arial"/>
                <a:cs typeface="Arial"/>
              </a:rPr>
              <a:t>yến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81390" y="3168523"/>
            <a:ext cx="4495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libri"/>
                <a:cs typeface="Calibri"/>
              </a:rPr>
              <a:t>Chim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73769" y="2032457"/>
            <a:ext cx="5105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Arial"/>
                <a:cs typeface="Arial"/>
              </a:rPr>
              <a:t>Cánh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68257" y="4387977"/>
            <a:ext cx="3219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libri"/>
                <a:cs typeface="Calibri"/>
              </a:rPr>
              <a:t>Bay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75218" y="3104133"/>
            <a:ext cx="2851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latin typeface="Times New Roman"/>
                <a:cs typeface="Times New Roman"/>
              </a:rPr>
              <a:t>IS- </a:t>
            </a:r>
            <a:r>
              <a:rPr sz="1600" b="1" spc="-50" dirty="0">
                <a:latin typeface="Times New Roman"/>
                <a:cs typeface="Times New Roman"/>
              </a:rPr>
              <a:t>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30818" y="2619882"/>
            <a:ext cx="2622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latin typeface="Arial"/>
                <a:cs typeface="Arial"/>
              </a:rPr>
              <a:t>có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60638" y="3737609"/>
            <a:ext cx="9906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Di</a:t>
            </a:r>
            <a:r>
              <a:rPr sz="1600" b="1" spc="-10" dirty="0">
                <a:latin typeface="Arial"/>
                <a:cs typeface="Arial"/>
              </a:rPr>
              <a:t> chuyển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49567" y="2999358"/>
            <a:ext cx="2851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latin typeface="Times New Roman"/>
                <a:cs typeface="Times New Roman"/>
              </a:rPr>
              <a:t>IS- </a:t>
            </a:r>
            <a:r>
              <a:rPr sz="1600" b="1" spc="-50" dirty="0">
                <a:latin typeface="Times New Roman"/>
                <a:cs typeface="Times New Roman"/>
              </a:rPr>
              <a:t>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69507" y="3168523"/>
            <a:ext cx="3124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libri"/>
                <a:cs typeface="Calibri"/>
              </a:rPr>
              <a:t>Lilo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817354" y="3054223"/>
            <a:ext cx="5099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8745" marR="5080" indent="-10668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Arial"/>
                <a:cs typeface="Arial"/>
              </a:rPr>
              <a:t>Động </a:t>
            </a:r>
            <a:r>
              <a:rPr sz="1600" spc="-25" dirty="0">
                <a:latin typeface="Arial"/>
                <a:cs typeface="Arial"/>
              </a:rPr>
              <a:t>vật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70618" y="3120008"/>
            <a:ext cx="2851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latin typeface="Times New Roman"/>
                <a:cs typeface="Times New Roman"/>
              </a:rPr>
              <a:t>IS- </a:t>
            </a:r>
            <a:r>
              <a:rPr sz="1600" b="1" spc="-50" dirty="0">
                <a:latin typeface="Times New Roman"/>
                <a:cs typeface="Times New Roman"/>
              </a:rPr>
              <a:t>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765538" y="1834642"/>
            <a:ext cx="6121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0815" marR="5080" indent="-15875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Arial"/>
                <a:cs typeface="Arial"/>
              </a:rPr>
              <a:t>Không </a:t>
            </a:r>
            <a:r>
              <a:rPr sz="1600" spc="-25" dirty="0">
                <a:latin typeface="Arial"/>
                <a:cs typeface="Arial"/>
              </a:rPr>
              <a:t>khí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100564" y="2619882"/>
            <a:ext cx="360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latin typeface="Arial"/>
                <a:cs typeface="Arial"/>
              </a:rPr>
              <a:t>thở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54569" y="4273677"/>
            <a:ext cx="5099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8745" marR="5080" indent="-10668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Arial"/>
                <a:cs typeface="Arial"/>
              </a:rPr>
              <a:t>Cánh </a:t>
            </a:r>
            <a:r>
              <a:rPr sz="1600" spc="-25" dirty="0">
                <a:latin typeface="Arial"/>
                <a:cs typeface="Arial"/>
              </a:rPr>
              <a:t>cụt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04429" y="3914013"/>
            <a:ext cx="2851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latin typeface="Times New Roman"/>
                <a:cs typeface="Times New Roman"/>
              </a:rPr>
              <a:t>IS- </a:t>
            </a:r>
            <a:r>
              <a:rPr sz="1600" b="1" spc="-50" dirty="0">
                <a:latin typeface="Times New Roman"/>
                <a:cs typeface="Times New Roman"/>
              </a:rPr>
              <a:t>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99350" y="5615127"/>
            <a:ext cx="2171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Arial"/>
                <a:cs typeface="Arial"/>
              </a:rPr>
              <a:t>Đi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441438" y="4957064"/>
            <a:ext cx="9906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Di</a:t>
            </a:r>
            <a:r>
              <a:rPr sz="1600" b="1" spc="-10" dirty="0">
                <a:latin typeface="Arial"/>
                <a:cs typeface="Arial"/>
              </a:rPr>
              <a:t> chuyển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122" y="377697"/>
            <a:ext cx="42062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455F51"/>
                </a:solidFill>
              </a:rPr>
              <a:t>Mô</a:t>
            </a:r>
            <a:r>
              <a:rPr sz="4800" spc="-40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hình</a:t>
            </a:r>
            <a:r>
              <a:rPr sz="4800" spc="-1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cấu</a:t>
            </a:r>
            <a:r>
              <a:rPr sz="4800" spc="-55" dirty="0">
                <a:solidFill>
                  <a:srgbClr val="455F51"/>
                </a:solidFill>
              </a:rPr>
              <a:t> </a:t>
            </a:r>
            <a:r>
              <a:rPr sz="4800" spc="-20" dirty="0">
                <a:solidFill>
                  <a:srgbClr val="455F51"/>
                </a:solidFill>
              </a:rPr>
              <a:t>trúc</a:t>
            </a:r>
            <a:endParaRPr sz="4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17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530476"/>
            <a:ext cx="10807065" cy="300164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86385" marR="284480" indent="-274320">
              <a:lnSpc>
                <a:spcPct val="90000"/>
              </a:lnSpc>
              <a:spcBef>
                <a:spcPts val="484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>
                <a:latin typeface="Palatino Linotype"/>
                <a:cs typeface="Palatino Linotype"/>
              </a:rPr>
              <a:t>Là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một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mở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rộng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của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lược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đồ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mạng;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bằng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cách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cho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spc="-20" dirty="0">
                <a:latin typeface="Palatino Linotype"/>
                <a:cs typeface="Palatino Linotype"/>
              </a:rPr>
              <a:t>phép </a:t>
            </a:r>
            <a:r>
              <a:rPr sz="3200" dirty="0">
                <a:latin typeface="Palatino Linotype"/>
                <a:cs typeface="Palatino Linotype"/>
              </a:rPr>
              <a:t>các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node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có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thể</a:t>
            </a:r>
            <a:r>
              <a:rPr sz="3200" spc="-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là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một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CTDL</a:t>
            </a:r>
            <a:r>
              <a:rPr sz="3200" spc="-1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phức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tạp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gồm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các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khe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spc="-10" dirty="0">
                <a:latin typeface="Palatino Linotype"/>
                <a:cs typeface="Palatino Linotype"/>
              </a:rPr>
              <a:t>(slot) </a:t>
            </a:r>
            <a:r>
              <a:rPr sz="3200" dirty="0">
                <a:latin typeface="Palatino Linotype"/>
                <a:cs typeface="Palatino Linotype"/>
              </a:rPr>
              <a:t>có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tên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và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trị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hay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một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thủ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spc="-20" dirty="0">
                <a:latin typeface="Palatino Linotype"/>
                <a:cs typeface="Palatino Linotype"/>
              </a:rPr>
              <a:t>tục.</a:t>
            </a:r>
            <a:endParaRPr sz="32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385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>
                <a:latin typeface="Palatino Linotype"/>
                <a:cs typeface="Palatino Linotype"/>
              </a:rPr>
              <a:t>Chính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vì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vậy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nó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tích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hợp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cả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dạng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khai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báo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và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thủ</a:t>
            </a:r>
            <a:r>
              <a:rPr sz="3200" spc="-55" dirty="0">
                <a:latin typeface="Palatino Linotype"/>
                <a:cs typeface="Palatino Linotype"/>
              </a:rPr>
              <a:t> </a:t>
            </a:r>
            <a:r>
              <a:rPr sz="3200" spc="-20" dirty="0">
                <a:latin typeface="Palatino Linotype"/>
                <a:cs typeface="Palatino Linotype"/>
              </a:rPr>
              <a:t>tục.</a:t>
            </a:r>
            <a:endParaRPr sz="32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290"/>
              </a:spcBef>
              <a:buClr>
                <a:srgbClr val="C0CF39"/>
              </a:buClr>
              <a:buFont typeface="Wingdings 2"/>
              <a:buChar char=""/>
            </a:pPr>
            <a:endParaRPr sz="32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5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>
                <a:latin typeface="Palatino Linotype"/>
                <a:cs typeface="Palatino Linotype"/>
              </a:rPr>
              <a:t>Khung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(frame),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đối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tượng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(object)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là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ví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dụ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của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lược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đồ</a:t>
            </a:r>
            <a:r>
              <a:rPr sz="3200" spc="-25" dirty="0">
                <a:latin typeface="Palatino Linotype"/>
                <a:cs typeface="Palatino Linotype"/>
              </a:rPr>
              <a:t> này</a:t>
            </a:r>
            <a:endParaRPr sz="3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494" y="72339"/>
            <a:ext cx="73482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455F51"/>
                </a:solidFill>
              </a:rPr>
              <a:t>Biểu</a:t>
            </a:r>
            <a:r>
              <a:rPr sz="4800" spc="-2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diễn</a:t>
            </a:r>
            <a:r>
              <a:rPr sz="4800" spc="-1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tri thức</a:t>
            </a:r>
            <a:r>
              <a:rPr sz="4800" spc="-2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bằng</a:t>
            </a:r>
            <a:r>
              <a:rPr sz="4800" spc="-20" dirty="0">
                <a:solidFill>
                  <a:srgbClr val="455F51"/>
                </a:solidFill>
              </a:rPr>
              <a:t> Frame</a:t>
            </a:r>
            <a:endParaRPr sz="4800"/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18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4072" y="977011"/>
            <a:ext cx="5249545" cy="52933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0375" indent="-447675">
              <a:lnSpc>
                <a:spcPct val="100000"/>
              </a:lnSpc>
              <a:spcBef>
                <a:spcPts val="675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460375" algn="l"/>
              </a:tabLst>
            </a:pPr>
            <a:r>
              <a:rPr sz="2400" dirty="0">
                <a:latin typeface="Palatino Linotype"/>
                <a:cs typeface="Palatino Linotype"/>
              </a:rPr>
              <a:t>Frame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–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khung.</a:t>
            </a:r>
            <a:endParaRPr sz="2400">
              <a:latin typeface="Palatino Linotype"/>
              <a:cs typeface="Palatino Linotype"/>
            </a:endParaRPr>
          </a:p>
          <a:p>
            <a:pPr marL="460375" marR="5080" indent="46609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Palatino Linotype"/>
                <a:cs typeface="Palatino Linotype"/>
              </a:rPr>
              <a:t>Là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một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cấu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trúc</a:t>
            </a:r>
            <a:r>
              <a:rPr sz="2400" spc="-1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dữ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liệu</a:t>
            </a:r>
            <a:r>
              <a:rPr sz="2400" spc="-25" dirty="0">
                <a:latin typeface="Palatino Linotype"/>
                <a:cs typeface="Palatino Linotype"/>
              </a:rPr>
              <a:t> cho </a:t>
            </a:r>
            <a:r>
              <a:rPr sz="2400" dirty="0">
                <a:latin typeface="Palatino Linotype"/>
                <a:cs typeface="Palatino Linotype"/>
              </a:rPr>
              <a:t>phép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biểu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diễn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tri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thức</a:t>
            </a:r>
            <a:r>
              <a:rPr sz="2400" spc="-1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ở</a:t>
            </a:r>
            <a:r>
              <a:rPr sz="2400" spc="-1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dạng</a:t>
            </a:r>
            <a:r>
              <a:rPr sz="2400" spc="-15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khái </a:t>
            </a:r>
            <a:r>
              <a:rPr sz="2400" dirty="0">
                <a:latin typeface="Palatino Linotype"/>
                <a:cs typeface="Palatino Linotype"/>
              </a:rPr>
              <a:t>niệm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hay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đối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tượng.</a:t>
            </a:r>
            <a:endParaRPr sz="2400">
              <a:latin typeface="Palatino Linotype"/>
              <a:cs typeface="Palatino Linotype"/>
            </a:endParaRPr>
          </a:p>
          <a:p>
            <a:pPr marL="926465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Palatino Linotype"/>
                <a:cs typeface="Palatino Linotype"/>
              </a:rPr>
              <a:t>Một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khung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có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cấu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trúc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spc="-25" dirty="0">
                <a:latin typeface="Palatino Linotype"/>
                <a:cs typeface="Palatino Linotype"/>
              </a:rPr>
              <a:t>như</a:t>
            </a:r>
            <a:endParaRPr sz="2400">
              <a:latin typeface="Palatino Linotype"/>
              <a:cs typeface="Palatino Linotype"/>
            </a:endParaRPr>
          </a:p>
          <a:p>
            <a:pPr marL="460375">
              <a:lnSpc>
                <a:spcPct val="100000"/>
              </a:lnSpc>
            </a:pPr>
            <a:r>
              <a:rPr sz="2400" dirty="0">
                <a:latin typeface="Palatino Linotype"/>
                <a:cs typeface="Palatino Linotype"/>
              </a:rPr>
              <a:t>hình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vẽ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bên.</a:t>
            </a:r>
            <a:endParaRPr sz="2400">
              <a:latin typeface="Palatino Linotype"/>
              <a:cs typeface="Palatino Linotype"/>
            </a:endParaRPr>
          </a:p>
          <a:p>
            <a:pPr marL="460375" indent="-447675">
              <a:lnSpc>
                <a:spcPct val="100000"/>
              </a:lnSpc>
              <a:spcBef>
                <a:spcPts val="580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460375" algn="l"/>
              </a:tabLst>
            </a:pPr>
            <a:r>
              <a:rPr sz="2400" dirty="0">
                <a:latin typeface="Palatino Linotype"/>
                <a:cs typeface="Palatino Linotype"/>
              </a:rPr>
              <a:t>Cấu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trúc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của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frame:</a:t>
            </a:r>
            <a:endParaRPr sz="2400">
              <a:latin typeface="Palatino Linotype"/>
              <a:cs typeface="Palatino Linotype"/>
            </a:endParaRPr>
          </a:p>
          <a:p>
            <a:pPr marL="460375" marR="243840" indent="46609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Palatino Linotype"/>
                <a:cs typeface="Palatino Linotype"/>
              </a:rPr>
              <a:t>Đặc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tả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cho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một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frame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gồm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spc="-25" dirty="0">
                <a:latin typeface="Palatino Linotype"/>
                <a:cs typeface="Palatino Linotype"/>
              </a:rPr>
              <a:t>các </a:t>
            </a:r>
            <a:r>
              <a:rPr sz="2400" dirty="0">
                <a:latin typeface="Palatino Linotype"/>
                <a:cs typeface="Palatino Linotype"/>
              </a:rPr>
              <a:t>thành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phần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cơ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bản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sau:</a:t>
            </a:r>
            <a:endParaRPr sz="2400">
              <a:latin typeface="Palatino Linotype"/>
              <a:cs typeface="Palatino Linotype"/>
            </a:endParaRPr>
          </a:p>
          <a:p>
            <a:pPr marL="460375">
              <a:lnSpc>
                <a:spcPct val="100000"/>
              </a:lnSpc>
              <a:spcBef>
                <a:spcPts val="575"/>
              </a:spcBef>
            </a:pPr>
            <a:r>
              <a:rPr sz="2400" b="1" i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1.</a:t>
            </a:r>
            <a:r>
              <a:rPr sz="2400" b="1" i="1" u="sng" spc="-3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2400" b="1" i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Frame</a:t>
            </a:r>
            <a:r>
              <a:rPr sz="2400" b="1" i="1" u="sng" spc="-3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2400" b="1" i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name:</a:t>
            </a:r>
            <a:r>
              <a:rPr sz="2400" b="1" i="1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tên</a:t>
            </a:r>
            <a:r>
              <a:rPr sz="2400" spc="-1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của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frame.</a:t>
            </a:r>
            <a:endParaRPr sz="2400">
              <a:latin typeface="Palatino Linotype"/>
              <a:cs typeface="Palatino Linotype"/>
            </a:endParaRPr>
          </a:p>
          <a:p>
            <a:pPr marL="460375" marR="2794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Palatino Linotype"/>
                <a:cs typeface="Palatino Linotype"/>
              </a:rPr>
              <a:t>-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Nếu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frame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biểu</a:t>
            </a:r>
            <a:r>
              <a:rPr sz="2400" spc="-5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diễn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cho</a:t>
            </a:r>
            <a:r>
              <a:rPr sz="2400" spc="-5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một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spc="-25" dirty="0">
                <a:latin typeface="Palatino Linotype"/>
                <a:cs typeface="Palatino Linotype"/>
              </a:rPr>
              <a:t>cá </a:t>
            </a:r>
            <a:r>
              <a:rPr sz="2400" dirty="0">
                <a:latin typeface="Palatino Linotype"/>
                <a:cs typeface="Palatino Linotype"/>
              </a:rPr>
              <a:t>thể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nào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đó,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thì</a:t>
            </a:r>
            <a:r>
              <a:rPr sz="2400" spc="-1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đây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là</a:t>
            </a:r>
            <a:r>
              <a:rPr sz="2400" spc="-1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tên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của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spc="-25" dirty="0">
                <a:latin typeface="Palatino Linotype"/>
                <a:cs typeface="Palatino Linotype"/>
              </a:rPr>
              <a:t>cá </a:t>
            </a:r>
            <a:r>
              <a:rPr sz="2400" dirty="0">
                <a:latin typeface="Palatino Linotype"/>
                <a:cs typeface="Palatino Linotype"/>
              </a:rPr>
              <a:t>thể.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Ví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dụ: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an,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nam,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lulu,..</a:t>
            </a:r>
            <a:endParaRPr sz="2400">
              <a:latin typeface="Palatino Linotype"/>
              <a:cs typeface="Palatino Linotyp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02438" y="1443037"/>
            <a:ext cx="4229100" cy="4810125"/>
            <a:chOff x="6302438" y="1443037"/>
            <a:chExt cx="4229100" cy="4810125"/>
          </a:xfrm>
        </p:grpSpPr>
        <p:sp>
          <p:nvSpPr>
            <p:cNvPr id="5" name="object 5"/>
            <p:cNvSpPr/>
            <p:nvPr/>
          </p:nvSpPr>
          <p:spPr>
            <a:xfrm>
              <a:off x="6307201" y="1447800"/>
              <a:ext cx="4219575" cy="4800600"/>
            </a:xfrm>
            <a:custGeom>
              <a:avLst/>
              <a:gdLst/>
              <a:ahLst/>
              <a:cxnLst/>
              <a:rect l="l" t="t" r="r" b="b"/>
              <a:pathLst>
                <a:path w="4219575" h="4800600">
                  <a:moveTo>
                    <a:pt x="4219575" y="0"/>
                  </a:moveTo>
                  <a:lnTo>
                    <a:pt x="0" y="0"/>
                  </a:lnTo>
                  <a:lnTo>
                    <a:pt x="0" y="4800600"/>
                  </a:lnTo>
                  <a:lnTo>
                    <a:pt x="4219575" y="4800600"/>
                  </a:lnTo>
                  <a:lnTo>
                    <a:pt x="4219575" y="0"/>
                  </a:lnTo>
                  <a:close/>
                </a:path>
              </a:pathLst>
            </a:custGeom>
            <a:solidFill>
              <a:srgbClr val="DBE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07201" y="1447800"/>
              <a:ext cx="4219575" cy="4800600"/>
            </a:xfrm>
            <a:custGeom>
              <a:avLst/>
              <a:gdLst/>
              <a:ahLst/>
              <a:cxnLst/>
              <a:rect l="l" t="t" r="r" b="b"/>
              <a:pathLst>
                <a:path w="4219575" h="4800600">
                  <a:moveTo>
                    <a:pt x="0" y="4800600"/>
                  </a:moveTo>
                  <a:lnTo>
                    <a:pt x="4219575" y="4800600"/>
                  </a:lnTo>
                  <a:lnTo>
                    <a:pt x="4219575" y="0"/>
                  </a:lnTo>
                  <a:lnTo>
                    <a:pt x="0" y="0"/>
                  </a:lnTo>
                  <a:lnTo>
                    <a:pt x="0" y="4800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93128" y="1716404"/>
            <a:ext cx="1325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Frame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name: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94650" y="1600200"/>
            <a:ext cx="2462530" cy="457200"/>
          </a:xfrm>
          <a:prstGeom prst="rect">
            <a:avLst/>
          </a:prstGeom>
          <a:solidFill>
            <a:srgbClr val="539E39"/>
          </a:solidFill>
          <a:ln w="9525">
            <a:solidFill>
              <a:srgbClr val="000000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660"/>
              </a:spcBef>
            </a:pPr>
            <a:r>
              <a:rPr sz="1800" b="1" spc="-10" dirty="0">
                <a:latin typeface="Times New Roman"/>
                <a:cs typeface="Times New Roman"/>
              </a:rPr>
              <a:t>Object1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40754" y="2402585"/>
            <a:ext cx="608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Class: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94650" y="2286000"/>
            <a:ext cx="2462530" cy="457200"/>
          </a:xfrm>
          <a:prstGeom prst="rect">
            <a:avLst/>
          </a:prstGeom>
          <a:solidFill>
            <a:srgbClr val="539E39"/>
          </a:solidFill>
          <a:ln w="9525">
            <a:solidFill>
              <a:srgbClr val="000000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665"/>
              </a:spcBef>
            </a:pPr>
            <a:r>
              <a:rPr sz="1800" b="1" spc="-10" dirty="0">
                <a:latin typeface="Times New Roman"/>
                <a:cs typeface="Times New Roman"/>
              </a:rPr>
              <a:t>Object2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40754" y="3074034"/>
            <a:ext cx="1102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imes New Roman"/>
                <a:cs typeface="Times New Roman"/>
              </a:rPr>
              <a:t>Properties: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989887" y="2967037"/>
            <a:ext cx="2261235" cy="1533525"/>
            <a:chOff x="7989887" y="2967037"/>
            <a:chExt cx="2261235" cy="1533525"/>
          </a:xfrm>
        </p:grpSpPr>
        <p:sp>
          <p:nvSpPr>
            <p:cNvPr id="13" name="object 13"/>
            <p:cNvSpPr/>
            <p:nvPr/>
          </p:nvSpPr>
          <p:spPr>
            <a:xfrm>
              <a:off x="7994650" y="2971800"/>
              <a:ext cx="1125855" cy="457200"/>
            </a:xfrm>
            <a:custGeom>
              <a:avLst/>
              <a:gdLst/>
              <a:ahLst/>
              <a:cxnLst/>
              <a:rect l="l" t="t" r="r" b="b"/>
              <a:pathLst>
                <a:path w="1125854" h="457200">
                  <a:moveTo>
                    <a:pt x="1125537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125537" y="457200"/>
                  </a:lnTo>
                  <a:lnTo>
                    <a:pt x="1125537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994650" y="2971800"/>
              <a:ext cx="1125855" cy="457200"/>
            </a:xfrm>
            <a:custGeom>
              <a:avLst/>
              <a:gdLst/>
              <a:ahLst/>
              <a:cxnLst/>
              <a:rect l="l" t="t" r="r" b="b"/>
              <a:pathLst>
                <a:path w="1125854" h="457200">
                  <a:moveTo>
                    <a:pt x="0" y="457200"/>
                  </a:moveTo>
                  <a:lnTo>
                    <a:pt x="1125537" y="457200"/>
                  </a:lnTo>
                  <a:lnTo>
                    <a:pt x="1125537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120250" y="2971800"/>
              <a:ext cx="1125855" cy="457200"/>
            </a:xfrm>
            <a:custGeom>
              <a:avLst/>
              <a:gdLst/>
              <a:ahLst/>
              <a:cxnLst/>
              <a:rect l="l" t="t" r="r" b="b"/>
              <a:pathLst>
                <a:path w="1125854" h="457200">
                  <a:moveTo>
                    <a:pt x="1125537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125537" y="457200"/>
                  </a:lnTo>
                  <a:lnTo>
                    <a:pt x="1125537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120250" y="2971800"/>
              <a:ext cx="1125855" cy="457200"/>
            </a:xfrm>
            <a:custGeom>
              <a:avLst/>
              <a:gdLst/>
              <a:ahLst/>
              <a:cxnLst/>
              <a:rect l="l" t="t" r="r" b="b"/>
              <a:pathLst>
                <a:path w="1125854" h="457200">
                  <a:moveTo>
                    <a:pt x="0" y="457200"/>
                  </a:moveTo>
                  <a:lnTo>
                    <a:pt x="1125537" y="457200"/>
                  </a:lnTo>
                  <a:lnTo>
                    <a:pt x="1125537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994650" y="3505200"/>
              <a:ext cx="1125855" cy="457200"/>
            </a:xfrm>
            <a:custGeom>
              <a:avLst/>
              <a:gdLst/>
              <a:ahLst/>
              <a:cxnLst/>
              <a:rect l="l" t="t" r="r" b="b"/>
              <a:pathLst>
                <a:path w="1125854" h="457200">
                  <a:moveTo>
                    <a:pt x="1125537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125537" y="457200"/>
                  </a:lnTo>
                  <a:lnTo>
                    <a:pt x="1125537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994650" y="3505200"/>
              <a:ext cx="1125855" cy="457200"/>
            </a:xfrm>
            <a:custGeom>
              <a:avLst/>
              <a:gdLst/>
              <a:ahLst/>
              <a:cxnLst/>
              <a:rect l="l" t="t" r="r" b="b"/>
              <a:pathLst>
                <a:path w="1125854" h="457200">
                  <a:moveTo>
                    <a:pt x="0" y="457200"/>
                  </a:moveTo>
                  <a:lnTo>
                    <a:pt x="1125537" y="457200"/>
                  </a:lnTo>
                  <a:lnTo>
                    <a:pt x="1125537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120250" y="3505200"/>
              <a:ext cx="1125855" cy="457200"/>
            </a:xfrm>
            <a:custGeom>
              <a:avLst/>
              <a:gdLst/>
              <a:ahLst/>
              <a:cxnLst/>
              <a:rect l="l" t="t" r="r" b="b"/>
              <a:pathLst>
                <a:path w="1125854" h="457200">
                  <a:moveTo>
                    <a:pt x="1125537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125537" y="457200"/>
                  </a:lnTo>
                  <a:lnTo>
                    <a:pt x="1125537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120250" y="3505200"/>
              <a:ext cx="1125855" cy="457200"/>
            </a:xfrm>
            <a:custGeom>
              <a:avLst/>
              <a:gdLst/>
              <a:ahLst/>
              <a:cxnLst/>
              <a:rect l="l" t="t" r="r" b="b"/>
              <a:pathLst>
                <a:path w="1125854" h="457200">
                  <a:moveTo>
                    <a:pt x="0" y="457200"/>
                  </a:moveTo>
                  <a:lnTo>
                    <a:pt x="1125537" y="457200"/>
                  </a:lnTo>
                  <a:lnTo>
                    <a:pt x="1125537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994650" y="4038600"/>
              <a:ext cx="1125855" cy="457200"/>
            </a:xfrm>
            <a:custGeom>
              <a:avLst/>
              <a:gdLst/>
              <a:ahLst/>
              <a:cxnLst/>
              <a:rect l="l" t="t" r="r" b="b"/>
              <a:pathLst>
                <a:path w="1125854" h="457200">
                  <a:moveTo>
                    <a:pt x="1125537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125537" y="457200"/>
                  </a:lnTo>
                  <a:lnTo>
                    <a:pt x="1125537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994650" y="4038600"/>
              <a:ext cx="1125855" cy="457200"/>
            </a:xfrm>
            <a:custGeom>
              <a:avLst/>
              <a:gdLst/>
              <a:ahLst/>
              <a:cxnLst/>
              <a:rect l="l" t="t" r="r" b="b"/>
              <a:pathLst>
                <a:path w="1125854" h="457200">
                  <a:moveTo>
                    <a:pt x="0" y="457200"/>
                  </a:moveTo>
                  <a:lnTo>
                    <a:pt x="1125537" y="457200"/>
                  </a:lnTo>
                  <a:lnTo>
                    <a:pt x="1125537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120250" y="4038600"/>
              <a:ext cx="1125855" cy="457200"/>
            </a:xfrm>
            <a:custGeom>
              <a:avLst/>
              <a:gdLst/>
              <a:ahLst/>
              <a:cxnLst/>
              <a:rect l="l" t="t" r="r" b="b"/>
              <a:pathLst>
                <a:path w="1125854" h="457200">
                  <a:moveTo>
                    <a:pt x="1125537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125537" y="457200"/>
                  </a:lnTo>
                  <a:lnTo>
                    <a:pt x="1125537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120250" y="4038600"/>
              <a:ext cx="1125855" cy="457200"/>
            </a:xfrm>
            <a:custGeom>
              <a:avLst/>
              <a:gdLst/>
              <a:ahLst/>
              <a:cxnLst/>
              <a:rect l="l" t="t" r="r" b="b"/>
              <a:pathLst>
                <a:path w="1125854" h="457200">
                  <a:moveTo>
                    <a:pt x="0" y="457200"/>
                  </a:moveTo>
                  <a:lnTo>
                    <a:pt x="1125537" y="457200"/>
                  </a:lnTo>
                  <a:lnTo>
                    <a:pt x="1125537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037576" y="3043554"/>
            <a:ext cx="199263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314450" algn="l"/>
              </a:tabLst>
            </a:pPr>
            <a:r>
              <a:rPr sz="1800" b="1" dirty="0">
                <a:latin typeface="Times New Roman"/>
                <a:cs typeface="Times New Roman"/>
              </a:rPr>
              <a:t>Property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spc="-50" dirty="0">
                <a:latin typeface="Times New Roman"/>
                <a:cs typeface="Times New Roman"/>
              </a:rPr>
              <a:t>1</a:t>
            </a:r>
            <a:r>
              <a:rPr sz="1800" b="1" dirty="0">
                <a:latin typeface="Times New Roman"/>
                <a:cs typeface="Times New Roman"/>
              </a:rPr>
              <a:t>	</a:t>
            </a:r>
            <a:r>
              <a:rPr sz="1800" b="1" spc="-25" dirty="0">
                <a:latin typeface="Times New Roman"/>
                <a:cs typeface="Times New Roman"/>
              </a:rPr>
              <a:t>Value1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0"/>
              </a:spcBef>
              <a:tabLst>
                <a:tab pos="1314450" algn="l"/>
              </a:tabLst>
            </a:pPr>
            <a:r>
              <a:rPr sz="1800" b="1" dirty="0">
                <a:latin typeface="Times New Roman"/>
                <a:cs typeface="Times New Roman"/>
              </a:rPr>
              <a:t>Property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50" dirty="0">
                <a:latin typeface="Times New Roman"/>
                <a:cs typeface="Times New Roman"/>
              </a:rPr>
              <a:t>2</a:t>
            </a:r>
            <a:r>
              <a:rPr sz="1800" b="1" dirty="0">
                <a:latin typeface="Times New Roman"/>
                <a:cs typeface="Times New Roman"/>
              </a:rPr>
              <a:t>	</a:t>
            </a:r>
            <a:r>
              <a:rPr sz="1800" b="1" spc="-25" dirty="0">
                <a:latin typeface="Times New Roman"/>
                <a:cs typeface="Times New Roman"/>
              </a:rPr>
              <a:t>Value2</a:t>
            </a:r>
            <a:endParaRPr sz="1800">
              <a:latin typeface="Times New Roman"/>
              <a:cs typeface="Times New Roman"/>
            </a:endParaRPr>
          </a:p>
          <a:p>
            <a:pPr marL="406400">
              <a:lnSpc>
                <a:spcPct val="100000"/>
              </a:lnSpc>
              <a:spcBef>
                <a:spcPts val="2039"/>
              </a:spcBef>
              <a:tabLst>
                <a:tab pos="1532255" algn="l"/>
              </a:tabLst>
            </a:pPr>
            <a:r>
              <a:rPr sz="1800" b="1" spc="-50" dirty="0">
                <a:latin typeface="Times New Roman"/>
                <a:cs typeface="Times New Roman"/>
              </a:rPr>
              <a:t>…</a:t>
            </a:r>
            <a:r>
              <a:rPr sz="1800" b="1" dirty="0">
                <a:latin typeface="Times New Roman"/>
                <a:cs typeface="Times New Roman"/>
              </a:rPr>
              <a:t>	</a:t>
            </a:r>
            <a:r>
              <a:rPr sz="1800" b="1" spc="-50" dirty="0">
                <a:latin typeface="Times New Roman"/>
                <a:cs typeface="Times New Roman"/>
              </a:rPr>
              <a:t>…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989887" y="5634037"/>
            <a:ext cx="1135380" cy="466725"/>
            <a:chOff x="7989887" y="5634037"/>
            <a:chExt cx="1135380" cy="466725"/>
          </a:xfrm>
        </p:grpSpPr>
        <p:sp>
          <p:nvSpPr>
            <p:cNvPr id="27" name="object 27"/>
            <p:cNvSpPr/>
            <p:nvPr/>
          </p:nvSpPr>
          <p:spPr>
            <a:xfrm>
              <a:off x="7994650" y="5638800"/>
              <a:ext cx="1125855" cy="457200"/>
            </a:xfrm>
            <a:custGeom>
              <a:avLst/>
              <a:gdLst/>
              <a:ahLst/>
              <a:cxnLst/>
              <a:rect l="l" t="t" r="r" b="b"/>
              <a:pathLst>
                <a:path w="1125854" h="457200">
                  <a:moveTo>
                    <a:pt x="1125537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125537" y="457200"/>
                  </a:lnTo>
                  <a:lnTo>
                    <a:pt x="1125537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994650" y="5638800"/>
              <a:ext cx="1125855" cy="457200"/>
            </a:xfrm>
            <a:custGeom>
              <a:avLst/>
              <a:gdLst/>
              <a:ahLst/>
              <a:cxnLst/>
              <a:rect l="l" t="t" r="r" b="b"/>
              <a:pathLst>
                <a:path w="1125854" h="457200">
                  <a:moveTo>
                    <a:pt x="0" y="457200"/>
                  </a:moveTo>
                  <a:lnTo>
                    <a:pt x="1125537" y="457200"/>
                  </a:lnTo>
                  <a:lnTo>
                    <a:pt x="1125537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444483" y="5711138"/>
            <a:ext cx="241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Times New Roman"/>
                <a:cs typeface="Times New Roman"/>
              </a:rPr>
              <a:t>…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115488" y="5634037"/>
            <a:ext cx="1135380" cy="466725"/>
            <a:chOff x="9115488" y="5634037"/>
            <a:chExt cx="1135380" cy="466725"/>
          </a:xfrm>
        </p:grpSpPr>
        <p:sp>
          <p:nvSpPr>
            <p:cNvPr id="31" name="object 31"/>
            <p:cNvSpPr/>
            <p:nvPr/>
          </p:nvSpPr>
          <p:spPr>
            <a:xfrm>
              <a:off x="9120251" y="5638800"/>
              <a:ext cx="1125855" cy="457200"/>
            </a:xfrm>
            <a:custGeom>
              <a:avLst/>
              <a:gdLst/>
              <a:ahLst/>
              <a:cxnLst/>
              <a:rect l="l" t="t" r="r" b="b"/>
              <a:pathLst>
                <a:path w="1125854" h="457200">
                  <a:moveTo>
                    <a:pt x="1125537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125537" y="457200"/>
                  </a:lnTo>
                  <a:lnTo>
                    <a:pt x="1125537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120251" y="5638800"/>
              <a:ext cx="1125855" cy="457200"/>
            </a:xfrm>
            <a:custGeom>
              <a:avLst/>
              <a:gdLst/>
              <a:ahLst/>
              <a:cxnLst/>
              <a:rect l="l" t="t" r="r" b="b"/>
              <a:pathLst>
                <a:path w="1125854" h="457200">
                  <a:moveTo>
                    <a:pt x="0" y="457200"/>
                  </a:moveTo>
                  <a:lnTo>
                    <a:pt x="1125537" y="457200"/>
                  </a:lnTo>
                  <a:lnTo>
                    <a:pt x="1125537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9570084" y="5711138"/>
            <a:ext cx="241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Times New Roman"/>
                <a:cs typeface="Times New Roman"/>
              </a:rPr>
              <a:t>…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8374" y="1232661"/>
            <a:ext cx="4403090" cy="4708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034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Palatino Linotype"/>
                <a:cs typeface="Palatino Linotype"/>
              </a:rPr>
              <a:t>-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Nếu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Frame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biểu</a:t>
            </a:r>
            <a:r>
              <a:rPr sz="2400" spc="-5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diễn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cho</a:t>
            </a:r>
            <a:r>
              <a:rPr sz="2400" spc="-55" dirty="0">
                <a:latin typeface="Palatino Linotype"/>
                <a:cs typeface="Palatino Linotype"/>
              </a:rPr>
              <a:t> </a:t>
            </a:r>
            <a:r>
              <a:rPr sz="2400" spc="-25" dirty="0">
                <a:latin typeface="Palatino Linotype"/>
                <a:cs typeface="Palatino Linotype"/>
              </a:rPr>
              <a:t>một </a:t>
            </a:r>
            <a:r>
              <a:rPr sz="2400" dirty="0">
                <a:latin typeface="Palatino Linotype"/>
                <a:cs typeface="Palatino Linotype"/>
              </a:rPr>
              <a:t>lớp,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thì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đây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là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tên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lớp.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Ví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spc="-25" dirty="0">
                <a:latin typeface="Palatino Linotype"/>
                <a:cs typeface="Palatino Linotype"/>
              </a:rPr>
              <a:t>dụ: </a:t>
            </a:r>
            <a:r>
              <a:rPr sz="2400" dirty="0">
                <a:latin typeface="Palatino Linotype"/>
                <a:cs typeface="Palatino Linotype"/>
              </a:rPr>
              <a:t>chim,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động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vật,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spc="-50" dirty="0">
                <a:latin typeface="Palatino Linotype"/>
                <a:cs typeface="Palatino Linotype"/>
              </a:rPr>
              <a:t>…</a:t>
            </a:r>
            <a:endParaRPr sz="24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b="1" i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2.</a:t>
            </a:r>
            <a:r>
              <a:rPr sz="2400" b="1" i="1" u="sng" spc="-3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2400" b="1" i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Class:</a:t>
            </a:r>
            <a:r>
              <a:rPr sz="2400" b="1" i="1" u="sng" spc="-3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Tên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loại.</a:t>
            </a:r>
            <a:endParaRPr sz="2400">
              <a:latin typeface="Palatino Linotype"/>
              <a:cs typeface="Palatino Linotype"/>
            </a:endParaRPr>
          </a:p>
          <a:p>
            <a:pPr marL="12700" marR="5080">
              <a:lnSpc>
                <a:spcPct val="99200"/>
              </a:lnSpc>
              <a:spcBef>
                <a:spcPts val="595"/>
              </a:spcBef>
            </a:pPr>
            <a:r>
              <a:rPr sz="2400" dirty="0">
                <a:latin typeface="Palatino Linotype"/>
                <a:cs typeface="Palatino Linotype"/>
              </a:rPr>
              <a:t>-</a:t>
            </a:r>
            <a:r>
              <a:rPr sz="2400" spc="-5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Nếu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thành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phần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này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xuất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hiện, </a:t>
            </a:r>
            <a:r>
              <a:rPr sz="2400" dirty="0">
                <a:latin typeface="Palatino Linotype"/>
                <a:cs typeface="Palatino Linotype"/>
              </a:rPr>
              <a:t>nó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cho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biết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rằng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frame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spc="-25" dirty="0">
                <a:latin typeface="Palatino Linotype"/>
                <a:cs typeface="Palatino Linotype"/>
              </a:rPr>
              <a:t>mà </a:t>
            </a:r>
            <a:r>
              <a:rPr sz="2400" dirty="0">
                <a:latin typeface="Palatino Linotype"/>
                <a:cs typeface="Palatino Linotype"/>
              </a:rPr>
              <a:t>chúng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ta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đang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biểu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diễn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có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loại </a:t>
            </a:r>
            <a:r>
              <a:rPr sz="2400" dirty="0">
                <a:latin typeface="Palatino Linotype"/>
                <a:cs typeface="Palatino Linotype"/>
              </a:rPr>
              <a:t>là</a:t>
            </a:r>
            <a:r>
              <a:rPr sz="2400" spc="-6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giá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trị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trường class.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500" spc="-130" dirty="0">
                <a:latin typeface="Wingdings"/>
                <a:cs typeface="Wingdings"/>
              </a:rPr>
              <a:t>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400" b="1" i="1" spc="-25" dirty="0">
                <a:latin typeface="Palatino Linotype"/>
                <a:cs typeface="Palatino Linotype"/>
              </a:rPr>
              <a:t>Cho </a:t>
            </a:r>
            <a:r>
              <a:rPr sz="2400" b="1" i="1" dirty="0">
                <a:latin typeface="Palatino Linotype"/>
                <a:cs typeface="Palatino Linotype"/>
              </a:rPr>
              <a:t>phép</a:t>
            </a:r>
            <a:r>
              <a:rPr sz="2400" b="1" i="1" spc="-55" dirty="0">
                <a:latin typeface="Palatino Linotype"/>
                <a:cs typeface="Palatino Linotype"/>
              </a:rPr>
              <a:t> </a:t>
            </a:r>
            <a:r>
              <a:rPr sz="2400" b="1" i="1" dirty="0">
                <a:latin typeface="Palatino Linotype"/>
                <a:cs typeface="Palatino Linotype"/>
              </a:rPr>
              <a:t>thành</a:t>
            </a:r>
            <a:r>
              <a:rPr sz="2400" b="1" i="1" spc="-40" dirty="0">
                <a:latin typeface="Palatino Linotype"/>
                <a:cs typeface="Palatino Linotype"/>
              </a:rPr>
              <a:t> </a:t>
            </a:r>
            <a:r>
              <a:rPr sz="2400" b="1" i="1" dirty="0">
                <a:latin typeface="Palatino Linotype"/>
                <a:cs typeface="Palatino Linotype"/>
              </a:rPr>
              <a:t>lập</a:t>
            </a:r>
            <a:r>
              <a:rPr sz="2400" b="1" i="1" spc="-55" dirty="0">
                <a:latin typeface="Palatino Linotype"/>
                <a:cs typeface="Palatino Linotype"/>
              </a:rPr>
              <a:t> </a:t>
            </a:r>
            <a:r>
              <a:rPr sz="2400" b="1" i="1" dirty="0">
                <a:latin typeface="Palatino Linotype"/>
                <a:cs typeface="Palatino Linotype"/>
              </a:rPr>
              <a:t>quan</a:t>
            </a:r>
            <a:r>
              <a:rPr sz="2400" b="1" i="1" spc="-40" dirty="0">
                <a:latin typeface="Palatino Linotype"/>
                <a:cs typeface="Palatino Linotype"/>
              </a:rPr>
              <a:t> </a:t>
            </a:r>
            <a:r>
              <a:rPr sz="2400" b="1" i="1" dirty="0">
                <a:latin typeface="Palatino Linotype"/>
                <a:cs typeface="Palatino Linotype"/>
              </a:rPr>
              <a:t>hệ</a:t>
            </a:r>
            <a:r>
              <a:rPr sz="2400" b="1" i="1" spc="-55" dirty="0">
                <a:latin typeface="Palatino Linotype"/>
                <a:cs typeface="Palatino Linotype"/>
              </a:rPr>
              <a:t> </a:t>
            </a:r>
            <a:r>
              <a:rPr sz="2400" b="1" i="1" dirty="0">
                <a:latin typeface="Palatino Linotype"/>
                <a:cs typeface="Palatino Linotype"/>
              </a:rPr>
              <a:t>thừa</a:t>
            </a:r>
            <a:r>
              <a:rPr sz="2400" b="1" i="1" spc="-40" dirty="0">
                <a:latin typeface="Palatino Linotype"/>
                <a:cs typeface="Palatino Linotype"/>
              </a:rPr>
              <a:t> </a:t>
            </a:r>
            <a:r>
              <a:rPr sz="2400" b="1" i="1" spc="-25" dirty="0">
                <a:latin typeface="Palatino Linotype"/>
                <a:cs typeface="Palatino Linotype"/>
              </a:rPr>
              <a:t>kế </a:t>
            </a:r>
            <a:r>
              <a:rPr sz="2400" b="1" i="1" spc="-20" dirty="0">
                <a:latin typeface="Palatino Linotype"/>
                <a:cs typeface="Palatino Linotype"/>
              </a:rPr>
              <a:t>IS-</a:t>
            </a:r>
            <a:r>
              <a:rPr sz="2400" b="1" i="1" spc="-35" dirty="0">
                <a:latin typeface="Palatino Linotype"/>
                <a:cs typeface="Palatino Linotype"/>
              </a:rPr>
              <a:t>A.</a:t>
            </a:r>
            <a:endParaRPr sz="2400">
              <a:latin typeface="Palatino Linotype"/>
              <a:cs typeface="Palatino Linotype"/>
            </a:endParaRPr>
          </a:p>
          <a:p>
            <a:pPr marL="47879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Palatino Linotype"/>
                <a:cs typeface="Palatino Linotype"/>
              </a:rPr>
              <a:t>Như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ví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dụ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trên,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chúng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ta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spc="-25" dirty="0">
                <a:latin typeface="Palatino Linotype"/>
                <a:cs typeface="Palatino Linotype"/>
              </a:rPr>
              <a:t>có:</a:t>
            </a:r>
            <a:endParaRPr sz="2400">
              <a:latin typeface="Palatino Linotype"/>
              <a:cs typeface="Palatino Linotype"/>
            </a:endParaRPr>
          </a:p>
          <a:p>
            <a:pPr marL="478790">
              <a:lnSpc>
                <a:spcPct val="100000"/>
              </a:lnSpc>
              <a:spcBef>
                <a:spcPts val="575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Object1</a:t>
            </a:r>
            <a:r>
              <a:rPr sz="2400" b="1" u="sng" spc="-1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IS-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A</a:t>
            </a:r>
            <a:r>
              <a:rPr sz="2400" b="1" u="sng" spc="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Object2</a:t>
            </a:r>
            <a:endParaRPr sz="24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02348" y="927861"/>
            <a:ext cx="4487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87800" algn="l"/>
              </a:tabLst>
            </a:pPr>
            <a:r>
              <a:rPr sz="2400" b="1" i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3.</a:t>
            </a:r>
            <a:r>
              <a:rPr sz="2400" b="1" i="1" u="sng" spc="-3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2400" b="1" i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Các</a:t>
            </a:r>
            <a:r>
              <a:rPr sz="2400" b="1" i="1" u="sng" spc="-3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2400" b="1" i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thuộc</a:t>
            </a:r>
            <a:r>
              <a:rPr sz="2400" b="1" i="1" u="sng" spc="-1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2400" b="1" i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tính</a:t>
            </a:r>
            <a:r>
              <a:rPr sz="2400" b="1" i="1" u="sng" spc="-3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2400" b="1" i="1" u="sng" spc="-1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(property):</a:t>
            </a:r>
            <a:r>
              <a:rPr sz="2400" b="1" i="1" dirty="0">
                <a:latin typeface="Palatino Linotype"/>
                <a:cs typeface="Palatino Linotype"/>
              </a:rPr>
              <a:t>	</a:t>
            </a:r>
            <a:r>
              <a:rPr sz="2400" spc="-25" dirty="0">
                <a:latin typeface="Palatino Linotype"/>
                <a:cs typeface="Palatino Linotype"/>
              </a:rPr>
              <a:t>Khi</a:t>
            </a:r>
            <a:endParaRPr sz="24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02348" y="1293621"/>
            <a:ext cx="489394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Palatino Linotype"/>
                <a:cs typeface="Palatino Linotype"/>
              </a:rPr>
              <a:t>biểu</a:t>
            </a:r>
            <a:r>
              <a:rPr sz="2400" spc="-5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diễn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một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frame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chúng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ta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có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spc="-25" dirty="0">
                <a:latin typeface="Palatino Linotype"/>
                <a:cs typeface="Palatino Linotype"/>
              </a:rPr>
              <a:t>thể </a:t>
            </a:r>
            <a:r>
              <a:rPr sz="2400" dirty="0">
                <a:latin typeface="Palatino Linotype"/>
                <a:cs typeface="Palatino Linotype"/>
              </a:rPr>
              <a:t>thiết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lập</a:t>
            </a:r>
            <a:r>
              <a:rPr sz="2400" spc="-6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một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hay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nhiều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thuộc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tính </a:t>
            </a:r>
            <a:r>
              <a:rPr sz="2400" dirty="0">
                <a:latin typeface="Palatino Linotype"/>
                <a:cs typeface="Palatino Linotype"/>
              </a:rPr>
              <a:t>cho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nó,</a:t>
            </a:r>
            <a:r>
              <a:rPr sz="2400" spc="-1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như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ví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dụ</a:t>
            </a:r>
            <a:r>
              <a:rPr sz="2400" spc="-20" dirty="0">
                <a:latin typeface="Palatino Linotype"/>
                <a:cs typeface="Palatino Linotype"/>
              </a:rPr>
              <a:t> sau:</a:t>
            </a:r>
            <a:endParaRPr sz="2400">
              <a:latin typeface="Palatino Linotype"/>
              <a:cs typeface="Palatino Linotyp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583362" y="2662237"/>
            <a:ext cx="3878579" cy="3286125"/>
            <a:chOff x="6583362" y="2662237"/>
            <a:chExt cx="3878579" cy="3286125"/>
          </a:xfrm>
        </p:grpSpPr>
        <p:sp>
          <p:nvSpPr>
            <p:cNvPr id="6" name="object 6"/>
            <p:cNvSpPr/>
            <p:nvPr/>
          </p:nvSpPr>
          <p:spPr>
            <a:xfrm>
              <a:off x="6588125" y="2667000"/>
              <a:ext cx="3869054" cy="3276600"/>
            </a:xfrm>
            <a:custGeom>
              <a:avLst/>
              <a:gdLst/>
              <a:ahLst/>
              <a:cxnLst/>
              <a:rect l="l" t="t" r="r" b="b"/>
              <a:pathLst>
                <a:path w="3869054" h="3276600">
                  <a:moveTo>
                    <a:pt x="3868801" y="0"/>
                  </a:moveTo>
                  <a:lnTo>
                    <a:pt x="0" y="0"/>
                  </a:lnTo>
                  <a:lnTo>
                    <a:pt x="0" y="3276600"/>
                  </a:lnTo>
                  <a:lnTo>
                    <a:pt x="3868801" y="3276600"/>
                  </a:lnTo>
                  <a:lnTo>
                    <a:pt x="3868801" y="0"/>
                  </a:lnTo>
                  <a:close/>
                </a:path>
              </a:pathLst>
            </a:custGeom>
            <a:solidFill>
              <a:srgbClr val="DBE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88125" y="2667000"/>
              <a:ext cx="3869054" cy="3276600"/>
            </a:xfrm>
            <a:custGeom>
              <a:avLst/>
              <a:gdLst/>
              <a:ahLst/>
              <a:cxnLst/>
              <a:rect l="l" t="t" r="r" b="b"/>
              <a:pathLst>
                <a:path w="3869054" h="3276600">
                  <a:moveTo>
                    <a:pt x="0" y="3276600"/>
                  </a:moveTo>
                  <a:lnTo>
                    <a:pt x="3868801" y="3276600"/>
                  </a:lnTo>
                  <a:lnTo>
                    <a:pt x="3868801" y="0"/>
                  </a:lnTo>
                  <a:lnTo>
                    <a:pt x="0" y="0"/>
                  </a:lnTo>
                  <a:lnTo>
                    <a:pt x="0" y="3276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94650" y="2743200"/>
              <a:ext cx="2392680" cy="381000"/>
            </a:xfrm>
            <a:custGeom>
              <a:avLst/>
              <a:gdLst/>
              <a:ahLst/>
              <a:cxnLst/>
              <a:rect l="l" t="t" r="r" b="b"/>
              <a:pathLst>
                <a:path w="2392679" h="381000">
                  <a:moveTo>
                    <a:pt x="2392426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2392426" y="381000"/>
                  </a:lnTo>
                  <a:lnTo>
                    <a:pt x="2392426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994650" y="2743200"/>
              <a:ext cx="2392680" cy="381000"/>
            </a:xfrm>
            <a:custGeom>
              <a:avLst/>
              <a:gdLst/>
              <a:ahLst/>
              <a:cxnLst/>
              <a:rect l="l" t="t" r="r" b="b"/>
              <a:pathLst>
                <a:path w="2392679" h="381000">
                  <a:moveTo>
                    <a:pt x="0" y="381000"/>
                  </a:moveTo>
                  <a:lnTo>
                    <a:pt x="2392426" y="381000"/>
                  </a:lnTo>
                  <a:lnTo>
                    <a:pt x="2392426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667627" y="2783585"/>
            <a:ext cx="2778125" cy="74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100"/>
              </a:spcBef>
              <a:tabLst>
                <a:tab pos="2282190" algn="l"/>
              </a:tabLst>
            </a:pPr>
            <a:r>
              <a:rPr sz="1800" b="1" dirty="0">
                <a:latin typeface="Times New Roman"/>
                <a:cs typeface="Times New Roman"/>
              </a:rPr>
              <a:t>Frame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name:</a:t>
            </a:r>
            <a:r>
              <a:rPr sz="1800" b="1" dirty="0">
                <a:latin typeface="Times New Roman"/>
                <a:cs typeface="Times New Roman"/>
              </a:rPr>
              <a:t>	</a:t>
            </a:r>
            <a:r>
              <a:rPr sz="2700" b="1" spc="-30" baseline="1543" dirty="0">
                <a:latin typeface="Times New Roman"/>
                <a:cs typeface="Times New Roman"/>
              </a:rPr>
              <a:t>chim</a:t>
            </a:r>
            <a:endParaRPr sz="2700" baseline="1543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1800" b="1" spc="-10" dirty="0">
                <a:latin typeface="Times New Roman"/>
                <a:cs typeface="Times New Roman"/>
              </a:rPr>
              <a:t>Properties: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23494" y="72339"/>
            <a:ext cx="73482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455F51"/>
                </a:solidFill>
              </a:rPr>
              <a:t>Biểu</a:t>
            </a:r>
            <a:r>
              <a:rPr sz="4800" spc="-20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diễn</a:t>
            </a:r>
            <a:r>
              <a:rPr sz="4800" spc="-20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tri</a:t>
            </a:r>
            <a:r>
              <a:rPr sz="4800" spc="-20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thức</a:t>
            </a:r>
            <a:r>
              <a:rPr sz="4800" spc="-20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bằng</a:t>
            </a:r>
            <a:r>
              <a:rPr sz="4800" spc="-40" dirty="0">
                <a:solidFill>
                  <a:srgbClr val="455F51"/>
                </a:solidFill>
              </a:rPr>
              <a:t> </a:t>
            </a:r>
            <a:r>
              <a:rPr sz="4800" spc="-10" dirty="0">
                <a:solidFill>
                  <a:srgbClr val="455F51"/>
                </a:solidFill>
              </a:rPr>
              <a:t>Frame</a:t>
            </a:r>
            <a:endParaRPr sz="480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19</a:t>
            </a:fld>
            <a:endParaRPr spc="-25" dirty="0">
              <a:latin typeface="Arial"/>
              <a:cs typeface="Arial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7216838" y="3576637"/>
          <a:ext cx="3023870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1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1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màu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539E3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Chưa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biết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539E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ăn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539E39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Côn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trùng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539E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Số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cánh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539E3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539E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bay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539E3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true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539E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đói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539E3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Chưa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biết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539E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Hoạt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động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539E3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Chưa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biết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539E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109141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590800" y="1143000"/>
            <a:ext cx="3124200" cy="50292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0"/>
              </a:spcBef>
            </a:pPr>
            <a:r>
              <a:rPr sz="1900" i="1" dirty="0">
                <a:latin typeface="Palatino Linotype"/>
                <a:cs typeface="Palatino Linotype"/>
              </a:rPr>
              <a:t>Frame</a:t>
            </a:r>
            <a:r>
              <a:rPr sz="1900" i="1" spc="-25" dirty="0">
                <a:latin typeface="Palatino Linotype"/>
                <a:cs typeface="Palatino Linotype"/>
              </a:rPr>
              <a:t> </a:t>
            </a:r>
            <a:r>
              <a:rPr sz="1900" i="1" dirty="0">
                <a:latin typeface="Palatino Linotype"/>
                <a:cs typeface="Palatino Linotype"/>
              </a:rPr>
              <a:t>:</a:t>
            </a:r>
            <a:r>
              <a:rPr sz="1900" i="1" spc="40" dirty="0">
                <a:latin typeface="Palatino Linotype"/>
                <a:cs typeface="Palatino Linotype"/>
              </a:rPr>
              <a:t> </a:t>
            </a:r>
            <a:r>
              <a:rPr sz="1900" b="1" i="1" spc="-10" dirty="0">
                <a:latin typeface="Palatino Linotype"/>
                <a:cs typeface="Palatino Linotype"/>
              </a:rPr>
              <a:t>CIRCLE</a:t>
            </a:r>
            <a:endParaRPr sz="1900">
              <a:latin typeface="Palatino Linotype"/>
              <a:cs typeface="Palatino Linotype"/>
            </a:endParaRPr>
          </a:p>
          <a:p>
            <a:pPr marL="91440">
              <a:lnSpc>
                <a:spcPct val="100000"/>
              </a:lnSpc>
              <a:spcBef>
                <a:spcPts val="229"/>
              </a:spcBef>
            </a:pPr>
            <a:r>
              <a:rPr sz="1900" i="1" dirty="0">
                <a:latin typeface="Palatino Linotype"/>
                <a:cs typeface="Palatino Linotype"/>
              </a:rPr>
              <a:t>(h</a:t>
            </a:r>
            <a:r>
              <a:rPr sz="1900" i="1" dirty="0">
                <a:latin typeface="Arial"/>
                <a:cs typeface="Arial"/>
              </a:rPr>
              <a:t>ì</a:t>
            </a:r>
            <a:r>
              <a:rPr sz="1900" i="1" dirty="0">
                <a:latin typeface="Palatino Linotype"/>
                <a:cs typeface="Palatino Linotype"/>
              </a:rPr>
              <a:t>nh</a:t>
            </a:r>
            <a:r>
              <a:rPr sz="1900" i="1" spc="-40" dirty="0">
                <a:latin typeface="Palatino Linotype"/>
                <a:cs typeface="Palatino Linotype"/>
              </a:rPr>
              <a:t> </a:t>
            </a:r>
            <a:r>
              <a:rPr sz="1900" i="1" spc="-10" dirty="0">
                <a:latin typeface="Palatino Linotype"/>
                <a:cs typeface="Palatino Linotype"/>
              </a:rPr>
              <a:t>tròn)</a:t>
            </a:r>
            <a:endParaRPr sz="1900">
              <a:latin typeface="Palatino Linotype"/>
              <a:cs typeface="Palatino Linotype"/>
            </a:endParaRPr>
          </a:p>
          <a:p>
            <a:pPr marL="730885" indent="-246379">
              <a:lnSpc>
                <a:spcPct val="100000"/>
              </a:lnSpc>
              <a:spcBef>
                <a:spcPts val="219"/>
              </a:spcBef>
              <a:buClr>
                <a:srgbClr val="539E39"/>
              </a:buClr>
              <a:buSzPct val="83333"/>
              <a:buFont typeface="Wingdings 2"/>
              <a:buChar char=""/>
              <a:tabLst>
                <a:tab pos="730885" algn="l"/>
              </a:tabLst>
            </a:pPr>
            <a:r>
              <a:rPr sz="2100" i="1" dirty="0">
                <a:latin typeface="Palatino Linotype"/>
                <a:cs typeface="Palatino Linotype"/>
              </a:rPr>
              <a:t>r</a:t>
            </a:r>
            <a:r>
              <a:rPr sz="2100" i="1" spc="-15" dirty="0">
                <a:latin typeface="Palatino Linotype"/>
                <a:cs typeface="Palatino Linotype"/>
              </a:rPr>
              <a:t> </a:t>
            </a:r>
            <a:r>
              <a:rPr sz="2100" i="1" dirty="0">
                <a:latin typeface="Palatino Linotype"/>
                <a:cs typeface="Palatino Linotype"/>
              </a:rPr>
              <a:t>: </a:t>
            </a:r>
            <a:r>
              <a:rPr sz="2100" i="1" spc="-10" dirty="0">
                <a:latin typeface="Palatino Linotype"/>
                <a:cs typeface="Palatino Linotype"/>
              </a:rPr>
              <a:t>radius;</a:t>
            </a:r>
            <a:endParaRPr sz="2100">
              <a:latin typeface="Palatino Linotype"/>
              <a:cs typeface="Palatino Linotype"/>
            </a:endParaRPr>
          </a:p>
          <a:p>
            <a:pPr marL="730885" indent="-246379">
              <a:lnSpc>
                <a:spcPct val="100000"/>
              </a:lnSpc>
              <a:spcBef>
                <a:spcPts val="254"/>
              </a:spcBef>
              <a:buClr>
                <a:srgbClr val="539E39"/>
              </a:buClr>
              <a:buSzPct val="83333"/>
              <a:buFont typeface="Wingdings 2"/>
              <a:buChar char=""/>
              <a:tabLst>
                <a:tab pos="730885" algn="l"/>
              </a:tabLst>
            </a:pPr>
            <a:r>
              <a:rPr sz="2100" i="1" dirty="0">
                <a:latin typeface="Palatino Linotype"/>
                <a:cs typeface="Palatino Linotype"/>
              </a:rPr>
              <a:t>s</a:t>
            </a:r>
            <a:r>
              <a:rPr sz="2100" i="1" spc="-15" dirty="0">
                <a:latin typeface="Palatino Linotype"/>
                <a:cs typeface="Palatino Linotype"/>
              </a:rPr>
              <a:t> </a:t>
            </a:r>
            <a:r>
              <a:rPr sz="2100" i="1" dirty="0">
                <a:latin typeface="Palatino Linotype"/>
                <a:cs typeface="Palatino Linotype"/>
              </a:rPr>
              <a:t>: </a:t>
            </a:r>
            <a:r>
              <a:rPr sz="2100" i="1" spc="-20" dirty="0">
                <a:latin typeface="Palatino Linotype"/>
                <a:cs typeface="Palatino Linotype"/>
              </a:rPr>
              <a:t>area;</a:t>
            </a:r>
            <a:endParaRPr sz="2100">
              <a:latin typeface="Palatino Linotype"/>
              <a:cs typeface="Palatino Linotype"/>
            </a:endParaRPr>
          </a:p>
          <a:p>
            <a:pPr marL="730885" indent="-246379">
              <a:lnSpc>
                <a:spcPct val="100000"/>
              </a:lnSpc>
              <a:spcBef>
                <a:spcPts val="250"/>
              </a:spcBef>
              <a:buClr>
                <a:srgbClr val="539E39"/>
              </a:buClr>
              <a:buSzPct val="83333"/>
              <a:buFont typeface="Wingdings 2"/>
              <a:buChar char=""/>
              <a:tabLst>
                <a:tab pos="730885" algn="l"/>
              </a:tabLst>
            </a:pPr>
            <a:r>
              <a:rPr sz="2100" i="1" dirty="0">
                <a:latin typeface="Palatino Linotype"/>
                <a:cs typeface="Palatino Linotype"/>
              </a:rPr>
              <a:t>p</a:t>
            </a:r>
            <a:r>
              <a:rPr sz="2100" i="1" spc="-10" dirty="0">
                <a:latin typeface="Palatino Linotype"/>
                <a:cs typeface="Palatino Linotype"/>
              </a:rPr>
              <a:t> </a:t>
            </a:r>
            <a:r>
              <a:rPr sz="2100" i="1" dirty="0">
                <a:latin typeface="Palatino Linotype"/>
                <a:cs typeface="Palatino Linotype"/>
              </a:rPr>
              <a:t>: </a:t>
            </a:r>
            <a:r>
              <a:rPr sz="2100" i="1" spc="-10" dirty="0">
                <a:latin typeface="Palatino Linotype"/>
                <a:cs typeface="Palatino Linotype"/>
              </a:rPr>
              <a:t>perimeter;</a:t>
            </a:r>
            <a:endParaRPr sz="2100">
              <a:latin typeface="Palatino Linotype"/>
              <a:cs typeface="Palatino Linotype"/>
            </a:endParaRPr>
          </a:p>
          <a:p>
            <a:pPr marL="730885" indent="-246379">
              <a:lnSpc>
                <a:spcPct val="100000"/>
              </a:lnSpc>
              <a:spcBef>
                <a:spcPts val="250"/>
              </a:spcBef>
              <a:buClr>
                <a:srgbClr val="539E39"/>
              </a:buClr>
              <a:buSzPct val="83333"/>
              <a:buFont typeface="Wingdings 2"/>
              <a:buChar char=""/>
              <a:tabLst>
                <a:tab pos="730885" algn="l"/>
              </a:tabLst>
            </a:pPr>
            <a:r>
              <a:rPr sz="2100" i="1" dirty="0">
                <a:latin typeface="Palatino Linotype"/>
                <a:cs typeface="Palatino Linotype"/>
              </a:rPr>
              <a:t>d : </a:t>
            </a:r>
            <a:r>
              <a:rPr sz="2100" i="1" spc="-10" dirty="0">
                <a:latin typeface="Palatino Linotype"/>
                <a:cs typeface="Palatino Linotype"/>
              </a:rPr>
              <a:t>diameter;</a:t>
            </a:r>
            <a:endParaRPr sz="2100">
              <a:latin typeface="Palatino Linotype"/>
              <a:cs typeface="Palatino Linotype"/>
            </a:endParaRPr>
          </a:p>
          <a:p>
            <a:pPr marL="730885" indent="-246379">
              <a:lnSpc>
                <a:spcPct val="100000"/>
              </a:lnSpc>
              <a:spcBef>
                <a:spcPts val="204"/>
              </a:spcBef>
              <a:buClr>
                <a:srgbClr val="539E39"/>
              </a:buClr>
              <a:buSzPct val="83333"/>
              <a:buFont typeface="Wingdings 2"/>
              <a:buChar char=""/>
              <a:tabLst>
                <a:tab pos="730885" algn="l"/>
              </a:tabLst>
            </a:pPr>
            <a:r>
              <a:rPr sz="2100" i="1" dirty="0">
                <a:latin typeface="Palatino Linotype"/>
                <a:cs typeface="Palatino Linotype"/>
              </a:rPr>
              <a:t>d = 2</a:t>
            </a:r>
            <a:r>
              <a:rPr sz="2100" i="1" spc="5" dirty="0">
                <a:latin typeface="Palatino Linotype"/>
                <a:cs typeface="Palatino Linotype"/>
              </a:rPr>
              <a:t> </a:t>
            </a:r>
            <a:r>
              <a:rPr sz="2200" spc="-110" dirty="0">
                <a:latin typeface="MS PGothic"/>
                <a:cs typeface="MS PGothic"/>
              </a:rPr>
              <a:t>×</a:t>
            </a:r>
            <a:r>
              <a:rPr sz="2200" spc="-155" dirty="0">
                <a:latin typeface="MS PGothic"/>
                <a:cs typeface="MS PGothic"/>
              </a:rPr>
              <a:t> </a:t>
            </a:r>
            <a:r>
              <a:rPr sz="2100" i="1" spc="-25" dirty="0">
                <a:latin typeface="Palatino Linotype"/>
                <a:cs typeface="Palatino Linotype"/>
              </a:rPr>
              <a:t>r;</a:t>
            </a:r>
            <a:endParaRPr sz="2100">
              <a:latin typeface="Palatino Linotype"/>
              <a:cs typeface="Palatino Linotype"/>
            </a:endParaRPr>
          </a:p>
          <a:p>
            <a:pPr marL="730885" indent="-246379">
              <a:lnSpc>
                <a:spcPct val="100000"/>
              </a:lnSpc>
              <a:spcBef>
                <a:spcPts val="130"/>
              </a:spcBef>
              <a:buClr>
                <a:srgbClr val="539E39"/>
              </a:buClr>
              <a:buSzPct val="85714"/>
              <a:buFont typeface="Wingdings 2"/>
              <a:buChar char=""/>
              <a:tabLst>
                <a:tab pos="730885" algn="l"/>
              </a:tabLst>
            </a:pPr>
            <a:r>
              <a:rPr sz="2100" i="1" dirty="0">
                <a:latin typeface="Palatino Linotype"/>
                <a:cs typeface="Palatino Linotype"/>
              </a:rPr>
              <a:t>s</a:t>
            </a:r>
            <a:r>
              <a:rPr sz="2100" i="1" spc="-25" dirty="0">
                <a:latin typeface="Palatino Linotype"/>
                <a:cs typeface="Palatino Linotype"/>
              </a:rPr>
              <a:t> </a:t>
            </a:r>
            <a:r>
              <a:rPr sz="2100" i="1" dirty="0">
                <a:latin typeface="Palatino Linotype"/>
                <a:cs typeface="Palatino Linotype"/>
              </a:rPr>
              <a:t>=</a:t>
            </a:r>
            <a:r>
              <a:rPr sz="2100" i="1" spc="-5" dirty="0">
                <a:latin typeface="Palatino Linotype"/>
                <a:cs typeface="Palatino Linotype"/>
              </a:rPr>
              <a:t> </a:t>
            </a:r>
            <a:r>
              <a:rPr sz="2100" i="1" dirty="0">
                <a:latin typeface="Palatino Linotype"/>
                <a:cs typeface="Palatino Linotype"/>
              </a:rPr>
              <a:t>pi</a:t>
            </a:r>
            <a:r>
              <a:rPr sz="2100" i="1" spc="-5" dirty="0">
                <a:latin typeface="Palatino Linotype"/>
                <a:cs typeface="Palatino Linotype"/>
              </a:rPr>
              <a:t> </a:t>
            </a:r>
            <a:r>
              <a:rPr sz="2200" spc="-110" dirty="0">
                <a:latin typeface="MS PGothic"/>
                <a:cs typeface="MS PGothic"/>
              </a:rPr>
              <a:t>×</a:t>
            </a:r>
            <a:r>
              <a:rPr sz="2200" spc="-145" dirty="0">
                <a:latin typeface="MS PGothic"/>
                <a:cs typeface="MS PGothic"/>
              </a:rPr>
              <a:t> </a:t>
            </a:r>
            <a:r>
              <a:rPr sz="2100" i="1" spc="-25" dirty="0">
                <a:latin typeface="Palatino Linotype"/>
                <a:cs typeface="Palatino Linotype"/>
              </a:rPr>
              <a:t>r2;</a:t>
            </a:r>
            <a:endParaRPr sz="2100">
              <a:latin typeface="Palatino Linotype"/>
              <a:cs typeface="Palatino Linotype"/>
            </a:endParaRPr>
          </a:p>
          <a:p>
            <a:pPr marL="730885" indent="-246379">
              <a:lnSpc>
                <a:spcPct val="100000"/>
              </a:lnSpc>
              <a:spcBef>
                <a:spcPts val="135"/>
              </a:spcBef>
              <a:buClr>
                <a:srgbClr val="539E39"/>
              </a:buClr>
              <a:buSzPct val="83333"/>
              <a:buFont typeface="Wingdings 2"/>
              <a:buChar char=""/>
              <a:tabLst>
                <a:tab pos="730885" algn="l"/>
              </a:tabLst>
            </a:pPr>
            <a:r>
              <a:rPr sz="2100" i="1" dirty="0">
                <a:latin typeface="Palatino Linotype"/>
                <a:cs typeface="Palatino Linotype"/>
              </a:rPr>
              <a:t>p</a:t>
            </a:r>
            <a:r>
              <a:rPr sz="2100" i="1" spc="-10" dirty="0">
                <a:latin typeface="Palatino Linotype"/>
                <a:cs typeface="Palatino Linotype"/>
              </a:rPr>
              <a:t> </a:t>
            </a:r>
            <a:r>
              <a:rPr sz="2100" i="1" dirty="0">
                <a:latin typeface="Palatino Linotype"/>
                <a:cs typeface="Palatino Linotype"/>
              </a:rPr>
              <a:t>=</a:t>
            </a:r>
            <a:r>
              <a:rPr sz="2100" i="1" spc="-5" dirty="0">
                <a:latin typeface="Palatino Linotype"/>
                <a:cs typeface="Palatino Linotype"/>
              </a:rPr>
              <a:t> </a:t>
            </a:r>
            <a:r>
              <a:rPr sz="2100" i="1" dirty="0">
                <a:latin typeface="Palatino Linotype"/>
                <a:cs typeface="Palatino Linotype"/>
              </a:rPr>
              <a:t>2</a:t>
            </a:r>
            <a:r>
              <a:rPr sz="2100" i="1" spc="5" dirty="0">
                <a:latin typeface="Palatino Linotype"/>
                <a:cs typeface="Palatino Linotype"/>
              </a:rPr>
              <a:t> </a:t>
            </a:r>
            <a:r>
              <a:rPr sz="2200" spc="-110" dirty="0">
                <a:latin typeface="MS PGothic"/>
                <a:cs typeface="MS PGothic"/>
              </a:rPr>
              <a:t>×</a:t>
            </a:r>
            <a:r>
              <a:rPr sz="2200" spc="-155" dirty="0">
                <a:latin typeface="MS PGothic"/>
                <a:cs typeface="MS PGothic"/>
              </a:rPr>
              <a:t> </a:t>
            </a:r>
            <a:r>
              <a:rPr sz="2100" i="1" dirty="0">
                <a:latin typeface="Palatino Linotype"/>
                <a:cs typeface="Palatino Linotype"/>
              </a:rPr>
              <a:t>pi</a:t>
            </a:r>
            <a:r>
              <a:rPr sz="2100" i="1" spc="5" dirty="0">
                <a:latin typeface="Palatino Linotype"/>
                <a:cs typeface="Palatino Linotype"/>
              </a:rPr>
              <a:t> </a:t>
            </a:r>
            <a:r>
              <a:rPr sz="2200" spc="-110" dirty="0">
                <a:latin typeface="MS PGothic"/>
                <a:cs typeface="MS PGothic"/>
              </a:rPr>
              <a:t>×</a:t>
            </a:r>
            <a:r>
              <a:rPr sz="2200" spc="-155" dirty="0">
                <a:latin typeface="MS PGothic"/>
                <a:cs typeface="MS PGothic"/>
              </a:rPr>
              <a:t> </a:t>
            </a:r>
            <a:r>
              <a:rPr sz="2100" i="1" spc="-25" dirty="0">
                <a:latin typeface="Palatino Linotype"/>
                <a:cs typeface="Palatino Linotype"/>
              </a:rPr>
              <a:t>r;</a:t>
            </a:r>
            <a:endParaRPr sz="2100">
              <a:latin typeface="Palatino Linotype"/>
              <a:cs typeface="Palatino Linotype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76600" y="4800600"/>
            <a:ext cx="1181100" cy="11811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934200" y="1219200"/>
            <a:ext cx="2971800" cy="50292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sz="1900" b="1" i="1" dirty="0">
                <a:latin typeface="Verdana"/>
                <a:cs typeface="Verdana"/>
              </a:rPr>
              <a:t>Frame</a:t>
            </a:r>
            <a:r>
              <a:rPr sz="1900" b="1" i="1" spc="-55" dirty="0">
                <a:latin typeface="Verdana"/>
                <a:cs typeface="Verdana"/>
              </a:rPr>
              <a:t> </a:t>
            </a:r>
            <a:r>
              <a:rPr sz="1900" b="1" i="1" spc="-10" dirty="0">
                <a:latin typeface="Verdana"/>
                <a:cs typeface="Verdana"/>
              </a:rPr>
              <a:t>RECTANGLE</a:t>
            </a:r>
            <a:endParaRPr sz="1900">
              <a:latin typeface="Verdana"/>
              <a:cs typeface="Verdana"/>
            </a:endParaRPr>
          </a:p>
          <a:p>
            <a:pPr marL="174625">
              <a:lnSpc>
                <a:spcPct val="100000"/>
              </a:lnSpc>
              <a:spcBef>
                <a:spcPts val="455"/>
              </a:spcBef>
            </a:pPr>
            <a:r>
              <a:rPr sz="1900" b="1" i="1" dirty="0">
                <a:latin typeface="Verdana"/>
                <a:cs typeface="Verdana"/>
              </a:rPr>
              <a:t>(hình</a:t>
            </a:r>
            <a:r>
              <a:rPr sz="1900" b="1" i="1" spc="-60" dirty="0">
                <a:latin typeface="Verdana"/>
                <a:cs typeface="Verdana"/>
              </a:rPr>
              <a:t> </a:t>
            </a:r>
            <a:r>
              <a:rPr sz="1900" b="1" i="1" dirty="0">
                <a:latin typeface="Verdana"/>
                <a:cs typeface="Verdana"/>
              </a:rPr>
              <a:t>chữ</a:t>
            </a:r>
            <a:r>
              <a:rPr sz="1900" b="1" i="1" spc="-40" dirty="0">
                <a:latin typeface="Verdana"/>
                <a:cs typeface="Verdana"/>
              </a:rPr>
              <a:t> </a:t>
            </a:r>
            <a:r>
              <a:rPr sz="1900" b="1" i="1" spc="-10" dirty="0">
                <a:latin typeface="Verdana"/>
                <a:cs typeface="Verdana"/>
              </a:rPr>
              <a:t>nhật)</a:t>
            </a:r>
            <a:endParaRPr sz="1900">
              <a:latin typeface="Verdana"/>
              <a:cs typeface="Verdana"/>
            </a:endParaRPr>
          </a:p>
          <a:p>
            <a:pPr marL="92075">
              <a:lnSpc>
                <a:spcPct val="100000"/>
              </a:lnSpc>
              <a:spcBef>
                <a:spcPts val="455"/>
              </a:spcBef>
            </a:pPr>
            <a:r>
              <a:rPr sz="1900" b="1" i="1" dirty="0">
                <a:latin typeface="Verdana"/>
                <a:cs typeface="Verdana"/>
              </a:rPr>
              <a:t>b1</a:t>
            </a:r>
            <a:r>
              <a:rPr sz="1900" b="1" i="1" spc="-5" dirty="0">
                <a:latin typeface="Verdana"/>
                <a:cs typeface="Verdana"/>
              </a:rPr>
              <a:t> </a:t>
            </a:r>
            <a:r>
              <a:rPr sz="1900" b="1" i="1" dirty="0">
                <a:latin typeface="Verdana"/>
                <a:cs typeface="Verdana"/>
              </a:rPr>
              <a:t>:</a:t>
            </a:r>
            <a:r>
              <a:rPr sz="1900" b="1" i="1" spc="-10" dirty="0">
                <a:latin typeface="Verdana"/>
                <a:cs typeface="Verdana"/>
              </a:rPr>
              <a:t> side;</a:t>
            </a:r>
            <a:endParaRPr sz="1900">
              <a:latin typeface="Verdana"/>
              <a:cs typeface="Verdana"/>
            </a:endParaRPr>
          </a:p>
          <a:p>
            <a:pPr marL="92075" marR="1619885">
              <a:lnSpc>
                <a:spcPct val="120000"/>
              </a:lnSpc>
              <a:spcBef>
                <a:spcPts val="5"/>
              </a:spcBef>
            </a:pPr>
            <a:r>
              <a:rPr sz="1900" b="1" i="1" dirty="0">
                <a:latin typeface="Verdana"/>
                <a:cs typeface="Verdana"/>
              </a:rPr>
              <a:t>b2</a:t>
            </a:r>
            <a:r>
              <a:rPr sz="1900" b="1" i="1" spc="-15" dirty="0">
                <a:latin typeface="Verdana"/>
                <a:cs typeface="Verdana"/>
              </a:rPr>
              <a:t> </a:t>
            </a:r>
            <a:r>
              <a:rPr sz="1900" b="1" i="1" dirty="0">
                <a:latin typeface="Verdana"/>
                <a:cs typeface="Verdana"/>
              </a:rPr>
              <a:t>:</a:t>
            </a:r>
            <a:r>
              <a:rPr sz="1900" b="1" i="1" spc="-20" dirty="0">
                <a:latin typeface="Verdana"/>
                <a:cs typeface="Verdana"/>
              </a:rPr>
              <a:t> </a:t>
            </a:r>
            <a:r>
              <a:rPr sz="1900" b="1" i="1" spc="-10" dirty="0">
                <a:latin typeface="Verdana"/>
                <a:cs typeface="Verdana"/>
              </a:rPr>
              <a:t>side; </a:t>
            </a:r>
            <a:r>
              <a:rPr sz="1900" b="1" i="1" dirty="0">
                <a:latin typeface="Verdana"/>
                <a:cs typeface="Verdana"/>
              </a:rPr>
              <a:t>s</a:t>
            </a:r>
            <a:r>
              <a:rPr sz="1900" b="1" i="1" spc="-15" dirty="0">
                <a:latin typeface="Verdana"/>
                <a:cs typeface="Verdana"/>
              </a:rPr>
              <a:t> </a:t>
            </a:r>
            <a:r>
              <a:rPr sz="1900" b="1" i="1" dirty="0">
                <a:latin typeface="Verdana"/>
                <a:cs typeface="Verdana"/>
              </a:rPr>
              <a:t>: </a:t>
            </a:r>
            <a:r>
              <a:rPr sz="1900" b="1" i="1" spc="-10" dirty="0">
                <a:latin typeface="Verdana"/>
                <a:cs typeface="Verdana"/>
              </a:rPr>
              <a:t>area;</a:t>
            </a:r>
            <a:endParaRPr sz="1900">
              <a:latin typeface="Verdana"/>
              <a:cs typeface="Verdana"/>
            </a:endParaRPr>
          </a:p>
          <a:p>
            <a:pPr marL="92075" marR="1010919">
              <a:lnSpc>
                <a:spcPct val="118900"/>
              </a:lnSpc>
              <a:spcBef>
                <a:spcPts val="25"/>
              </a:spcBef>
            </a:pPr>
            <a:r>
              <a:rPr sz="1900" b="1" i="1" dirty="0">
                <a:latin typeface="Verdana"/>
                <a:cs typeface="Verdana"/>
              </a:rPr>
              <a:t>p :</a:t>
            </a:r>
            <a:r>
              <a:rPr sz="1900" b="1" i="1" spc="-15" dirty="0">
                <a:latin typeface="Verdana"/>
                <a:cs typeface="Verdana"/>
              </a:rPr>
              <a:t> </a:t>
            </a:r>
            <a:r>
              <a:rPr sz="1900" b="1" i="1" spc="-10" dirty="0">
                <a:latin typeface="Verdana"/>
                <a:cs typeface="Verdana"/>
              </a:rPr>
              <a:t>perimeter; </a:t>
            </a:r>
            <a:r>
              <a:rPr sz="1900" b="1" i="1" dirty="0">
                <a:latin typeface="Verdana"/>
                <a:cs typeface="Verdana"/>
              </a:rPr>
              <a:t>s</a:t>
            </a:r>
            <a:r>
              <a:rPr sz="1900" b="1" i="1" spc="-25" dirty="0">
                <a:latin typeface="Verdana"/>
                <a:cs typeface="Verdana"/>
              </a:rPr>
              <a:t> </a:t>
            </a:r>
            <a:r>
              <a:rPr sz="1900" b="1" i="1" dirty="0">
                <a:latin typeface="Verdana"/>
                <a:cs typeface="Verdana"/>
              </a:rPr>
              <a:t>=</a:t>
            </a:r>
            <a:r>
              <a:rPr sz="1900" b="1" i="1" spc="-5" dirty="0">
                <a:latin typeface="Verdana"/>
                <a:cs typeface="Verdana"/>
              </a:rPr>
              <a:t> </a:t>
            </a:r>
            <a:r>
              <a:rPr sz="1900" b="1" i="1" dirty="0">
                <a:latin typeface="Verdana"/>
                <a:cs typeface="Verdana"/>
              </a:rPr>
              <a:t>b1</a:t>
            </a:r>
            <a:r>
              <a:rPr sz="1900" b="1" i="1" spc="-15" dirty="0">
                <a:latin typeface="Verdana"/>
                <a:cs typeface="Verdana"/>
              </a:rPr>
              <a:t> </a:t>
            </a:r>
            <a:r>
              <a:rPr sz="1900" b="1" i="1" dirty="0">
                <a:latin typeface="Arial"/>
                <a:cs typeface="Arial"/>
              </a:rPr>
              <a:t>×</a:t>
            </a:r>
            <a:r>
              <a:rPr sz="1900" b="1" i="1" spc="105" dirty="0">
                <a:latin typeface="Arial"/>
                <a:cs typeface="Arial"/>
              </a:rPr>
              <a:t> </a:t>
            </a:r>
            <a:r>
              <a:rPr sz="1900" b="1" i="1" spc="-25" dirty="0">
                <a:latin typeface="Verdana"/>
                <a:cs typeface="Verdana"/>
              </a:rPr>
              <a:t>b2;</a:t>
            </a:r>
            <a:endParaRPr sz="1900">
              <a:latin typeface="Verdana"/>
              <a:cs typeface="Verdana"/>
            </a:endParaRPr>
          </a:p>
          <a:p>
            <a:pPr marL="92075" marR="606425">
              <a:lnSpc>
                <a:spcPts val="2760"/>
              </a:lnSpc>
              <a:spcBef>
                <a:spcPts val="150"/>
              </a:spcBef>
            </a:pPr>
            <a:r>
              <a:rPr sz="1900" b="1" i="1" dirty="0">
                <a:latin typeface="Verdana"/>
                <a:cs typeface="Verdana"/>
              </a:rPr>
              <a:t>p</a:t>
            </a:r>
            <a:r>
              <a:rPr sz="1900" b="1" i="1" spc="-15" dirty="0">
                <a:latin typeface="Verdana"/>
                <a:cs typeface="Verdana"/>
              </a:rPr>
              <a:t> </a:t>
            </a:r>
            <a:r>
              <a:rPr sz="1900" b="1" i="1" dirty="0">
                <a:latin typeface="Verdana"/>
                <a:cs typeface="Verdana"/>
              </a:rPr>
              <a:t>=</a:t>
            </a:r>
            <a:r>
              <a:rPr sz="1900" b="1" i="1" spc="-15" dirty="0">
                <a:latin typeface="Verdana"/>
                <a:cs typeface="Verdana"/>
              </a:rPr>
              <a:t> </a:t>
            </a:r>
            <a:r>
              <a:rPr sz="1900" b="1" i="1" dirty="0">
                <a:latin typeface="Verdana"/>
                <a:cs typeface="Verdana"/>
              </a:rPr>
              <a:t>2</a:t>
            </a:r>
            <a:r>
              <a:rPr sz="1900" b="1" i="1" spc="-5" dirty="0">
                <a:latin typeface="Verdana"/>
                <a:cs typeface="Verdana"/>
              </a:rPr>
              <a:t> </a:t>
            </a:r>
            <a:r>
              <a:rPr sz="1900" b="1" i="1" dirty="0">
                <a:latin typeface="Arial"/>
                <a:cs typeface="Arial"/>
              </a:rPr>
              <a:t>×</a:t>
            </a:r>
            <a:r>
              <a:rPr sz="1900" b="1" i="1" spc="114" dirty="0">
                <a:latin typeface="Arial"/>
                <a:cs typeface="Arial"/>
              </a:rPr>
              <a:t> </a:t>
            </a:r>
            <a:r>
              <a:rPr sz="1900" b="1" i="1" spc="-10" dirty="0">
                <a:latin typeface="Verdana"/>
                <a:cs typeface="Verdana"/>
              </a:rPr>
              <a:t>(b1+b2); </a:t>
            </a:r>
            <a:r>
              <a:rPr sz="1900" b="1" i="1" dirty="0">
                <a:latin typeface="Verdana"/>
                <a:cs typeface="Verdana"/>
              </a:rPr>
              <a:t>d2</a:t>
            </a:r>
            <a:r>
              <a:rPr sz="1900" b="1" i="1" spc="-25" dirty="0">
                <a:latin typeface="Verdana"/>
                <a:cs typeface="Verdana"/>
              </a:rPr>
              <a:t> </a:t>
            </a:r>
            <a:r>
              <a:rPr sz="1900" b="1" i="1" dirty="0">
                <a:latin typeface="Verdana"/>
                <a:cs typeface="Verdana"/>
              </a:rPr>
              <a:t>=</a:t>
            </a:r>
            <a:r>
              <a:rPr sz="1900" b="1" i="1" spc="-25" dirty="0">
                <a:latin typeface="Verdana"/>
                <a:cs typeface="Verdana"/>
              </a:rPr>
              <a:t> </a:t>
            </a:r>
            <a:r>
              <a:rPr sz="1900" b="1" i="1" dirty="0">
                <a:latin typeface="Verdana"/>
                <a:cs typeface="Verdana"/>
              </a:rPr>
              <a:t>b12</a:t>
            </a:r>
            <a:r>
              <a:rPr sz="1900" b="1" i="1" spc="-25" dirty="0">
                <a:latin typeface="Verdana"/>
                <a:cs typeface="Verdana"/>
              </a:rPr>
              <a:t> </a:t>
            </a:r>
            <a:r>
              <a:rPr sz="1900" b="1" i="1" dirty="0">
                <a:latin typeface="Verdana"/>
                <a:cs typeface="Verdana"/>
              </a:rPr>
              <a:t>+</a:t>
            </a:r>
            <a:r>
              <a:rPr sz="1900" b="1" i="1" spc="-20" dirty="0">
                <a:latin typeface="Verdana"/>
                <a:cs typeface="Verdana"/>
              </a:rPr>
              <a:t> b22;</a:t>
            </a:r>
            <a:endParaRPr sz="19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20000" y="4572000"/>
            <a:ext cx="1695450" cy="13239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898014"/>
            <a:chOff x="0" y="0"/>
            <a:chExt cx="12192000" cy="1898014"/>
          </a:xfrm>
        </p:grpSpPr>
        <p:sp>
          <p:nvSpPr>
            <p:cNvPr id="3" name="object 3"/>
            <p:cNvSpPr/>
            <p:nvPr/>
          </p:nvSpPr>
          <p:spPr>
            <a:xfrm>
              <a:off x="2352545" y="1410985"/>
              <a:ext cx="485140" cy="485140"/>
            </a:xfrm>
            <a:custGeom>
              <a:avLst/>
              <a:gdLst/>
              <a:ahLst/>
              <a:cxnLst/>
              <a:rect l="l" t="t" r="r" b="b"/>
              <a:pathLst>
                <a:path w="485139" h="485139">
                  <a:moveTo>
                    <a:pt x="242514" y="0"/>
                  </a:moveTo>
                  <a:lnTo>
                    <a:pt x="193638" y="4921"/>
                  </a:lnTo>
                  <a:lnTo>
                    <a:pt x="148115" y="19037"/>
                  </a:lnTo>
                  <a:lnTo>
                    <a:pt x="106920" y="41377"/>
                  </a:lnTo>
                  <a:lnTo>
                    <a:pt x="71029" y="70967"/>
                  </a:lnTo>
                  <a:lnTo>
                    <a:pt x="41416" y="106835"/>
                  </a:lnTo>
                  <a:lnTo>
                    <a:pt x="19057" y="148011"/>
                  </a:lnTo>
                  <a:lnTo>
                    <a:pt x="4926" y="193520"/>
                  </a:lnTo>
                  <a:lnTo>
                    <a:pt x="0" y="242392"/>
                  </a:lnTo>
                  <a:lnTo>
                    <a:pt x="4926" y="291213"/>
                  </a:lnTo>
                  <a:lnTo>
                    <a:pt x="19057" y="336698"/>
                  </a:lnTo>
                  <a:lnTo>
                    <a:pt x="41416" y="377870"/>
                  </a:lnTo>
                  <a:lnTo>
                    <a:pt x="71029" y="413750"/>
                  </a:lnTo>
                  <a:lnTo>
                    <a:pt x="106920" y="443360"/>
                  </a:lnTo>
                  <a:lnTo>
                    <a:pt x="148115" y="465722"/>
                  </a:lnTo>
                  <a:lnTo>
                    <a:pt x="193638" y="479856"/>
                  </a:lnTo>
                  <a:lnTo>
                    <a:pt x="242514" y="484785"/>
                  </a:lnTo>
                  <a:lnTo>
                    <a:pt x="291390" y="479856"/>
                  </a:lnTo>
                  <a:lnTo>
                    <a:pt x="336912" y="465722"/>
                  </a:lnTo>
                  <a:lnTo>
                    <a:pt x="378107" y="443360"/>
                  </a:lnTo>
                  <a:lnTo>
                    <a:pt x="413998" y="413750"/>
                  </a:lnTo>
                  <a:lnTo>
                    <a:pt x="443611" y="377870"/>
                  </a:lnTo>
                  <a:lnTo>
                    <a:pt x="465970" y="336698"/>
                  </a:lnTo>
                  <a:lnTo>
                    <a:pt x="480101" y="291213"/>
                  </a:lnTo>
                  <a:lnTo>
                    <a:pt x="485028" y="242392"/>
                  </a:lnTo>
                  <a:lnTo>
                    <a:pt x="480101" y="193520"/>
                  </a:lnTo>
                  <a:lnTo>
                    <a:pt x="465970" y="148011"/>
                  </a:lnTo>
                  <a:lnTo>
                    <a:pt x="443611" y="106835"/>
                  </a:lnTo>
                  <a:lnTo>
                    <a:pt x="413998" y="70967"/>
                  </a:lnTo>
                  <a:lnTo>
                    <a:pt x="378107" y="41377"/>
                  </a:lnTo>
                  <a:lnTo>
                    <a:pt x="336912" y="19037"/>
                  </a:lnTo>
                  <a:lnTo>
                    <a:pt x="291390" y="4921"/>
                  </a:lnTo>
                  <a:lnTo>
                    <a:pt x="24251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52545" y="1410985"/>
              <a:ext cx="485140" cy="485140"/>
            </a:xfrm>
            <a:custGeom>
              <a:avLst/>
              <a:gdLst/>
              <a:ahLst/>
              <a:cxnLst/>
              <a:rect l="l" t="t" r="r" b="b"/>
              <a:pathLst>
                <a:path w="485139" h="485139">
                  <a:moveTo>
                    <a:pt x="0" y="242392"/>
                  </a:moveTo>
                  <a:lnTo>
                    <a:pt x="4926" y="193520"/>
                  </a:lnTo>
                  <a:lnTo>
                    <a:pt x="19057" y="148011"/>
                  </a:lnTo>
                  <a:lnTo>
                    <a:pt x="41416" y="106835"/>
                  </a:lnTo>
                  <a:lnTo>
                    <a:pt x="71029" y="70967"/>
                  </a:lnTo>
                  <a:lnTo>
                    <a:pt x="106920" y="41377"/>
                  </a:lnTo>
                  <a:lnTo>
                    <a:pt x="148115" y="19037"/>
                  </a:lnTo>
                  <a:lnTo>
                    <a:pt x="193638" y="4921"/>
                  </a:lnTo>
                  <a:lnTo>
                    <a:pt x="242514" y="0"/>
                  </a:lnTo>
                  <a:lnTo>
                    <a:pt x="291390" y="4921"/>
                  </a:lnTo>
                  <a:lnTo>
                    <a:pt x="336912" y="19037"/>
                  </a:lnTo>
                  <a:lnTo>
                    <a:pt x="378107" y="41377"/>
                  </a:lnTo>
                  <a:lnTo>
                    <a:pt x="413998" y="70967"/>
                  </a:lnTo>
                  <a:lnTo>
                    <a:pt x="443611" y="106835"/>
                  </a:lnTo>
                  <a:lnTo>
                    <a:pt x="465970" y="148011"/>
                  </a:lnTo>
                  <a:lnTo>
                    <a:pt x="480101" y="193520"/>
                  </a:lnTo>
                  <a:lnTo>
                    <a:pt x="485028" y="242392"/>
                  </a:lnTo>
                  <a:lnTo>
                    <a:pt x="480101" y="291213"/>
                  </a:lnTo>
                  <a:lnTo>
                    <a:pt x="465970" y="336698"/>
                  </a:lnTo>
                  <a:lnTo>
                    <a:pt x="443611" y="377870"/>
                  </a:lnTo>
                  <a:lnTo>
                    <a:pt x="413998" y="413750"/>
                  </a:lnTo>
                  <a:lnTo>
                    <a:pt x="378107" y="443360"/>
                  </a:lnTo>
                  <a:lnTo>
                    <a:pt x="336912" y="465722"/>
                  </a:lnTo>
                  <a:lnTo>
                    <a:pt x="291390" y="479856"/>
                  </a:lnTo>
                  <a:lnTo>
                    <a:pt x="242514" y="484785"/>
                  </a:lnTo>
                  <a:lnTo>
                    <a:pt x="193638" y="479856"/>
                  </a:lnTo>
                  <a:lnTo>
                    <a:pt x="148115" y="465722"/>
                  </a:lnTo>
                  <a:lnTo>
                    <a:pt x="106920" y="443360"/>
                  </a:lnTo>
                  <a:lnTo>
                    <a:pt x="71029" y="413750"/>
                  </a:lnTo>
                  <a:lnTo>
                    <a:pt x="41416" y="377870"/>
                  </a:lnTo>
                  <a:lnTo>
                    <a:pt x="19057" y="336698"/>
                  </a:lnTo>
                  <a:lnTo>
                    <a:pt x="4926" y="291213"/>
                  </a:lnTo>
                  <a:lnTo>
                    <a:pt x="0" y="242392"/>
                  </a:lnTo>
                  <a:close/>
                </a:path>
              </a:pathLst>
            </a:custGeom>
            <a:ln w="4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525701" y="1514991"/>
            <a:ext cx="139065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-50" dirty="0">
                <a:latin typeface="Symbol"/>
                <a:cs typeface="Symbol"/>
              </a:rPr>
              <a:t></a:t>
            </a:r>
            <a:endParaRPr sz="1400">
              <a:latin typeface="Symbol"/>
              <a:cs typeface="Symbo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886335" y="1408763"/>
            <a:ext cx="489584" cy="489584"/>
            <a:chOff x="3886335" y="1408763"/>
            <a:chExt cx="489584" cy="489584"/>
          </a:xfrm>
        </p:grpSpPr>
        <p:sp>
          <p:nvSpPr>
            <p:cNvPr id="7" name="object 7"/>
            <p:cNvSpPr/>
            <p:nvPr/>
          </p:nvSpPr>
          <p:spPr>
            <a:xfrm>
              <a:off x="3888558" y="1410985"/>
              <a:ext cx="485140" cy="485140"/>
            </a:xfrm>
            <a:custGeom>
              <a:avLst/>
              <a:gdLst/>
              <a:ahLst/>
              <a:cxnLst/>
              <a:rect l="l" t="t" r="r" b="b"/>
              <a:pathLst>
                <a:path w="485139" h="485139">
                  <a:moveTo>
                    <a:pt x="242334" y="0"/>
                  </a:moveTo>
                  <a:lnTo>
                    <a:pt x="193497" y="4921"/>
                  </a:lnTo>
                  <a:lnTo>
                    <a:pt x="148009" y="19037"/>
                  </a:lnTo>
                  <a:lnTo>
                    <a:pt x="106845" y="41377"/>
                  </a:lnTo>
                  <a:lnTo>
                    <a:pt x="70980" y="70967"/>
                  </a:lnTo>
                  <a:lnTo>
                    <a:pt x="41388" y="106835"/>
                  </a:lnTo>
                  <a:lnTo>
                    <a:pt x="19044" y="148011"/>
                  </a:lnTo>
                  <a:lnTo>
                    <a:pt x="4923" y="193520"/>
                  </a:lnTo>
                  <a:lnTo>
                    <a:pt x="0" y="242392"/>
                  </a:lnTo>
                  <a:lnTo>
                    <a:pt x="4923" y="291213"/>
                  </a:lnTo>
                  <a:lnTo>
                    <a:pt x="19047" y="336698"/>
                  </a:lnTo>
                  <a:lnTo>
                    <a:pt x="41397" y="377870"/>
                  </a:lnTo>
                  <a:lnTo>
                    <a:pt x="71002" y="413750"/>
                  </a:lnTo>
                  <a:lnTo>
                    <a:pt x="106889" y="443360"/>
                  </a:lnTo>
                  <a:lnTo>
                    <a:pt x="148085" y="465722"/>
                  </a:lnTo>
                  <a:lnTo>
                    <a:pt x="193617" y="479856"/>
                  </a:lnTo>
                  <a:lnTo>
                    <a:pt x="242514" y="484785"/>
                  </a:lnTo>
                  <a:lnTo>
                    <a:pt x="291359" y="479856"/>
                  </a:lnTo>
                  <a:lnTo>
                    <a:pt x="336867" y="465722"/>
                  </a:lnTo>
                  <a:lnTo>
                    <a:pt x="378060" y="443360"/>
                  </a:lnTo>
                  <a:lnTo>
                    <a:pt x="413958" y="413750"/>
                  </a:lnTo>
                  <a:lnTo>
                    <a:pt x="443583" y="377870"/>
                  </a:lnTo>
                  <a:lnTo>
                    <a:pt x="465955" y="336698"/>
                  </a:lnTo>
                  <a:lnTo>
                    <a:pt x="480097" y="291213"/>
                  </a:lnTo>
                  <a:lnTo>
                    <a:pt x="485028" y="242392"/>
                  </a:lnTo>
                  <a:lnTo>
                    <a:pt x="480096" y="193520"/>
                  </a:lnTo>
                  <a:lnTo>
                    <a:pt x="465952" y="148011"/>
                  </a:lnTo>
                  <a:lnTo>
                    <a:pt x="443573" y="106835"/>
                  </a:lnTo>
                  <a:lnTo>
                    <a:pt x="413935" y="70967"/>
                  </a:lnTo>
                  <a:lnTo>
                    <a:pt x="378016" y="41377"/>
                  </a:lnTo>
                  <a:lnTo>
                    <a:pt x="336791" y="19037"/>
                  </a:lnTo>
                  <a:lnTo>
                    <a:pt x="291238" y="4921"/>
                  </a:lnTo>
                  <a:lnTo>
                    <a:pt x="24233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88558" y="1410985"/>
              <a:ext cx="485140" cy="485140"/>
            </a:xfrm>
            <a:custGeom>
              <a:avLst/>
              <a:gdLst/>
              <a:ahLst/>
              <a:cxnLst/>
              <a:rect l="l" t="t" r="r" b="b"/>
              <a:pathLst>
                <a:path w="485139" h="485139">
                  <a:moveTo>
                    <a:pt x="0" y="242392"/>
                  </a:moveTo>
                  <a:lnTo>
                    <a:pt x="4923" y="193520"/>
                  </a:lnTo>
                  <a:lnTo>
                    <a:pt x="19044" y="148011"/>
                  </a:lnTo>
                  <a:lnTo>
                    <a:pt x="41388" y="106835"/>
                  </a:lnTo>
                  <a:lnTo>
                    <a:pt x="70980" y="70967"/>
                  </a:lnTo>
                  <a:lnTo>
                    <a:pt x="106845" y="41377"/>
                  </a:lnTo>
                  <a:lnTo>
                    <a:pt x="148009" y="19037"/>
                  </a:lnTo>
                  <a:lnTo>
                    <a:pt x="193497" y="4921"/>
                  </a:lnTo>
                  <a:lnTo>
                    <a:pt x="242334" y="0"/>
                  </a:lnTo>
                  <a:lnTo>
                    <a:pt x="291238" y="4921"/>
                  </a:lnTo>
                  <a:lnTo>
                    <a:pt x="336791" y="19037"/>
                  </a:lnTo>
                  <a:lnTo>
                    <a:pt x="378016" y="41377"/>
                  </a:lnTo>
                  <a:lnTo>
                    <a:pt x="413935" y="70967"/>
                  </a:lnTo>
                  <a:lnTo>
                    <a:pt x="443573" y="106835"/>
                  </a:lnTo>
                  <a:lnTo>
                    <a:pt x="465952" y="148011"/>
                  </a:lnTo>
                  <a:lnTo>
                    <a:pt x="480096" y="193520"/>
                  </a:lnTo>
                  <a:lnTo>
                    <a:pt x="485028" y="242392"/>
                  </a:lnTo>
                  <a:lnTo>
                    <a:pt x="480096" y="291213"/>
                  </a:lnTo>
                  <a:lnTo>
                    <a:pt x="465955" y="336698"/>
                  </a:lnTo>
                  <a:lnTo>
                    <a:pt x="443583" y="377870"/>
                  </a:lnTo>
                  <a:lnTo>
                    <a:pt x="413958" y="413750"/>
                  </a:lnTo>
                  <a:lnTo>
                    <a:pt x="378060" y="443360"/>
                  </a:lnTo>
                  <a:lnTo>
                    <a:pt x="336867" y="465722"/>
                  </a:lnTo>
                  <a:lnTo>
                    <a:pt x="291359" y="479856"/>
                  </a:lnTo>
                  <a:lnTo>
                    <a:pt x="242514" y="484785"/>
                  </a:lnTo>
                  <a:lnTo>
                    <a:pt x="193617" y="479856"/>
                  </a:lnTo>
                  <a:lnTo>
                    <a:pt x="148085" y="465722"/>
                  </a:lnTo>
                  <a:lnTo>
                    <a:pt x="106889" y="443360"/>
                  </a:lnTo>
                  <a:lnTo>
                    <a:pt x="71002" y="413750"/>
                  </a:lnTo>
                  <a:lnTo>
                    <a:pt x="41397" y="377870"/>
                  </a:lnTo>
                  <a:lnTo>
                    <a:pt x="19047" y="336698"/>
                  </a:lnTo>
                  <a:lnTo>
                    <a:pt x="4923" y="291213"/>
                  </a:lnTo>
                  <a:lnTo>
                    <a:pt x="0" y="242392"/>
                  </a:lnTo>
                  <a:close/>
                </a:path>
              </a:pathLst>
            </a:custGeom>
            <a:ln w="4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068971" y="1514991"/>
            <a:ext cx="12446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-50" dirty="0">
                <a:latin typeface="Symbol"/>
                <a:cs typeface="Symbol"/>
              </a:rPr>
              <a:t></a:t>
            </a:r>
            <a:endParaRPr sz="1400">
              <a:latin typeface="Symbol"/>
              <a:cs typeface="Symbo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547647" y="1408763"/>
            <a:ext cx="489584" cy="489584"/>
            <a:chOff x="5547647" y="1408763"/>
            <a:chExt cx="489584" cy="489584"/>
          </a:xfrm>
        </p:grpSpPr>
        <p:sp>
          <p:nvSpPr>
            <p:cNvPr id="11" name="object 11"/>
            <p:cNvSpPr/>
            <p:nvPr/>
          </p:nvSpPr>
          <p:spPr>
            <a:xfrm>
              <a:off x="5549869" y="1410985"/>
              <a:ext cx="485140" cy="485140"/>
            </a:xfrm>
            <a:custGeom>
              <a:avLst/>
              <a:gdLst/>
              <a:ahLst/>
              <a:cxnLst/>
              <a:rect l="l" t="t" r="r" b="b"/>
              <a:pathLst>
                <a:path w="485139" h="485139">
                  <a:moveTo>
                    <a:pt x="242514" y="0"/>
                  </a:moveTo>
                  <a:lnTo>
                    <a:pt x="193669" y="4921"/>
                  </a:lnTo>
                  <a:lnTo>
                    <a:pt x="148160" y="19037"/>
                  </a:lnTo>
                  <a:lnTo>
                    <a:pt x="106968" y="41377"/>
                  </a:lnTo>
                  <a:lnTo>
                    <a:pt x="71070" y="70967"/>
                  </a:lnTo>
                  <a:lnTo>
                    <a:pt x="41445" y="106835"/>
                  </a:lnTo>
                  <a:lnTo>
                    <a:pt x="19072" y="148011"/>
                  </a:lnTo>
                  <a:lnTo>
                    <a:pt x="4931" y="193520"/>
                  </a:lnTo>
                  <a:lnTo>
                    <a:pt x="0" y="242392"/>
                  </a:lnTo>
                  <a:lnTo>
                    <a:pt x="4931" y="291213"/>
                  </a:lnTo>
                  <a:lnTo>
                    <a:pt x="19072" y="336698"/>
                  </a:lnTo>
                  <a:lnTo>
                    <a:pt x="41445" y="377870"/>
                  </a:lnTo>
                  <a:lnTo>
                    <a:pt x="71070" y="413750"/>
                  </a:lnTo>
                  <a:lnTo>
                    <a:pt x="106968" y="443360"/>
                  </a:lnTo>
                  <a:lnTo>
                    <a:pt x="148161" y="465722"/>
                  </a:lnTo>
                  <a:lnTo>
                    <a:pt x="193669" y="479856"/>
                  </a:lnTo>
                  <a:lnTo>
                    <a:pt x="242514" y="484785"/>
                  </a:lnTo>
                  <a:lnTo>
                    <a:pt x="291410" y="479856"/>
                  </a:lnTo>
                  <a:lnTo>
                    <a:pt x="336943" y="465722"/>
                  </a:lnTo>
                  <a:lnTo>
                    <a:pt x="378138" y="443360"/>
                  </a:lnTo>
                  <a:lnTo>
                    <a:pt x="414025" y="413750"/>
                  </a:lnTo>
                  <a:lnTo>
                    <a:pt x="443630" y="377870"/>
                  </a:lnTo>
                  <a:lnTo>
                    <a:pt x="465980" y="336698"/>
                  </a:lnTo>
                  <a:lnTo>
                    <a:pt x="480104" y="291213"/>
                  </a:lnTo>
                  <a:lnTo>
                    <a:pt x="485028" y="242392"/>
                  </a:lnTo>
                  <a:lnTo>
                    <a:pt x="480104" y="193520"/>
                  </a:lnTo>
                  <a:lnTo>
                    <a:pt x="465980" y="148011"/>
                  </a:lnTo>
                  <a:lnTo>
                    <a:pt x="443630" y="106835"/>
                  </a:lnTo>
                  <a:lnTo>
                    <a:pt x="414025" y="70967"/>
                  </a:lnTo>
                  <a:lnTo>
                    <a:pt x="378138" y="41377"/>
                  </a:lnTo>
                  <a:lnTo>
                    <a:pt x="336943" y="19037"/>
                  </a:lnTo>
                  <a:lnTo>
                    <a:pt x="291410" y="4921"/>
                  </a:lnTo>
                  <a:lnTo>
                    <a:pt x="242514" y="0"/>
                  </a:lnTo>
                  <a:close/>
                </a:path>
              </a:pathLst>
            </a:custGeom>
            <a:solidFill>
              <a:srgbClr val="E8ED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49869" y="1410985"/>
              <a:ext cx="485140" cy="485140"/>
            </a:xfrm>
            <a:custGeom>
              <a:avLst/>
              <a:gdLst/>
              <a:ahLst/>
              <a:cxnLst/>
              <a:rect l="l" t="t" r="r" b="b"/>
              <a:pathLst>
                <a:path w="485139" h="485139">
                  <a:moveTo>
                    <a:pt x="0" y="242392"/>
                  </a:moveTo>
                  <a:lnTo>
                    <a:pt x="4931" y="193520"/>
                  </a:lnTo>
                  <a:lnTo>
                    <a:pt x="19072" y="148011"/>
                  </a:lnTo>
                  <a:lnTo>
                    <a:pt x="41445" y="106835"/>
                  </a:lnTo>
                  <a:lnTo>
                    <a:pt x="71070" y="70967"/>
                  </a:lnTo>
                  <a:lnTo>
                    <a:pt x="106968" y="41377"/>
                  </a:lnTo>
                  <a:lnTo>
                    <a:pt x="148160" y="19037"/>
                  </a:lnTo>
                  <a:lnTo>
                    <a:pt x="193669" y="4921"/>
                  </a:lnTo>
                  <a:lnTo>
                    <a:pt x="242514" y="0"/>
                  </a:lnTo>
                  <a:lnTo>
                    <a:pt x="291410" y="4921"/>
                  </a:lnTo>
                  <a:lnTo>
                    <a:pt x="336943" y="19037"/>
                  </a:lnTo>
                  <a:lnTo>
                    <a:pt x="378138" y="41377"/>
                  </a:lnTo>
                  <a:lnTo>
                    <a:pt x="414025" y="70967"/>
                  </a:lnTo>
                  <a:lnTo>
                    <a:pt x="443630" y="106835"/>
                  </a:lnTo>
                  <a:lnTo>
                    <a:pt x="465980" y="148011"/>
                  </a:lnTo>
                  <a:lnTo>
                    <a:pt x="480104" y="193520"/>
                  </a:lnTo>
                  <a:lnTo>
                    <a:pt x="485028" y="242392"/>
                  </a:lnTo>
                  <a:lnTo>
                    <a:pt x="480104" y="291213"/>
                  </a:lnTo>
                  <a:lnTo>
                    <a:pt x="465980" y="336698"/>
                  </a:lnTo>
                  <a:lnTo>
                    <a:pt x="443630" y="377870"/>
                  </a:lnTo>
                  <a:lnTo>
                    <a:pt x="414025" y="413750"/>
                  </a:lnTo>
                  <a:lnTo>
                    <a:pt x="378138" y="443360"/>
                  </a:lnTo>
                  <a:lnTo>
                    <a:pt x="336943" y="465722"/>
                  </a:lnTo>
                  <a:lnTo>
                    <a:pt x="291410" y="479856"/>
                  </a:lnTo>
                  <a:lnTo>
                    <a:pt x="242514" y="484785"/>
                  </a:lnTo>
                  <a:lnTo>
                    <a:pt x="193669" y="479856"/>
                  </a:lnTo>
                  <a:lnTo>
                    <a:pt x="148161" y="465722"/>
                  </a:lnTo>
                  <a:lnTo>
                    <a:pt x="106968" y="443360"/>
                  </a:lnTo>
                  <a:lnTo>
                    <a:pt x="71070" y="413750"/>
                  </a:lnTo>
                  <a:lnTo>
                    <a:pt x="41445" y="377870"/>
                  </a:lnTo>
                  <a:lnTo>
                    <a:pt x="19072" y="336698"/>
                  </a:lnTo>
                  <a:lnTo>
                    <a:pt x="4931" y="291213"/>
                  </a:lnTo>
                  <a:lnTo>
                    <a:pt x="0" y="242392"/>
                  </a:lnTo>
                  <a:close/>
                </a:path>
              </a:pathLst>
            </a:custGeom>
            <a:ln w="4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730463" y="1514991"/>
            <a:ext cx="12446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-50" dirty="0">
                <a:latin typeface="Symbol"/>
                <a:cs typeface="Symbol"/>
              </a:rPr>
              <a:t></a:t>
            </a:r>
            <a:endParaRPr sz="1400">
              <a:latin typeface="Symbol"/>
              <a:cs typeface="Symbo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247927" y="887708"/>
            <a:ext cx="4547235" cy="2469515"/>
            <a:chOff x="1247927" y="887708"/>
            <a:chExt cx="4547235" cy="2469515"/>
          </a:xfrm>
        </p:grpSpPr>
        <p:sp>
          <p:nvSpPr>
            <p:cNvPr id="15" name="object 15"/>
            <p:cNvSpPr/>
            <p:nvPr/>
          </p:nvSpPr>
          <p:spPr>
            <a:xfrm>
              <a:off x="2595059" y="889931"/>
              <a:ext cx="3197860" cy="521334"/>
            </a:xfrm>
            <a:custGeom>
              <a:avLst/>
              <a:gdLst/>
              <a:ahLst/>
              <a:cxnLst/>
              <a:rect l="l" t="t" r="r" b="b"/>
              <a:pathLst>
                <a:path w="3197860" h="521334">
                  <a:moveTo>
                    <a:pt x="0" y="521054"/>
                  </a:moveTo>
                  <a:lnTo>
                    <a:pt x="1536012" y="0"/>
                  </a:lnTo>
                </a:path>
                <a:path w="3197860" h="521334">
                  <a:moveTo>
                    <a:pt x="1536012" y="521054"/>
                  </a:moveTo>
                  <a:lnTo>
                    <a:pt x="1536012" y="0"/>
                  </a:lnTo>
                </a:path>
                <a:path w="3197860" h="521334">
                  <a:moveTo>
                    <a:pt x="3197324" y="521054"/>
                  </a:moveTo>
                  <a:lnTo>
                    <a:pt x="1536012" y="0"/>
                  </a:lnTo>
                </a:path>
              </a:pathLst>
            </a:custGeom>
            <a:ln w="4310">
              <a:solidFill>
                <a:srgbClr val="4677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47927" y="2764344"/>
              <a:ext cx="1509395" cy="592455"/>
            </a:xfrm>
            <a:custGeom>
              <a:avLst/>
              <a:gdLst/>
              <a:ahLst/>
              <a:cxnLst/>
              <a:rect l="l" t="t" r="r" b="b"/>
              <a:pathLst>
                <a:path w="1509395" h="592454">
                  <a:moveTo>
                    <a:pt x="1508815" y="0"/>
                  </a:moveTo>
                  <a:lnTo>
                    <a:pt x="0" y="0"/>
                  </a:lnTo>
                  <a:lnTo>
                    <a:pt x="0" y="592425"/>
                  </a:lnTo>
                  <a:lnTo>
                    <a:pt x="1508815" y="592425"/>
                  </a:lnTo>
                  <a:lnTo>
                    <a:pt x="1508815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83834" y="3050560"/>
              <a:ext cx="1433830" cy="0"/>
            </a:xfrm>
            <a:custGeom>
              <a:avLst/>
              <a:gdLst/>
              <a:ahLst/>
              <a:cxnLst/>
              <a:rect l="l" t="t" r="r" b="b"/>
              <a:pathLst>
                <a:path w="1433830">
                  <a:moveTo>
                    <a:pt x="0" y="0"/>
                  </a:moveTo>
                  <a:lnTo>
                    <a:pt x="600427" y="0"/>
                  </a:lnTo>
                </a:path>
                <a:path w="1433830">
                  <a:moveTo>
                    <a:pt x="825827" y="0"/>
                  </a:moveTo>
                  <a:lnTo>
                    <a:pt x="1433618" y="0"/>
                  </a:lnTo>
                </a:path>
              </a:pathLst>
            </a:custGeom>
            <a:ln w="89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47927" y="3097623"/>
            <a:ext cx="1509395" cy="259715"/>
          </a:xfrm>
          <a:prstGeom prst="rect">
            <a:avLst/>
          </a:prstGeom>
          <a:solidFill>
            <a:srgbClr val="CCFFCC"/>
          </a:solidFill>
        </p:spPr>
        <p:txBody>
          <a:bodyPr vert="horz" wrap="square" lIns="0" tIns="0" rIns="0" bIns="0" rtlCol="0">
            <a:spAutoFit/>
          </a:bodyPr>
          <a:lstStyle/>
          <a:p>
            <a:pPr marL="53340">
              <a:lnSpc>
                <a:spcPts val="1720"/>
              </a:lnSpc>
              <a:tabLst>
                <a:tab pos="879475" algn="l"/>
              </a:tabLst>
            </a:pPr>
            <a:r>
              <a:rPr sz="1700" i="1" spc="-30" dirty="0">
                <a:latin typeface="Times New Roman"/>
                <a:cs typeface="Times New Roman"/>
              </a:rPr>
              <a:t>Sin</a:t>
            </a:r>
            <a:r>
              <a:rPr sz="1700" spc="-30" dirty="0">
                <a:latin typeface="Times New Roman"/>
                <a:cs typeface="Times New Roman"/>
              </a:rPr>
              <a:t>(</a:t>
            </a:r>
            <a:r>
              <a:rPr sz="1750" spc="-30" dirty="0">
                <a:latin typeface="Symbol"/>
                <a:cs typeface="Symbol"/>
              </a:rPr>
              <a:t></a:t>
            </a:r>
            <a:r>
              <a:rPr sz="1750" spc="-210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)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i="1" dirty="0">
                <a:latin typeface="Times New Roman"/>
                <a:cs typeface="Times New Roman"/>
              </a:rPr>
              <a:t>Sin</a:t>
            </a:r>
            <a:r>
              <a:rPr sz="1700" dirty="0">
                <a:latin typeface="Times New Roman"/>
                <a:cs typeface="Times New Roman"/>
              </a:rPr>
              <a:t>(</a:t>
            </a:r>
            <a:r>
              <a:rPr sz="1750" dirty="0">
                <a:latin typeface="Symbol"/>
                <a:cs typeface="Symbol"/>
              </a:rPr>
              <a:t></a:t>
            </a:r>
            <a:r>
              <a:rPr sz="1750" spc="-175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)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29944" y="2742694"/>
            <a:ext cx="948690" cy="283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828040" algn="l"/>
              </a:tabLst>
            </a:pPr>
            <a:r>
              <a:rPr sz="1700" i="1" spc="-50" dirty="0">
                <a:latin typeface="Times New Roman"/>
                <a:cs typeface="Times New Roman"/>
              </a:rPr>
              <a:t>a</a:t>
            </a:r>
            <a:r>
              <a:rPr sz="1700" i="1" dirty="0">
                <a:latin typeface="Times New Roman"/>
                <a:cs typeface="Times New Roman"/>
              </a:rPr>
              <a:t>	</a:t>
            </a:r>
            <a:r>
              <a:rPr sz="1700" i="1" spc="-50" dirty="0">
                <a:latin typeface="Times New Roman"/>
                <a:cs typeface="Times New Roman"/>
              </a:rPr>
              <a:t>b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39825" y="2876843"/>
            <a:ext cx="131445" cy="283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700" spc="-50" dirty="0">
                <a:latin typeface="Symbol"/>
                <a:cs typeface="Symbol"/>
              </a:rPr>
              <a:t></a:t>
            </a:r>
            <a:endParaRPr sz="1700">
              <a:latin typeface="Symbol"/>
              <a:cs typeface="Symbo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241259" y="1893548"/>
            <a:ext cx="1522730" cy="1470025"/>
            <a:chOff x="1241259" y="1893548"/>
            <a:chExt cx="1522730" cy="1470025"/>
          </a:xfrm>
        </p:grpSpPr>
        <p:sp>
          <p:nvSpPr>
            <p:cNvPr id="22" name="object 22"/>
            <p:cNvSpPr/>
            <p:nvPr/>
          </p:nvSpPr>
          <p:spPr>
            <a:xfrm>
              <a:off x="1247927" y="2764344"/>
              <a:ext cx="1509395" cy="592455"/>
            </a:xfrm>
            <a:custGeom>
              <a:avLst/>
              <a:gdLst/>
              <a:ahLst/>
              <a:cxnLst/>
              <a:rect l="l" t="t" r="r" b="b"/>
              <a:pathLst>
                <a:path w="1509395" h="592454">
                  <a:moveTo>
                    <a:pt x="0" y="592425"/>
                  </a:moveTo>
                  <a:lnTo>
                    <a:pt x="1508815" y="592425"/>
                  </a:lnTo>
                  <a:lnTo>
                    <a:pt x="1508815" y="0"/>
                  </a:lnTo>
                  <a:lnTo>
                    <a:pt x="0" y="0"/>
                  </a:lnTo>
                  <a:lnTo>
                    <a:pt x="0" y="592425"/>
                  </a:lnTo>
                  <a:close/>
                </a:path>
              </a:pathLst>
            </a:custGeom>
            <a:ln w="129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02336" y="1895771"/>
              <a:ext cx="593090" cy="868680"/>
            </a:xfrm>
            <a:custGeom>
              <a:avLst/>
              <a:gdLst/>
              <a:ahLst/>
              <a:cxnLst/>
              <a:rect l="l" t="t" r="r" b="b"/>
              <a:pathLst>
                <a:path w="593089" h="868680">
                  <a:moveTo>
                    <a:pt x="592722" y="0"/>
                  </a:moveTo>
                  <a:lnTo>
                    <a:pt x="0" y="868484"/>
                  </a:lnTo>
                </a:path>
              </a:pathLst>
            </a:custGeom>
            <a:ln w="4310">
              <a:solidFill>
                <a:srgbClr val="4677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484367" y="602884"/>
            <a:ext cx="1293495" cy="287655"/>
          </a:xfrm>
          <a:prstGeom prst="rect">
            <a:avLst/>
          </a:prstGeom>
          <a:solidFill>
            <a:srgbClr val="CCFFCC"/>
          </a:solidFill>
          <a:ln w="1292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240">
              <a:lnSpc>
                <a:spcPts val="1925"/>
              </a:lnSpc>
            </a:pPr>
            <a:r>
              <a:rPr sz="1800" dirty="0">
                <a:latin typeface="Symbol"/>
                <a:cs typeface="Symbol"/>
              </a:rPr>
              <a:t>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Symbol"/>
                <a:cs typeface="Symbol"/>
              </a:rPr>
              <a:t>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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Symbol"/>
                <a:cs typeface="Symbol"/>
              </a:rPr>
              <a:t>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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Symbol"/>
                <a:cs typeface="Symbol"/>
              </a:rPr>
              <a:t></a:t>
            </a:r>
            <a:r>
              <a:rPr sz="1700" spc="-1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Symbol"/>
                <a:cs typeface="Symbol"/>
              </a:rPr>
              <a:t>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48199" y="2892274"/>
            <a:ext cx="1167765" cy="323215"/>
          </a:xfrm>
          <a:prstGeom prst="rect">
            <a:avLst/>
          </a:prstGeom>
          <a:solidFill>
            <a:srgbClr val="CCFFCC"/>
          </a:solidFill>
          <a:ln w="1292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2384">
              <a:lnSpc>
                <a:spcPts val="2035"/>
              </a:lnSpc>
            </a:pPr>
            <a:r>
              <a:rPr sz="1650" i="1" dirty="0">
                <a:latin typeface="Times New Roman"/>
                <a:cs typeface="Times New Roman"/>
              </a:rPr>
              <a:t>h</a:t>
            </a:r>
            <a:r>
              <a:rPr sz="1425" i="1" baseline="-23391" dirty="0">
                <a:latin typeface="Times New Roman"/>
                <a:cs typeface="Times New Roman"/>
              </a:rPr>
              <a:t>c</a:t>
            </a:r>
            <a:r>
              <a:rPr sz="1425" i="1" spc="719" baseline="-23391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Symbol"/>
                <a:cs typeface="Symbol"/>
              </a:rPr>
              <a:t></a:t>
            </a:r>
            <a:r>
              <a:rPr sz="1650" spc="-5" dirty="0">
                <a:latin typeface="Times New Roman"/>
                <a:cs typeface="Times New Roman"/>
              </a:rPr>
              <a:t> </a:t>
            </a:r>
            <a:r>
              <a:rPr sz="1650" i="1" spc="-10" dirty="0">
                <a:latin typeface="Times New Roman"/>
                <a:cs typeface="Times New Roman"/>
              </a:rPr>
              <a:t>bSin</a:t>
            </a:r>
            <a:r>
              <a:rPr sz="1650" spc="-10" dirty="0">
                <a:latin typeface="Times New Roman"/>
                <a:cs typeface="Times New Roman"/>
              </a:rPr>
              <a:t>(</a:t>
            </a:r>
            <a:r>
              <a:rPr sz="1750" spc="-10" dirty="0">
                <a:latin typeface="Symbol"/>
                <a:cs typeface="Symbol"/>
              </a:rPr>
              <a:t></a:t>
            </a:r>
            <a:r>
              <a:rPr sz="1750" spc="-229" dirty="0">
                <a:latin typeface="Times New Roman"/>
                <a:cs typeface="Times New Roman"/>
              </a:rPr>
              <a:t> </a:t>
            </a:r>
            <a:r>
              <a:rPr sz="1650" spc="-50" dirty="0">
                <a:latin typeface="Times New Roman"/>
                <a:cs typeface="Times New Roman"/>
              </a:rPr>
              <a:t>)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592837" y="1893548"/>
            <a:ext cx="2268220" cy="2550160"/>
            <a:chOff x="2592837" y="1893548"/>
            <a:chExt cx="2268220" cy="2550160"/>
          </a:xfrm>
        </p:grpSpPr>
        <p:sp>
          <p:nvSpPr>
            <p:cNvPr id="27" name="object 27"/>
            <p:cNvSpPr/>
            <p:nvPr/>
          </p:nvSpPr>
          <p:spPr>
            <a:xfrm>
              <a:off x="2595059" y="1895771"/>
              <a:ext cx="1637030" cy="996950"/>
            </a:xfrm>
            <a:custGeom>
              <a:avLst/>
              <a:gdLst/>
              <a:ahLst/>
              <a:cxnLst/>
              <a:rect l="l" t="t" r="r" b="b"/>
              <a:pathLst>
                <a:path w="1637029" h="996950">
                  <a:moveTo>
                    <a:pt x="0" y="0"/>
                  </a:moveTo>
                  <a:lnTo>
                    <a:pt x="1636970" y="996503"/>
                  </a:lnTo>
                </a:path>
              </a:pathLst>
            </a:custGeom>
            <a:ln w="4309">
              <a:solidFill>
                <a:srgbClr val="4677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73586" y="3956108"/>
              <a:ext cx="485140" cy="485140"/>
            </a:xfrm>
            <a:custGeom>
              <a:avLst/>
              <a:gdLst/>
              <a:ahLst/>
              <a:cxnLst/>
              <a:rect l="l" t="t" r="r" b="b"/>
              <a:pathLst>
                <a:path w="485139" h="485139">
                  <a:moveTo>
                    <a:pt x="242514" y="0"/>
                  </a:moveTo>
                  <a:lnTo>
                    <a:pt x="193617" y="4921"/>
                  </a:lnTo>
                  <a:lnTo>
                    <a:pt x="148085" y="19037"/>
                  </a:lnTo>
                  <a:lnTo>
                    <a:pt x="106889" y="41377"/>
                  </a:lnTo>
                  <a:lnTo>
                    <a:pt x="71002" y="70967"/>
                  </a:lnTo>
                  <a:lnTo>
                    <a:pt x="41397" y="106835"/>
                  </a:lnTo>
                  <a:lnTo>
                    <a:pt x="19047" y="148011"/>
                  </a:lnTo>
                  <a:lnTo>
                    <a:pt x="4923" y="193520"/>
                  </a:lnTo>
                  <a:lnTo>
                    <a:pt x="0" y="242392"/>
                  </a:lnTo>
                  <a:lnTo>
                    <a:pt x="4923" y="291213"/>
                  </a:lnTo>
                  <a:lnTo>
                    <a:pt x="19047" y="336698"/>
                  </a:lnTo>
                  <a:lnTo>
                    <a:pt x="41397" y="377870"/>
                  </a:lnTo>
                  <a:lnTo>
                    <a:pt x="71002" y="413750"/>
                  </a:lnTo>
                  <a:lnTo>
                    <a:pt x="106889" y="443360"/>
                  </a:lnTo>
                  <a:lnTo>
                    <a:pt x="148085" y="465722"/>
                  </a:lnTo>
                  <a:lnTo>
                    <a:pt x="193617" y="479856"/>
                  </a:lnTo>
                  <a:lnTo>
                    <a:pt x="242514" y="484785"/>
                  </a:lnTo>
                  <a:lnTo>
                    <a:pt x="291359" y="479856"/>
                  </a:lnTo>
                  <a:lnTo>
                    <a:pt x="336867" y="465722"/>
                  </a:lnTo>
                  <a:lnTo>
                    <a:pt x="378060" y="443360"/>
                  </a:lnTo>
                  <a:lnTo>
                    <a:pt x="413958" y="413750"/>
                  </a:lnTo>
                  <a:lnTo>
                    <a:pt x="443583" y="377870"/>
                  </a:lnTo>
                  <a:lnTo>
                    <a:pt x="465955" y="336698"/>
                  </a:lnTo>
                  <a:lnTo>
                    <a:pt x="480097" y="291213"/>
                  </a:lnTo>
                  <a:lnTo>
                    <a:pt x="485028" y="242392"/>
                  </a:lnTo>
                  <a:lnTo>
                    <a:pt x="480097" y="193520"/>
                  </a:lnTo>
                  <a:lnTo>
                    <a:pt x="465955" y="148011"/>
                  </a:lnTo>
                  <a:lnTo>
                    <a:pt x="443583" y="106835"/>
                  </a:lnTo>
                  <a:lnTo>
                    <a:pt x="413958" y="70967"/>
                  </a:lnTo>
                  <a:lnTo>
                    <a:pt x="378060" y="41377"/>
                  </a:lnTo>
                  <a:lnTo>
                    <a:pt x="336867" y="19037"/>
                  </a:lnTo>
                  <a:lnTo>
                    <a:pt x="291359" y="4921"/>
                  </a:lnTo>
                  <a:lnTo>
                    <a:pt x="242514" y="0"/>
                  </a:lnTo>
                  <a:close/>
                </a:path>
              </a:pathLst>
            </a:custGeom>
            <a:solidFill>
              <a:srgbClr val="E8ED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373586" y="3956109"/>
              <a:ext cx="485140" cy="485140"/>
            </a:xfrm>
            <a:custGeom>
              <a:avLst/>
              <a:gdLst/>
              <a:ahLst/>
              <a:cxnLst/>
              <a:rect l="l" t="t" r="r" b="b"/>
              <a:pathLst>
                <a:path w="485139" h="485139">
                  <a:moveTo>
                    <a:pt x="0" y="242392"/>
                  </a:moveTo>
                  <a:lnTo>
                    <a:pt x="4923" y="193520"/>
                  </a:lnTo>
                  <a:lnTo>
                    <a:pt x="19047" y="148011"/>
                  </a:lnTo>
                  <a:lnTo>
                    <a:pt x="41397" y="106835"/>
                  </a:lnTo>
                  <a:lnTo>
                    <a:pt x="71002" y="70967"/>
                  </a:lnTo>
                  <a:lnTo>
                    <a:pt x="106889" y="41377"/>
                  </a:lnTo>
                  <a:lnTo>
                    <a:pt x="148085" y="19037"/>
                  </a:lnTo>
                  <a:lnTo>
                    <a:pt x="193617" y="4921"/>
                  </a:lnTo>
                  <a:lnTo>
                    <a:pt x="242514" y="0"/>
                  </a:lnTo>
                  <a:lnTo>
                    <a:pt x="291359" y="4921"/>
                  </a:lnTo>
                  <a:lnTo>
                    <a:pt x="336867" y="19037"/>
                  </a:lnTo>
                  <a:lnTo>
                    <a:pt x="378060" y="41377"/>
                  </a:lnTo>
                  <a:lnTo>
                    <a:pt x="413958" y="70967"/>
                  </a:lnTo>
                  <a:lnTo>
                    <a:pt x="443583" y="106835"/>
                  </a:lnTo>
                  <a:lnTo>
                    <a:pt x="465955" y="148011"/>
                  </a:lnTo>
                  <a:lnTo>
                    <a:pt x="480096" y="193520"/>
                  </a:lnTo>
                  <a:lnTo>
                    <a:pt x="485028" y="242392"/>
                  </a:lnTo>
                  <a:lnTo>
                    <a:pt x="480096" y="291213"/>
                  </a:lnTo>
                  <a:lnTo>
                    <a:pt x="465955" y="336698"/>
                  </a:lnTo>
                  <a:lnTo>
                    <a:pt x="443583" y="377870"/>
                  </a:lnTo>
                  <a:lnTo>
                    <a:pt x="413958" y="413750"/>
                  </a:lnTo>
                  <a:lnTo>
                    <a:pt x="378060" y="443360"/>
                  </a:lnTo>
                  <a:lnTo>
                    <a:pt x="336867" y="465722"/>
                  </a:lnTo>
                  <a:lnTo>
                    <a:pt x="291359" y="479856"/>
                  </a:lnTo>
                  <a:lnTo>
                    <a:pt x="242514" y="484785"/>
                  </a:lnTo>
                  <a:lnTo>
                    <a:pt x="193617" y="479856"/>
                  </a:lnTo>
                  <a:lnTo>
                    <a:pt x="148085" y="465722"/>
                  </a:lnTo>
                  <a:lnTo>
                    <a:pt x="106889" y="443360"/>
                  </a:lnTo>
                  <a:lnTo>
                    <a:pt x="71002" y="413750"/>
                  </a:lnTo>
                  <a:lnTo>
                    <a:pt x="41397" y="377870"/>
                  </a:lnTo>
                  <a:lnTo>
                    <a:pt x="19047" y="336698"/>
                  </a:lnTo>
                  <a:lnTo>
                    <a:pt x="4923" y="291213"/>
                  </a:lnTo>
                  <a:lnTo>
                    <a:pt x="0" y="242392"/>
                  </a:lnTo>
                  <a:close/>
                </a:path>
              </a:pathLst>
            </a:custGeom>
            <a:ln w="4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490516" y="4060114"/>
            <a:ext cx="25146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400" b="1" spc="-25" dirty="0">
                <a:latin typeface="Arial"/>
                <a:cs typeface="Arial"/>
              </a:rPr>
              <a:t>h</a:t>
            </a:r>
            <a:r>
              <a:rPr sz="1350" b="1" spc="-37" baseline="-12345" dirty="0">
                <a:latin typeface="Arial"/>
                <a:cs typeface="Arial"/>
              </a:rPr>
              <a:t>c</a:t>
            </a:r>
            <a:endParaRPr sz="1350" baseline="-12345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637908" y="3213242"/>
            <a:ext cx="1980564" cy="1229995"/>
            <a:chOff x="2637908" y="3213242"/>
            <a:chExt cx="1980564" cy="1229995"/>
          </a:xfrm>
        </p:grpSpPr>
        <p:sp>
          <p:nvSpPr>
            <p:cNvPr id="32" name="object 32"/>
            <p:cNvSpPr/>
            <p:nvPr/>
          </p:nvSpPr>
          <p:spPr>
            <a:xfrm>
              <a:off x="4232030" y="3215464"/>
              <a:ext cx="384175" cy="741045"/>
            </a:xfrm>
            <a:custGeom>
              <a:avLst/>
              <a:gdLst/>
              <a:ahLst/>
              <a:cxnLst/>
              <a:rect l="l" t="t" r="r" b="b"/>
              <a:pathLst>
                <a:path w="384175" h="741045">
                  <a:moveTo>
                    <a:pt x="0" y="0"/>
                  </a:moveTo>
                  <a:lnTo>
                    <a:pt x="384070" y="740644"/>
                  </a:lnTo>
                </a:path>
              </a:pathLst>
            </a:custGeom>
            <a:ln w="4310">
              <a:solidFill>
                <a:srgbClr val="4677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640131" y="3956108"/>
              <a:ext cx="485140" cy="485140"/>
            </a:xfrm>
            <a:custGeom>
              <a:avLst/>
              <a:gdLst/>
              <a:ahLst/>
              <a:cxnLst/>
              <a:rect l="l" t="t" r="r" b="b"/>
              <a:pathLst>
                <a:path w="485139" h="485139">
                  <a:moveTo>
                    <a:pt x="242514" y="0"/>
                  </a:moveTo>
                  <a:lnTo>
                    <a:pt x="193638" y="4921"/>
                  </a:lnTo>
                  <a:lnTo>
                    <a:pt x="148115" y="19037"/>
                  </a:lnTo>
                  <a:lnTo>
                    <a:pt x="106920" y="41377"/>
                  </a:lnTo>
                  <a:lnTo>
                    <a:pt x="71029" y="70967"/>
                  </a:lnTo>
                  <a:lnTo>
                    <a:pt x="41416" y="106835"/>
                  </a:lnTo>
                  <a:lnTo>
                    <a:pt x="19057" y="148011"/>
                  </a:lnTo>
                  <a:lnTo>
                    <a:pt x="4926" y="193520"/>
                  </a:lnTo>
                  <a:lnTo>
                    <a:pt x="0" y="242392"/>
                  </a:lnTo>
                  <a:lnTo>
                    <a:pt x="4926" y="291213"/>
                  </a:lnTo>
                  <a:lnTo>
                    <a:pt x="19057" y="336698"/>
                  </a:lnTo>
                  <a:lnTo>
                    <a:pt x="41416" y="377870"/>
                  </a:lnTo>
                  <a:lnTo>
                    <a:pt x="71029" y="413750"/>
                  </a:lnTo>
                  <a:lnTo>
                    <a:pt x="106920" y="443360"/>
                  </a:lnTo>
                  <a:lnTo>
                    <a:pt x="148115" y="465722"/>
                  </a:lnTo>
                  <a:lnTo>
                    <a:pt x="193638" y="479856"/>
                  </a:lnTo>
                  <a:lnTo>
                    <a:pt x="242514" y="484785"/>
                  </a:lnTo>
                  <a:lnTo>
                    <a:pt x="291386" y="479856"/>
                  </a:lnTo>
                  <a:lnTo>
                    <a:pt x="336901" y="465722"/>
                  </a:lnTo>
                  <a:lnTo>
                    <a:pt x="378084" y="443360"/>
                  </a:lnTo>
                  <a:lnTo>
                    <a:pt x="413962" y="413750"/>
                  </a:lnTo>
                  <a:lnTo>
                    <a:pt x="443562" y="377870"/>
                  </a:lnTo>
                  <a:lnTo>
                    <a:pt x="465910" y="336698"/>
                  </a:lnTo>
                  <a:lnTo>
                    <a:pt x="480032" y="291213"/>
                  </a:lnTo>
                  <a:lnTo>
                    <a:pt x="484956" y="242392"/>
                  </a:lnTo>
                  <a:lnTo>
                    <a:pt x="480032" y="193520"/>
                  </a:lnTo>
                  <a:lnTo>
                    <a:pt x="465910" y="148011"/>
                  </a:lnTo>
                  <a:lnTo>
                    <a:pt x="443562" y="106835"/>
                  </a:lnTo>
                  <a:lnTo>
                    <a:pt x="413962" y="70967"/>
                  </a:lnTo>
                  <a:lnTo>
                    <a:pt x="378084" y="41377"/>
                  </a:lnTo>
                  <a:lnTo>
                    <a:pt x="336901" y="19037"/>
                  </a:lnTo>
                  <a:lnTo>
                    <a:pt x="291386" y="4921"/>
                  </a:lnTo>
                  <a:lnTo>
                    <a:pt x="242514" y="0"/>
                  </a:lnTo>
                  <a:close/>
                </a:path>
              </a:pathLst>
            </a:custGeom>
            <a:solidFill>
              <a:srgbClr val="E8ED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640131" y="3956108"/>
              <a:ext cx="485140" cy="485140"/>
            </a:xfrm>
            <a:custGeom>
              <a:avLst/>
              <a:gdLst/>
              <a:ahLst/>
              <a:cxnLst/>
              <a:rect l="l" t="t" r="r" b="b"/>
              <a:pathLst>
                <a:path w="485139" h="485139">
                  <a:moveTo>
                    <a:pt x="0" y="242392"/>
                  </a:moveTo>
                  <a:lnTo>
                    <a:pt x="4926" y="193520"/>
                  </a:lnTo>
                  <a:lnTo>
                    <a:pt x="19057" y="148011"/>
                  </a:lnTo>
                  <a:lnTo>
                    <a:pt x="41416" y="106835"/>
                  </a:lnTo>
                  <a:lnTo>
                    <a:pt x="71029" y="70967"/>
                  </a:lnTo>
                  <a:lnTo>
                    <a:pt x="106920" y="41377"/>
                  </a:lnTo>
                  <a:lnTo>
                    <a:pt x="148115" y="19037"/>
                  </a:lnTo>
                  <a:lnTo>
                    <a:pt x="193638" y="4921"/>
                  </a:lnTo>
                  <a:lnTo>
                    <a:pt x="242514" y="0"/>
                  </a:lnTo>
                  <a:lnTo>
                    <a:pt x="291386" y="4921"/>
                  </a:lnTo>
                  <a:lnTo>
                    <a:pt x="336901" y="19037"/>
                  </a:lnTo>
                  <a:lnTo>
                    <a:pt x="378084" y="41377"/>
                  </a:lnTo>
                  <a:lnTo>
                    <a:pt x="413962" y="70967"/>
                  </a:lnTo>
                  <a:lnTo>
                    <a:pt x="443562" y="106835"/>
                  </a:lnTo>
                  <a:lnTo>
                    <a:pt x="465910" y="148011"/>
                  </a:lnTo>
                  <a:lnTo>
                    <a:pt x="480032" y="193520"/>
                  </a:lnTo>
                  <a:lnTo>
                    <a:pt x="484956" y="242392"/>
                  </a:lnTo>
                  <a:lnTo>
                    <a:pt x="480032" y="291213"/>
                  </a:lnTo>
                  <a:lnTo>
                    <a:pt x="465910" y="336698"/>
                  </a:lnTo>
                  <a:lnTo>
                    <a:pt x="443562" y="377870"/>
                  </a:lnTo>
                  <a:lnTo>
                    <a:pt x="413962" y="413750"/>
                  </a:lnTo>
                  <a:lnTo>
                    <a:pt x="378084" y="443360"/>
                  </a:lnTo>
                  <a:lnTo>
                    <a:pt x="336901" y="465722"/>
                  </a:lnTo>
                  <a:lnTo>
                    <a:pt x="291386" y="479856"/>
                  </a:lnTo>
                  <a:lnTo>
                    <a:pt x="242514" y="484785"/>
                  </a:lnTo>
                  <a:lnTo>
                    <a:pt x="193638" y="479856"/>
                  </a:lnTo>
                  <a:lnTo>
                    <a:pt x="148115" y="465722"/>
                  </a:lnTo>
                  <a:lnTo>
                    <a:pt x="106920" y="443360"/>
                  </a:lnTo>
                  <a:lnTo>
                    <a:pt x="71029" y="413750"/>
                  </a:lnTo>
                  <a:lnTo>
                    <a:pt x="41416" y="377870"/>
                  </a:lnTo>
                  <a:lnTo>
                    <a:pt x="19057" y="336698"/>
                  </a:lnTo>
                  <a:lnTo>
                    <a:pt x="4926" y="291213"/>
                  </a:lnTo>
                  <a:lnTo>
                    <a:pt x="0" y="242392"/>
                  </a:lnTo>
                  <a:close/>
                </a:path>
              </a:pathLst>
            </a:custGeom>
            <a:ln w="4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815065" y="4060114"/>
            <a:ext cx="135255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b="1" spc="-50" dirty="0">
                <a:latin typeface="Arial"/>
                <a:cs typeface="Arial"/>
              </a:rPr>
              <a:t>b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137752" y="1893548"/>
            <a:ext cx="3096895" cy="2550160"/>
            <a:chOff x="1137752" y="1893548"/>
            <a:chExt cx="3096895" cy="2550160"/>
          </a:xfrm>
        </p:grpSpPr>
        <p:sp>
          <p:nvSpPr>
            <p:cNvPr id="37" name="object 37"/>
            <p:cNvSpPr/>
            <p:nvPr/>
          </p:nvSpPr>
          <p:spPr>
            <a:xfrm>
              <a:off x="2002336" y="1895771"/>
              <a:ext cx="2230120" cy="2060575"/>
            </a:xfrm>
            <a:custGeom>
              <a:avLst/>
              <a:gdLst/>
              <a:ahLst/>
              <a:cxnLst/>
              <a:rect l="l" t="t" r="r" b="b"/>
              <a:pathLst>
                <a:path w="2230120" h="2060575">
                  <a:moveTo>
                    <a:pt x="2229693" y="1319693"/>
                  </a:moveTo>
                  <a:lnTo>
                    <a:pt x="880308" y="2060337"/>
                  </a:lnTo>
                </a:path>
                <a:path w="2230120" h="2060575">
                  <a:moveTo>
                    <a:pt x="0" y="1460999"/>
                  </a:moveTo>
                  <a:lnTo>
                    <a:pt x="880308" y="2060337"/>
                  </a:lnTo>
                </a:path>
                <a:path w="2230120" h="2060575">
                  <a:moveTo>
                    <a:pt x="0" y="868484"/>
                  </a:moveTo>
                  <a:lnTo>
                    <a:pt x="1159217" y="395548"/>
                  </a:lnTo>
                  <a:lnTo>
                    <a:pt x="1155181" y="374479"/>
                  </a:lnTo>
                  <a:lnTo>
                    <a:pt x="1159397" y="354252"/>
                  </a:lnTo>
                  <a:lnTo>
                    <a:pt x="1170888" y="337122"/>
                  </a:lnTo>
                  <a:lnTo>
                    <a:pt x="1188678" y="325344"/>
                  </a:lnTo>
                  <a:lnTo>
                    <a:pt x="1209758" y="321310"/>
                  </a:lnTo>
                  <a:lnTo>
                    <a:pt x="1229995" y="325524"/>
                  </a:lnTo>
                  <a:lnTo>
                    <a:pt x="1247134" y="337010"/>
                  </a:lnTo>
                  <a:lnTo>
                    <a:pt x="1258917" y="354791"/>
                  </a:lnTo>
                  <a:lnTo>
                    <a:pt x="2128735" y="0"/>
                  </a:lnTo>
                </a:path>
              </a:pathLst>
            </a:custGeom>
            <a:ln w="4310">
              <a:solidFill>
                <a:srgbClr val="4677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139974" y="3956108"/>
              <a:ext cx="485140" cy="485140"/>
            </a:xfrm>
            <a:custGeom>
              <a:avLst/>
              <a:gdLst/>
              <a:ahLst/>
              <a:cxnLst/>
              <a:rect l="l" t="t" r="r" b="b"/>
              <a:pathLst>
                <a:path w="485140" h="485139">
                  <a:moveTo>
                    <a:pt x="242514" y="0"/>
                  </a:moveTo>
                  <a:lnTo>
                    <a:pt x="193639" y="4921"/>
                  </a:lnTo>
                  <a:lnTo>
                    <a:pt x="148117" y="19037"/>
                  </a:lnTo>
                  <a:lnTo>
                    <a:pt x="106922" y="41377"/>
                  </a:lnTo>
                  <a:lnTo>
                    <a:pt x="71031" y="70967"/>
                  </a:lnTo>
                  <a:lnTo>
                    <a:pt x="41417" y="106835"/>
                  </a:lnTo>
                  <a:lnTo>
                    <a:pt x="19058" y="148011"/>
                  </a:lnTo>
                  <a:lnTo>
                    <a:pt x="4927" y="193520"/>
                  </a:lnTo>
                  <a:lnTo>
                    <a:pt x="0" y="242392"/>
                  </a:lnTo>
                  <a:lnTo>
                    <a:pt x="4927" y="291213"/>
                  </a:lnTo>
                  <a:lnTo>
                    <a:pt x="19058" y="336698"/>
                  </a:lnTo>
                  <a:lnTo>
                    <a:pt x="41417" y="377870"/>
                  </a:lnTo>
                  <a:lnTo>
                    <a:pt x="71031" y="413750"/>
                  </a:lnTo>
                  <a:lnTo>
                    <a:pt x="106922" y="443360"/>
                  </a:lnTo>
                  <a:lnTo>
                    <a:pt x="148117" y="465722"/>
                  </a:lnTo>
                  <a:lnTo>
                    <a:pt x="193639" y="479856"/>
                  </a:lnTo>
                  <a:lnTo>
                    <a:pt x="242514" y="484785"/>
                  </a:lnTo>
                  <a:lnTo>
                    <a:pt x="291390" y="479856"/>
                  </a:lnTo>
                  <a:lnTo>
                    <a:pt x="336912" y="465722"/>
                  </a:lnTo>
                  <a:lnTo>
                    <a:pt x="378107" y="443360"/>
                  </a:lnTo>
                  <a:lnTo>
                    <a:pt x="413998" y="413750"/>
                  </a:lnTo>
                  <a:lnTo>
                    <a:pt x="443611" y="377870"/>
                  </a:lnTo>
                  <a:lnTo>
                    <a:pt x="465970" y="336698"/>
                  </a:lnTo>
                  <a:lnTo>
                    <a:pt x="480101" y="291213"/>
                  </a:lnTo>
                  <a:lnTo>
                    <a:pt x="485028" y="242392"/>
                  </a:lnTo>
                  <a:lnTo>
                    <a:pt x="480101" y="193520"/>
                  </a:lnTo>
                  <a:lnTo>
                    <a:pt x="465970" y="148011"/>
                  </a:lnTo>
                  <a:lnTo>
                    <a:pt x="443611" y="106835"/>
                  </a:lnTo>
                  <a:lnTo>
                    <a:pt x="413998" y="70967"/>
                  </a:lnTo>
                  <a:lnTo>
                    <a:pt x="378107" y="41377"/>
                  </a:lnTo>
                  <a:lnTo>
                    <a:pt x="336912" y="19037"/>
                  </a:lnTo>
                  <a:lnTo>
                    <a:pt x="291390" y="4921"/>
                  </a:lnTo>
                  <a:lnTo>
                    <a:pt x="242514" y="0"/>
                  </a:lnTo>
                  <a:close/>
                </a:path>
              </a:pathLst>
            </a:custGeom>
            <a:solidFill>
              <a:srgbClr val="E8ED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139974" y="3956109"/>
              <a:ext cx="485140" cy="485140"/>
            </a:xfrm>
            <a:custGeom>
              <a:avLst/>
              <a:gdLst/>
              <a:ahLst/>
              <a:cxnLst/>
              <a:rect l="l" t="t" r="r" b="b"/>
              <a:pathLst>
                <a:path w="485140" h="485139">
                  <a:moveTo>
                    <a:pt x="0" y="242392"/>
                  </a:moveTo>
                  <a:lnTo>
                    <a:pt x="4927" y="193520"/>
                  </a:lnTo>
                  <a:lnTo>
                    <a:pt x="19058" y="148011"/>
                  </a:lnTo>
                  <a:lnTo>
                    <a:pt x="41417" y="106835"/>
                  </a:lnTo>
                  <a:lnTo>
                    <a:pt x="71031" y="70967"/>
                  </a:lnTo>
                  <a:lnTo>
                    <a:pt x="106922" y="41377"/>
                  </a:lnTo>
                  <a:lnTo>
                    <a:pt x="148117" y="19037"/>
                  </a:lnTo>
                  <a:lnTo>
                    <a:pt x="193639" y="4921"/>
                  </a:lnTo>
                  <a:lnTo>
                    <a:pt x="242514" y="0"/>
                  </a:lnTo>
                  <a:lnTo>
                    <a:pt x="291390" y="4921"/>
                  </a:lnTo>
                  <a:lnTo>
                    <a:pt x="336912" y="19037"/>
                  </a:lnTo>
                  <a:lnTo>
                    <a:pt x="378107" y="41377"/>
                  </a:lnTo>
                  <a:lnTo>
                    <a:pt x="413998" y="70967"/>
                  </a:lnTo>
                  <a:lnTo>
                    <a:pt x="443611" y="106835"/>
                  </a:lnTo>
                  <a:lnTo>
                    <a:pt x="465970" y="148011"/>
                  </a:lnTo>
                  <a:lnTo>
                    <a:pt x="480101" y="193520"/>
                  </a:lnTo>
                  <a:lnTo>
                    <a:pt x="485028" y="242392"/>
                  </a:lnTo>
                  <a:lnTo>
                    <a:pt x="480101" y="291213"/>
                  </a:lnTo>
                  <a:lnTo>
                    <a:pt x="465970" y="336698"/>
                  </a:lnTo>
                  <a:lnTo>
                    <a:pt x="443611" y="377870"/>
                  </a:lnTo>
                  <a:lnTo>
                    <a:pt x="413998" y="413750"/>
                  </a:lnTo>
                  <a:lnTo>
                    <a:pt x="378107" y="443360"/>
                  </a:lnTo>
                  <a:lnTo>
                    <a:pt x="336912" y="465722"/>
                  </a:lnTo>
                  <a:lnTo>
                    <a:pt x="291390" y="479856"/>
                  </a:lnTo>
                  <a:lnTo>
                    <a:pt x="242514" y="484785"/>
                  </a:lnTo>
                  <a:lnTo>
                    <a:pt x="193639" y="479856"/>
                  </a:lnTo>
                  <a:lnTo>
                    <a:pt x="148117" y="465722"/>
                  </a:lnTo>
                  <a:lnTo>
                    <a:pt x="106922" y="443360"/>
                  </a:lnTo>
                  <a:lnTo>
                    <a:pt x="71031" y="413750"/>
                  </a:lnTo>
                  <a:lnTo>
                    <a:pt x="41417" y="377870"/>
                  </a:lnTo>
                  <a:lnTo>
                    <a:pt x="19058" y="336698"/>
                  </a:lnTo>
                  <a:lnTo>
                    <a:pt x="4927" y="291213"/>
                  </a:lnTo>
                  <a:lnTo>
                    <a:pt x="0" y="242392"/>
                  </a:lnTo>
                  <a:close/>
                </a:path>
              </a:pathLst>
            </a:custGeom>
            <a:ln w="4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319830" y="4060114"/>
            <a:ext cx="12573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b="1" spc="-50" dirty="0"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380266" y="3354547"/>
            <a:ext cx="4855210" cy="1089025"/>
            <a:chOff x="1380266" y="3354547"/>
            <a:chExt cx="4855210" cy="1089025"/>
          </a:xfrm>
        </p:grpSpPr>
        <p:sp>
          <p:nvSpPr>
            <p:cNvPr id="42" name="object 42"/>
            <p:cNvSpPr/>
            <p:nvPr/>
          </p:nvSpPr>
          <p:spPr>
            <a:xfrm>
              <a:off x="1382488" y="3356770"/>
              <a:ext cx="620395" cy="599440"/>
            </a:xfrm>
            <a:custGeom>
              <a:avLst/>
              <a:gdLst/>
              <a:ahLst/>
              <a:cxnLst/>
              <a:rect l="l" t="t" r="r" b="b"/>
              <a:pathLst>
                <a:path w="620394" h="599439">
                  <a:moveTo>
                    <a:pt x="619848" y="0"/>
                  </a:moveTo>
                  <a:lnTo>
                    <a:pt x="0" y="599338"/>
                  </a:lnTo>
                </a:path>
              </a:pathLst>
            </a:custGeom>
            <a:ln w="4310">
              <a:solidFill>
                <a:srgbClr val="4677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47653" y="3956108"/>
              <a:ext cx="485140" cy="485140"/>
            </a:xfrm>
            <a:custGeom>
              <a:avLst/>
              <a:gdLst/>
              <a:ahLst/>
              <a:cxnLst/>
              <a:rect l="l" t="t" r="r" b="b"/>
              <a:pathLst>
                <a:path w="485139" h="485139">
                  <a:moveTo>
                    <a:pt x="242514" y="0"/>
                  </a:moveTo>
                  <a:lnTo>
                    <a:pt x="193669" y="4921"/>
                  </a:lnTo>
                  <a:lnTo>
                    <a:pt x="148160" y="19037"/>
                  </a:lnTo>
                  <a:lnTo>
                    <a:pt x="106968" y="41377"/>
                  </a:lnTo>
                  <a:lnTo>
                    <a:pt x="71070" y="70967"/>
                  </a:lnTo>
                  <a:lnTo>
                    <a:pt x="41445" y="106835"/>
                  </a:lnTo>
                  <a:lnTo>
                    <a:pt x="19072" y="148011"/>
                  </a:lnTo>
                  <a:lnTo>
                    <a:pt x="4931" y="193520"/>
                  </a:lnTo>
                  <a:lnTo>
                    <a:pt x="0" y="242392"/>
                  </a:lnTo>
                  <a:lnTo>
                    <a:pt x="4931" y="291213"/>
                  </a:lnTo>
                  <a:lnTo>
                    <a:pt x="19072" y="336698"/>
                  </a:lnTo>
                  <a:lnTo>
                    <a:pt x="41445" y="377870"/>
                  </a:lnTo>
                  <a:lnTo>
                    <a:pt x="71070" y="413750"/>
                  </a:lnTo>
                  <a:lnTo>
                    <a:pt x="106968" y="443360"/>
                  </a:lnTo>
                  <a:lnTo>
                    <a:pt x="148161" y="465722"/>
                  </a:lnTo>
                  <a:lnTo>
                    <a:pt x="193669" y="479856"/>
                  </a:lnTo>
                  <a:lnTo>
                    <a:pt x="242514" y="484785"/>
                  </a:lnTo>
                  <a:lnTo>
                    <a:pt x="291410" y="479856"/>
                  </a:lnTo>
                  <a:lnTo>
                    <a:pt x="336943" y="465722"/>
                  </a:lnTo>
                  <a:lnTo>
                    <a:pt x="378138" y="443360"/>
                  </a:lnTo>
                  <a:lnTo>
                    <a:pt x="414025" y="413750"/>
                  </a:lnTo>
                  <a:lnTo>
                    <a:pt x="443630" y="377870"/>
                  </a:lnTo>
                  <a:lnTo>
                    <a:pt x="465980" y="336698"/>
                  </a:lnTo>
                  <a:lnTo>
                    <a:pt x="480104" y="291213"/>
                  </a:lnTo>
                  <a:lnTo>
                    <a:pt x="485028" y="242392"/>
                  </a:lnTo>
                  <a:lnTo>
                    <a:pt x="480104" y="193520"/>
                  </a:lnTo>
                  <a:lnTo>
                    <a:pt x="465980" y="148011"/>
                  </a:lnTo>
                  <a:lnTo>
                    <a:pt x="443630" y="106835"/>
                  </a:lnTo>
                  <a:lnTo>
                    <a:pt x="414025" y="70967"/>
                  </a:lnTo>
                  <a:lnTo>
                    <a:pt x="378138" y="41377"/>
                  </a:lnTo>
                  <a:lnTo>
                    <a:pt x="336943" y="19037"/>
                  </a:lnTo>
                  <a:lnTo>
                    <a:pt x="291410" y="4921"/>
                  </a:lnTo>
                  <a:lnTo>
                    <a:pt x="24251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747653" y="3956108"/>
              <a:ext cx="485140" cy="485140"/>
            </a:xfrm>
            <a:custGeom>
              <a:avLst/>
              <a:gdLst/>
              <a:ahLst/>
              <a:cxnLst/>
              <a:rect l="l" t="t" r="r" b="b"/>
              <a:pathLst>
                <a:path w="485139" h="485139">
                  <a:moveTo>
                    <a:pt x="0" y="242392"/>
                  </a:moveTo>
                  <a:lnTo>
                    <a:pt x="4931" y="193520"/>
                  </a:lnTo>
                  <a:lnTo>
                    <a:pt x="19072" y="148011"/>
                  </a:lnTo>
                  <a:lnTo>
                    <a:pt x="41445" y="106835"/>
                  </a:lnTo>
                  <a:lnTo>
                    <a:pt x="71070" y="70967"/>
                  </a:lnTo>
                  <a:lnTo>
                    <a:pt x="106968" y="41377"/>
                  </a:lnTo>
                  <a:lnTo>
                    <a:pt x="148160" y="19037"/>
                  </a:lnTo>
                  <a:lnTo>
                    <a:pt x="193669" y="4921"/>
                  </a:lnTo>
                  <a:lnTo>
                    <a:pt x="242514" y="0"/>
                  </a:lnTo>
                  <a:lnTo>
                    <a:pt x="291410" y="4921"/>
                  </a:lnTo>
                  <a:lnTo>
                    <a:pt x="336943" y="19037"/>
                  </a:lnTo>
                  <a:lnTo>
                    <a:pt x="378138" y="41377"/>
                  </a:lnTo>
                  <a:lnTo>
                    <a:pt x="414025" y="70967"/>
                  </a:lnTo>
                  <a:lnTo>
                    <a:pt x="443630" y="106835"/>
                  </a:lnTo>
                  <a:lnTo>
                    <a:pt x="465980" y="148011"/>
                  </a:lnTo>
                  <a:lnTo>
                    <a:pt x="480104" y="193520"/>
                  </a:lnTo>
                  <a:lnTo>
                    <a:pt x="485028" y="242392"/>
                  </a:lnTo>
                  <a:lnTo>
                    <a:pt x="480104" y="291213"/>
                  </a:lnTo>
                  <a:lnTo>
                    <a:pt x="465980" y="336698"/>
                  </a:lnTo>
                  <a:lnTo>
                    <a:pt x="443630" y="377870"/>
                  </a:lnTo>
                  <a:lnTo>
                    <a:pt x="414025" y="413750"/>
                  </a:lnTo>
                  <a:lnTo>
                    <a:pt x="378138" y="443360"/>
                  </a:lnTo>
                  <a:lnTo>
                    <a:pt x="336943" y="465722"/>
                  </a:lnTo>
                  <a:lnTo>
                    <a:pt x="291410" y="479856"/>
                  </a:lnTo>
                  <a:lnTo>
                    <a:pt x="242514" y="484785"/>
                  </a:lnTo>
                  <a:lnTo>
                    <a:pt x="193669" y="479856"/>
                  </a:lnTo>
                  <a:lnTo>
                    <a:pt x="148161" y="465722"/>
                  </a:lnTo>
                  <a:lnTo>
                    <a:pt x="106968" y="443360"/>
                  </a:lnTo>
                  <a:lnTo>
                    <a:pt x="71070" y="413750"/>
                  </a:lnTo>
                  <a:lnTo>
                    <a:pt x="41445" y="377870"/>
                  </a:lnTo>
                  <a:lnTo>
                    <a:pt x="19072" y="336698"/>
                  </a:lnTo>
                  <a:lnTo>
                    <a:pt x="4931" y="291213"/>
                  </a:lnTo>
                  <a:lnTo>
                    <a:pt x="0" y="242392"/>
                  </a:lnTo>
                  <a:close/>
                </a:path>
              </a:pathLst>
            </a:custGeom>
            <a:ln w="4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927528" y="4060114"/>
            <a:ext cx="12573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b="1" spc="-50" dirty="0"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156278" y="2764344"/>
            <a:ext cx="1527175" cy="592455"/>
            <a:chOff x="5156278" y="2764344"/>
            <a:chExt cx="1527175" cy="592455"/>
          </a:xfrm>
        </p:grpSpPr>
        <p:sp>
          <p:nvSpPr>
            <p:cNvPr id="47" name="object 47"/>
            <p:cNvSpPr/>
            <p:nvPr/>
          </p:nvSpPr>
          <p:spPr>
            <a:xfrm>
              <a:off x="5156278" y="2764344"/>
              <a:ext cx="1527175" cy="592455"/>
            </a:xfrm>
            <a:custGeom>
              <a:avLst/>
              <a:gdLst/>
              <a:ahLst/>
              <a:cxnLst/>
              <a:rect l="l" t="t" r="r" b="b"/>
              <a:pathLst>
                <a:path w="1527175" h="592454">
                  <a:moveTo>
                    <a:pt x="1526635" y="0"/>
                  </a:moveTo>
                  <a:lnTo>
                    <a:pt x="0" y="0"/>
                  </a:lnTo>
                  <a:lnTo>
                    <a:pt x="0" y="592425"/>
                  </a:lnTo>
                  <a:lnTo>
                    <a:pt x="1526635" y="592425"/>
                  </a:lnTo>
                  <a:lnTo>
                    <a:pt x="1526635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192127" y="3050562"/>
              <a:ext cx="1440815" cy="0"/>
            </a:xfrm>
            <a:custGeom>
              <a:avLst/>
              <a:gdLst/>
              <a:ahLst/>
              <a:cxnLst/>
              <a:rect l="l" t="t" r="r" b="b"/>
              <a:pathLst>
                <a:path w="1440815">
                  <a:moveTo>
                    <a:pt x="0" y="0"/>
                  </a:moveTo>
                  <a:lnTo>
                    <a:pt x="607751" y="0"/>
                  </a:lnTo>
                </a:path>
                <a:path w="1440815">
                  <a:moveTo>
                    <a:pt x="836506" y="0"/>
                  </a:moveTo>
                  <a:lnTo>
                    <a:pt x="1440821" y="0"/>
                  </a:lnTo>
                </a:path>
              </a:pathLst>
            </a:custGeom>
            <a:ln w="89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6046586" y="3032987"/>
            <a:ext cx="58928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700" i="1" dirty="0">
                <a:latin typeface="Times New Roman"/>
                <a:cs typeface="Times New Roman"/>
              </a:rPr>
              <a:t>Sin</a:t>
            </a:r>
            <a:r>
              <a:rPr sz="1700" dirty="0">
                <a:latin typeface="Times New Roman"/>
                <a:cs typeface="Times New Roman"/>
              </a:rPr>
              <a:t>(</a:t>
            </a:r>
            <a:r>
              <a:rPr sz="1750" dirty="0">
                <a:latin typeface="Symbol"/>
                <a:cs typeface="Symbol"/>
              </a:rPr>
              <a:t></a:t>
            </a:r>
            <a:r>
              <a:rPr sz="1750" spc="-195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)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282070" y="2741623"/>
            <a:ext cx="108585" cy="283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700" i="1" spc="-50" dirty="0">
                <a:latin typeface="Times New Roman"/>
                <a:cs typeface="Times New Roman"/>
              </a:rPr>
              <a:t>c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210093" y="3032987"/>
            <a:ext cx="59245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700" i="1" dirty="0">
                <a:latin typeface="Times New Roman"/>
                <a:cs typeface="Times New Roman"/>
              </a:rPr>
              <a:t>Sin</a:t>
            </a:r>
            <a:r>
              <a:rPr sz="1700" dirty="0">
                <a:latin typeface="Times New Roman"/>
                <a:cs typeface="Times New Roman"/>
              </a:rPr>
              <a:t>(</a:t>
            </a:r>
            <a:r>
              <a:rPr sz="1750" dirty="0">
                <a:latin typeface="Symbol"/>
                <a:cs typeface="Symbol"/>
              </a:rPr>
              <a:t></a:t>
            </a:r>
            <a:r>
              <a:rPr sz="1750" spc="-170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)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440509" y="2741623"/>
            <a:ext cx="120650" cy="283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700" i="1" spc="-50" dirty="0">
                <a:latin typeface="Times New Roman"/>
                <a:cs typeface="Times New Roman"/>
              </a:rPr>
              <a:t>b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857083" y="2876870"/>
            <a:ext cx="131445" cy="283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700" spc="-50" dirty="0">
                <a:latin typeface="Symbol"/>
                <a:cs typeface="Symbol"/>
              </a:rPr>
              <a:t></a:t>
            </a:r>
            <a:endParaRPr sz="1700">
              <a:latin typeface="Symbol"/>
              <a:cs typeface="Symbo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2880422" y="1893548"/>
            <a:ext cx="3809365" cy="2065020"/>
            <a:chOff x="2880422" y="1893548"/>
            <a:chExt cx="3809365" cy="2065020"/>
          </a:xfrm>
        </p:grpSpPr>
        <p:sp>
          <p:nvSpPr>
            <p:cNvPr id="55" name="object 55"/>
            <p:cNvSpPr/>
            <p:nvPr/>
          </p:nvSpPr>
          <p:spPr>
            <a:xfrm>
              <a:off x="5156278" y="2764344"/>
              <a:ext cx="1527175" cy="592455"/>
            </a:xfrm>
            <a:custGeom>
              <a:avLst/>
              <a:gdLst/>
              <a:ahLst/>
              <a:cxnLst/>
              <a:rect l="l" t="t" r="r" b="b"/>
              <a:pathLst>
                <a:path w="1527175" h="592454">
                  <a:moveTo>
                    <a:pt x="0" y="592425"/>
                  </a:moveTo>
                  <a:lnTo>
                    <a:pt x="1526635" y="592425"/>
                  </a:lnTo>
                  <a:lnTo>
                    <a:pt x="1526635" y="0"/>
                  </a:lnTo>
                  <a:lnTo>
                    <a:pt x="0" y="0"/>
                  </a:lnTo>
                  <a:lnTo>
                    <a:pt x="0" y="592425"/>
                  </a:lnTo>
                  <a:close/>
                </a:path>
              </a:pathLst>
            </a:custGeom>
            <a:ln w="129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882645" y="1895771"/>
              <a:ext cx="3107690" cy="2060575"/>
            </a:xfrm>
            <a:custGeom>
              <a:avLst/>
              <a:gdLst/>
              <a:ahLst/>
              <a:cxnLst/>
              <a:rect l="l" t="t" r="r" b="b"/>
              <a:pathLst>
                <a:path w="3107690" h="2060575">
                  <a:moveTo>
                    <a:pt x="3036924" y="1460999"/>
                  </a:moveTo>
                  <a:lnTo>
                    <a:pt x="1625311" y="1739481"/>
                  </a:lnTo>
                  <a:lnTo>
                    <a:pt x="1617099" y="1719781"/>
                  </a:lnTo>
                  <a:lnTo>
                    <a:pt x="1602452" y="1705232"/>
                  </a:lnTo>
                  <a:lnTo>
                    <a:pt x="1583427" y="1697214"/>
                  </a:lnTo>
                  <a:lnTo>
                    <a:pt x="1562078" y="1697107"/>
                  </a:lnTo>
                  <a:lnTo>
                    <a:pt x="1542292" y="1705316"/>
                  </a:lnTo>
                  <a:lnTo>
                    <a:pt x="1527744" y="1719955"/>
                  </a:lnTo>
                  <a:lnTo>
                    <a:pt x="1519764" y="1738971"/>
                  </a:lnTo>
                  <a:lnTo>
                    <a:pt x="1519683" y="1760309"/>
                  </a:lnTo>
                  <a:lnTo>
                    <a:pt x="0" y="2060337"/>
                  </a:lnTo>
                </a:path>
                <a:path w="3107690" h="2060575">
                  <a:moveTo>
                    <a:pt x="3036924" y="1460999"/>
                  </a:moveTo>
                  <a:lnTo>
                    <a:pt x="3107522" y="2060337"/>
                  </a:lnTo>
                </a:path>
                <a:path w="3107690" h="2060575">
                  <a:moveTo>
                    <a:pt x="3036924" y="868484"/>
                  </a:moveTo>
                  <a:lnTo>
                    <a:pt x="2909738" y="0"/>
                  </a:lnTo>
                </a:path>
                <a:path w="3107690" h="2060575">
                  <a:moveTo>
                    <a:pt x="3036924" y="868484"/>
                  </a:moveTo>
                  <a:lnTo>
                    <a:pt x="1248426" y="0"/>
                  </a:lnTo>
                </a:path>
              </a:pathLst>
            </a:custGeom>
            <a:ln w="4310">
              <a:solidFill>
                <a:srgbClr val="4677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3048740" y="5596784"/>
            <a:ext cx="1167765" cy="287655"/>
          </a:xfrm>
          <a:prstGeom prst="rect">
            <a:avLst/>
          </a:prstGeom>
          <a:solidFill>
            <a:srgbClr val="CCFFCC"/>
          </a:solidFill>
          <a:ln w="1292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9055">
              <a:lnSpc>
                <a:spcPts val="1889"/>
              </a:lnSpc>
            </a:pPr>
            <a:r>
              <a:rPr sz="1700" i="1" dirty="0">
                <a:latin typeface="Times New Roman"/>
                <a:cs typeface="Times New Roman"/>
              </a:rPr>
              <a:t>p</a:t>
            </a:r>
            <a:r>
              <a:rPr sz="1700" i="1" spc="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Symbol"/>
                <a:cs typeface="Symbol"/>
              </a:rPr>
              <a:t>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a</a:t>
            </a:r>
            <a:r>
              <a:rPr sz="1700" i="1" spc="-6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Symbol"/>
                <a:cs typeface="Symbol"/>
              </a:rPr>
              <a:t></a:t>
            </a:r>
            <a:r>
              <a:rPr sz="1700" spc="-114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b</a:t>
            </a:r>
            <a:r>
              <a:rPr sz="1700" i="1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Symbol"/>
                <a:cs typeface="Symbol"/>
              </a:rPr>
              <a:t>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i="1" spc="-50" dirty="0">
                <a:latin typeface="Times New Roman"/>
                <a:cs typeface="Times New Roman"/>
              </a:rPr>
              <a:t>c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401374" y="5881675"/>
            <a:ext cx="489584" cy="940435"/>
            <a:chOff x="3401374" y="5881675"/>
            <a:chExt cx="489584" cy="940435"/>
          </a:xfrm>
        </p:grpSpPr>
        <p:sp>
          <p:nvSpPr>
            <p:cNvPr id="59" name="object 59"/>
            <p:cNvSpPr/>
            <p:nvPr/>
          </p:nvSpPr>
          <p:spPr>
            <a:xfrm>
              <a:off x="3403530" y="6335094"/>
              <a:ext cx="485140" cy="485140"/>
            </a:xfrm>
            <a:custGeom>
              <a:avLst/>
              <a:gdLst/>
              <a:ahLst/>
              <a:cxnLst/>
              <a:rect l="l" t="t" r="r" b="b"/>
              <a:pathLst>
                <a:path w="485139" h="485140">
                  <a:moveTo>
                    <a:pt x="242334" y="0"/>
                  </a:moveTo>
                  <a:lnTo>
                    <a:pt x="193497" y="4924"/>
                  </a:lnTo>
                  <a:lnTo>
                    <a:pt x="148009" y="19048"/>
                  </a:lnTo>
                  <a:lnTo>
                    <a:pt x="106845" y="41396"/>
                  </a:lnTo>
                  <a:lnTo>
                    <a:pt x="70980" y="70994"/>
                  </a:lnTo>
                  <a:lnTo>
                    <a:pt x="41388" y="106867"/>
                  </a:lnTo>
                  <a:lnTo>
                    <a:pt x="19044" y="148041"/>
                  </a:lnTo>
                  <a:lnTo>
                    <a:pt x="4923" y="193541"/>
                  </a:lnTo>
                  <a:lnTo>
                    <a:pt x="0" y="242392"/>
                  </a:lnTo>
                  <a:lnTo>
                    <a:pt x="4923" y="291243"/>
                  </a:lnTo>
                  <a:lnTo>
                    <a:pt x="19047" y="336743"/>
                  </a:lnTo>
                  <a:lnTo>
                    <a:pt x="41397" y="377917"/>
                  </a:lnTo>
                  <a:lnTo>
                    <a:pt x="71002" y="413790"/>
                  </a:lnTo>
                  <a:lnTo>
                    <a:pt x="106889" y="443388"/>
                  </a:lnTo>
                  <a:lnTo>
                    <a:pt x="148085" y="465737"/>
                  </a:lnTo>
                  <a:lnTo>
                    <a:pt x="193617" y="479860"/>
                  </a:lnTo>
                  <a:lnTo>
                    <a:pt x="242514" y="484785"/>
                  </a:lnTo>
                  <a:lnTo>
                    <a:pt x="291359" y="479860"/>
                  </a:lnTo>
                  <a:lnTo>
                    <a:pt x="336867" y="465737"/>
                  </a:lnTo>
                  <a:lnTo>
                    <a:pt x="378060" y="443388"/>
                  </a:lnTo>
                  <a:lnTo>
                    <a:pt x="413958" y="413790"/>
                  </a:lnTo>
                  <a:lnTo>
                    <a:pt x="443583" y="377917"/>
                  </a:lnTo>
                  <a:lnTo>
                    <a:pt x="465955" y="336743"/>
                  </a:lnTo>
                  <a:lnTo>
                    <a:pt x="480097" y="291243"/>
                  </a:lnTo>
                  <a:lnTo>
                    <a:pt x="485028" y="242392"/>
                  </a:lnTo>
                  <a:lnTo>
                    <a:pt x="480096" y="193541"/>
                  </a:lnTo>
                  <a:lnTo>
                    <a:pt x="465952" y="148041"/>
                  </a:lnTo>
                  <a:lnTo>
                    <a:pt x="443573" y="106867"/>
                  </a:lnTo>
                  <a:lnTo>
                    <a:pt x="413935" y="70994"/>
                  </a:lnTo>
                  <a:lnTo>
                    <a:pt x="378016" y="41396"/>
                  </a:lnTo>
                  <a:lnTo>
                    <a:pt x="336791" y="19048"/>
                  </a:lnTo>
                  <a:lnTo>
                    <a:pt x="291238" y="4924"/>
                  </a:lnTo>
                  <a:lnTo>
                    <a:pt x="242334" y="0"/>
                  </a:lnTo>
                  <a:close/>
                </a:path>
              </a:pathLst>
            </a:custGeom>
            <a:solidFill>
              <a:srgbClr val="E8ED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403530" y="6335094"/>
              <a:ext cx="485140" cy="485140"/>
            </a:xfrm>
            <a:custGeom>
              <a:avLst/>
              <a:gdLst/>
              <a:ahLst/>
              <a:cxnLst/>
              <a:rect l="l" t="t" r="r" b="b"/>
              <a:pathLst>
                <a:path w="485139" h="485140">
                  <a:moveTo>
                    <a:pt x="0" y="242392"/>
                  </a:moveTo>
                  <a:lnTo>
                    <a:pt x="4923" y="193541"/>
                  </a:lnTo>
                  <a:lnTo>
                    <a:pt x="19044" y="148041"/>
                  </a:lnTo>
                  <a:lnTo>
                    <a:pt x="41388" y="106867"/>
                  </a:lnTo>
                  <a:lnTo>
                    <a:pt x="70980" y="70994"/>
                  </a:lnTo>
                  <a:lnTo>
                    <a:pt x="106845" y="41396"/>
                  </a:lnTo>
                  <a:lnTo>
                    <a:pt x="148009" y="19048"/>
                  </a:lnTo>
                  <a:lnTo>
                    <a:pt x="193497" y="4924"/>
                  </a:lnTo>
                  <a:lnTo>
                    <a:pt x="242334" y="0"/>
                  </a:lnTo>
                  <a:lnTo>
                    <a:pt x="291238" y="4924"/>
                  </a:lnTo>
                  <a:lnTo>
                    <a:pt x="336791" y="19048"/>
                  </a:lnTo>
                  <a:lnTo>
                    <a:pt x="378016" y="41396"/>
                  </a:lnTo>
                  <a:lnTo>
                    <a:pt x="413935" y="70994"/>
                  </a:lnTo>
                  <a:lnTo>
                    <a:pt x="443573" y="106867"/>
                  </a:lnTo>
                  <a:lnTo>
                    <a:pt x="465952" y="148041"/>
                  </a:lnTo>
                  <a:lnTo>
                    <a:pt x="480096" y="193541"/>
                  </a:lnTo>
                  <a:lnTo>
                    <a:pt x="485028" y="242392"/>
                  </a:lnTo>
                  <a:lnTo>
                    <a:pt x="480096" y="291243"/>
                  </a:lnTo>
                  <a:lnTo>
                    <a:pt x="465955" y="336743"/>
                  </a:lnTo>
                  <a:lnTo>
                    <a:pt x="443583" y="377917"/>
                  </a:lnTo>
                  <a:lnTo>
                    <a:pt x="413958" y="413790"/>
                  </a:lnTo>
                  <a:lnTo>
                    <a:pt x="378060" y="443388"/>
                  </a:lnTo>
                  <a:lnTo>
                    <a:pt x="336867" y="465737"/>
                  </a:lnTo>
                  <a:lnTo>
                    <a:pt x="291359" y="479860"/>
                  </a:lnTo>
                  <a:lnTo>
                    <a:pt x="242514" y="484785"/>
                  </a:lnTo>
                  <a:lnTo>
                    <a:pt x="193617" y="479860"/>
                  </a:lnTo>
                  <a:lnTo>
                    <a:pt x="148085" y="465737"/>
                  </a:lnTo>
                  <a:lnTo>
                    <a:pt x="106889" y="443388"/>
                  </a:lnTo>
                  <a:lnTo>
                    <a:pt x="71002" y="413790"/>
                  </a:lnTo>
                  <a:lnTo>
                    <a:pt x="41397" y="377917"/>
                  </a:lnTo>
                  <a:lnTo>
                    <a:pt x="19047" y="336743"/>
                  </a:lnTo>
                  <a:lnTo>
                    <a:pt x="4923" y="291243"/>
                  </a:lnTo>
                  <a:lnTo>
                    <a:pt x="0" y="242392"/>
                  </a:lnTo>
                  <a:close/>
                </a:path>
              </a:pathLst>
            </a:custGeom>
            <a:ln w="4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632571" y="5883831"/>
              <a:ext cx="13970" cy="451484"/>
            </a:xfrm>
            <a:custGeom>
              <a:avLst/>
              <a:gdLst/>
              <a:ahLst/>
              <a:cxnLst/>
              <a:rect l="l" t="t" r="r" b="b"/>
              <a:pathLst>
                <a:path w="13970" h="451485">
                  <a:moveTo>
                    <a:pt x="0" y="0"/>
                  </a:moveTo>
                  <a:lnTo>
                    <a:pt x="13473" y="451263"/>
                  </a:lnTo>
                </a:path>
              </a:pathLst>
            </a:custGeom>
            <a:ln w="4311">
              <a:solidFill>
                <a:srgbClr val="4677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2" name="object 62"/>
          <p:cNvGrpSpPr/>
          <p:nvPr/>
        </p:nvGrpSpPr>
        <p:grpSpPr>
          <a:xfrm>
            <a:off x="1380266" y="4438671"/>
            <a:ext cx="4612640" cy="1499235"/>
            <a:chOff x="1380266" y="4438671"/>
            <a:chExt cx="4612640" cy="1499235"/>
          </a:xfrm>
        </p:grpSpPr>
        <p:sp>
          <p:nvSpPr>
            <p:cNvPr id="63" name="object 63"/>
            <p:cNvSpPr/>
            <p:nvPr/>
          </p:nvSpPr>
          <p:spPr>
            <a:xfrm>
              <a:off x="1382488" y="4440894"/>
              <a:ext cx="4608195" cy="1156335"/>
            </a:xfrm>
            <a:custGeom>
              <a:avLst/>
              <a:gdLst/>
              <a:ahLst/>
              <a:cxnLst/>
              <a:rect l="l" t="t" r="r" b="b"/>
              <a:pathLst>
                <a:path w="4608195" h="1156335">
                  <a:moveTo>
                    <a:pt x="0" y="0"/>
                  </a:moveTo>
                  <a:lnTo>
                    <a:pt x="2250082" y="1155872"/>
                  </a:lnTo>
                </a:path>
                <a:path w="4608195" h="1156335">
                  <a:moveTo>
                    <a:pt x="1500156" y="0"/>
                  </a:moveTo>
                  <a:lnTo>
                    <a:pt x="2250082" y="1155872"/>
                  </a:lnTo>
                </a:path>
                <a:path w="4608195" h="1156335">
                  <a:moveTo>
                    <a:pt x="4607679" y="0"/>
                  </a:moveTo>
                  <a:lnTo>
                    <a:pt x="3734807" y="427868"/>
                  </a:lnTo>
                  <a:lnTo>
                    <a:pt x="3721758" y="410894"/>
                  </a:lnTo>
                  <a:lnTo>
                    <a:pt x="3703842" y="400621"/>
                  </a:lnTo>
                  <a:lnTo>
                    <a:pt x="3662772" y="403269"/>
                  </a:lnTo>
                  <a:lnTo>
                    <a:pt x="3635489" y="434219"/>
                  </a:lnTo>
                  <a:lnTo>
                    <a:pt x="3632634" y="454651"/>
                  </a:lnTo>
                  <a:lnTo>
                    <a:pt x="3637981" y="475269"/>
                  </a:lnTo>
                  <a:lnTo>
                    <a:pt x="2250082" y="1155872"/>
                  </a:lnTo>
                </a:path>
              </a:pathLst>
            </a:custGeom>
            <a:ln w="4310">
              <a:solidFill>
                <a:srgbClr val="4677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155021" y="5381341"/>
              <a:ext cx="808355" cy="556895"/>
            </a:xfrm>
            <a:custGeom>
              <a:avLst/>
              <a:gdLst/>
              <a:ahLst/>
              <a:cxnLst/>
              <a:rect l="l" t="t" r="r" b="b"/>
              <a:pathLst>
                <a:path w="808354" h="556895">
                  <a:moveTo>
                    <a:pt x="808129" y="0"/>
                  </a:moveTo>
                  <a:lnTo>
                    <a:pt x="0" y="0"/>
                  </a:lnTo>
                  <a:lnTo>
                    <a:pt x="0" y="556300"/>
                  </a:lnTo>
                  <a:lnTo>
                    <a:pt x="808129" y="556300"/>
                  </a:lnTo>
                  <a:lnTo>
                    <a:pt x="808129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500354" y="5668009"/>
              <a:ext cx="129539" cy="0"/>
            </a:xfrm>
            <a:custGeom>
              <a:avLst/>
              <a:gdLst/>
              <a:ahLst/>
              <a:cxnLst/>
              <a:rect l="l" t="t" r="r" b="b"/>
              <a:pathLst>
                <a:path w="129539">
                  <a:moveTo>
                    <a:pt x="0" y="0"/>
                  </a:moveTo>
                  <a:lnTo>
                    <a:pt x="129484" y="0"/>
                  </a:lnTo>
                </a:path>
              </a:pathLst>
            </a:custGeom>
            <a:ln w="8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5764934" y="5637375"/>
            <a:ext cx="68580" cy="1765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950" i="1" spc="-50" dirty="0">
                <a:latin typeface="Times New Roman"/>
                <a:cs typeface="Times New Roman"/>
              </a:rPr>
              <a:t>c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514912" y="5662060"/>
            <a:ext cx="12065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700" spc="-50" dirty="0"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165495" y="5494099"/>
            <a:ext cx="799465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700" i="1" dirty="0">
                <a:latin typeface="Times New Roman"/>
                <a:cs typeface="Times New Roman"/>
              </a:rPr>
              <a:t>s</a:t>
            </a:r>
            <a:r>
              <a:rPr sz="1700" i="1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Symbol"/>
                <a:cs typeface="Symbol"/>
              </a:rPr>
              <a:t>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2550" baseline="34313" dirty="0">
                <a:latin typeface="Times New Roman"/>
                <a:cs typeface="Times New Roman"/>
              </a:rPr>
              <a:t>1</a:t>
            </a:r>
            <a:r>
              <a:rPr sz="2550" spc="-82" baseline="34313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h</a:t>
            </a:r>
            <a:r>
              <a:rPr sz="1700" i="1" spc="10" dirty="0">
                <a:latin typeface="Times New Roman"/>
                <a:cs typeface="Times New Roman"/>
              </a:rPr>
              <a:t> </a:t>
            </a:r>
            <a:r>
              <a:rPr sz="1700" i="1" spc="-50" dirty="0">
                <a:latin typeface="Times New Roman"/>
                <a:cs typeface="Times New Roman"/>
              </a:rPr>
              <a:t>c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4613878" y="3096939"/>
            <a:ext cx="5106035" cy="3725545"/>
            <a:chOff x="4613878" y="3096939"/>
            <a:chExt cx="5106035" cy="3725545"/>
          </a:xfrm>
        </p:grpSpPr>
        <p:sp>
          <p:nvSpPr>
            <p:cNvPr id="70" name="object 70"/>
            <p:cNvSpPr/>
            <p:nvPr/>
          </p:nvSpPr>
          <p:spPr>
            <a:xfrm>
              <a:off x="5155020" y="5381342"/>
              <a:ext cx="808355" cy="556895"/>
            </a:xfrm>
            <a:custGeom>
              <a:avLst/>
              <a:gdLst/>
              <a:ahLst/>
              <a:cxnLst/>
              <a:rect l="l" t="t" r="r" b="b"/>
              <a:pathLst>
                <a:path w="808354" h="556895">
                  <a:moveTo>
                    <a:pt x="0" y="556300"/>
                  </a:moveTo>
                  <a:lnTo>
                    <a:pt x="808129" y="556300"/>
                  </a:lnTo>
                  <a:lnTo>
                    <a:pt x="808129" y="0"/>
                  </a:lnTo>
                  <a:lnTo>
                    <a:pt x="0" y="0"/>
                  </a:lnTo>
                  <a:lnTo>
                    <a:pt x="0" y="556300"/>
                  </a:lnTo>
                  <a:close/>
                </a:path>
              </a:pathLst>
            </a:custGeom>
            <a:ln w="129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343643" y="6335094"/>
              <a:ext cx="485140" cy="485140"/>
            </a:xfrm>
            <a:custGeom>
              <a:avLst/>
              <a:gdLst/>
              <a:ahLst/>
              <a:cxnLst/>
              <a:rect l="l" t="t" r="r" b="b"/>
              <a:pathLst>
                <a:path w="485139" h="485140">
                  <a:moveTo>
                    <a:pt x="242514" y="0"/>
                  </a:moveTo>
                  <a:lnTo>
                    <a:pt x="193617" y="4924"/>
                  </a:lnTo>
                  <a:lnTo>
                    <a:pt x="148085" y="19048"/>
                  </a:lnTo>
                  <a:lnTo>
                    <a:pt x="106889" y="41396"/>
                  </a:lnTo>
                  <a:lnTo>
                    <a:pt x="71002" y="70994"/>
                  </a:lnTo>
                  <a:lnTo>
                    <a:pt x="41397" y="106867"/>
                  </a:lnTo>
                  <a:lnTo>
                    <a:pt x="19047" y="148041"/>
                  </a:lnTo>
                  <a:lnTo>
                    <a:pt x="4923" y="193541"/>
                  </a:lnTo>
                  <a:lnTo>
                    <a:pt x="0" y="242392"/>
                  </a:lnTo>
                  <a:lnTo>
                    <a:pt x="4923" y="291243"/>
                  </a:lnTo>
                  <a:lnTo>
                    <a:pt x="19047" y="336743"/>
                  </a:lnTo>
                  <a:lnTo>
                    <a:pt x="41397" y="377917"/>
                  </a:lnTo>
                  <a:lnTo>
                    <a:pt x="71002" y="413790"/>
                  </a:lnTo>
                  <a:lnTo>
                    <a:pt x="106889" y="443388"/>
                  </a:lnTo>
                  <a:lnTo>
                    <a:pt x="148085" y="465737"/>
                  </a:lnTo>
                  <a:lnTo>
                    <a:pt x="193617" y="479860"/>
                  </a:lnTo>
                  <a:lnTo>
                    <a:pt x="242514" y="484785"/>
                  </a:lnTo>
                  <a:lnTo>
                    <a:pt x="291351" y="479860"/>
                  </a:lnTo>
                  <a:lnTo>
                    <a:pt x="336839" y="465737"/>
                  </a:lnTo>
                  <a:lnTo>
                    <a:pt x="378003" y="443388"/>
                  </a:lnTo>
                  <a:lnTo>
                    <a:pt x="413868" y="413790"/>
                  </a:lnTo>
                  <a:lnTo>
                    <a:pt x="443460" y="377917"/>
                  </a:lnTo>
                  <a:lnTo>
                    <a:pt x="465804" y="336743"/>
                  </a:lnTo>
                  <a:lnTo>
                    <a:pt x="479925" y="291243"/>
                  </a:lnTo>
                  <a:lnTo>
                    <a:pt x="484848" y="242392"/>
                  </a:lnTo>
                  <a:lnTo>
                    <a:pt x="479925" y="193541"/>
                  </a:lnTo>
                  <a:lnTo>
                    <a:pt x="465804" y="148041"/>
                  </a:lnTo>
                  <a:lnTo>
                    <a:pt x="443460" y="106867"/>
                  </a:lnTo>
                  <a:lnTo>
                    <a:pt x="413868" y="70994"/>
                  </a:lnTo>
                  <a:lnTo>
                    <a:pt x="378003" y="41396"/>
                  </a:lnTo>
                  <a:lnTo>
                    <a:pt x="336839" y="19048"/>
                  </a:lnTo>
                  <a:lnTo>
                    <a:pt x="291351" y="4924"/>
                  </a:lnTo>
                  <a:lnTo>
                    <a:pt x="242514" y="0"/>
                  </a:lnTo>
                  <a:close/>
                </a:path>
              </a:pathLst>
            </a:custGeom>
            <a:solidFill>
              <a:srgbClr val="E8ED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343643" y="6335094"/>
              <a:ext cx="485140" cy="485140"/>
            </a:xfrm>
            <a:custGeom>
              <a:avLst/>
              <a:gdLst/>
              <a:ahLst/>
              <a:cxnLst/>
              <a:rect l="l" t="t" r="r" b="b"/>
              <a:pathLst>
                <a:path w="485139" h="485140">
                  <a:moveTo>
                    <a:pt x="0" y="242392"/>
                  </a:moveTo>
                  <a:lnTo>
                    <a:pt x="4923" y="193541"/>
                  </a:lnTo>
                  <a:lnTo>
                    <a:pt x="19047" y="148041"/>
                  </a:lnTo>
                  <a:lnTo>
                    <a:pt x="41397" y="106867"/>
                  </a:lnTo>
                  <a:lnTo>
                    <a:pt x="71002" y="70994"/>
                  </a:lnTo>
                  <a:lnTo>
                    <a:pt x="106889" y="41396"/>
                  </a:lnTo>
                  <a:lnTo>
                    <a:pt x="148085" y="19048"/>
                  </a:lnTo>
                  <a:lnTo>
                    <a:pt x="193617" y="4924"/>
                  </a:lnTo>
                  <a:lnTo>
                    <a:pt x="242514" y="0"/>
                  </a:lnTo>
                  <a:lnTo>
                    <a:pt x="291351" y="4924"/>
                  </a:lnTo>
                  <a:lnTo>
                    <a:pt x="336839" y="19048"/>
                  </a:lnTo>
                  <a:lnTo>
                    <a:pt x="378003" y="41396"/>
                  </a:lnTo>
                  <a:lnTo>
                    <a:pt x="413868" y="70994"/>
                  </a:lnTo>
                  <a:lnTo>
                    <a:pt x="443460" y="106867"/>
                  </a:lnTo>
                  <a:lnTo>
                    <a:pt x="465804" y="148041"/>
                  </a:lnTo>
                  <a:lnTo>
                    <a:pt x="479925" y="193541"/>
                  </a:lnTo>
                  <a:lnTo>
                    <a:pt x="484848" y="242392"/>
                  </a:lnTo>
                  <a:lnTo>
                    <a:pt x="479925" y="291243"/>
                  </a:lnTo>
                  <a:lnTo>
                    <a:pt x="465804" y="336743"/>
                  </a:lnTo>
                  <a:lnTo>
                    <a:pt x="443460" y="377917"/>
                  </a:lnTo>
                  <a:lnTo>
                    <a:pt x="413868" y="413790"/>
                  </a:lnTo>
                  <a:lnTo>
                    <a:pt x="378003" y="443388"/>
                  </a:lnTo>
                  <a:lnTo>
                    <a:pt x="336839" y="465737"/>
                  </a:lnTo>
                  <a:lnTo>
                    <a:pt x="291351" y="479860"/>
                  </a:lnTo>
                  <a:lnTo>
                    <a:pt x="242514" y="484785"/>
                  </a:lnTo>
                  <a:lnTo>
                    <a:pt x="193617" y="479860"/>
                  </a:lnTo>
                  <a:lnTo>
                    <a:pt x="148085" y="465737"/>
                  </a:lnTo>
                  <a:lnTo>
                    <a:pt x="106889" y="443388"/>
                  </a:lnTo>
                  <a:lnTo>
                    <a:pt x="71002" y="413790"/>
                  </a:lnTo>
                  <a:lnTo>
                    <a:pt x="41397" y="377917"/>
                  </a:lnTo>
                  <a:lnTo>
                    <a:pt x="19047" y="336743"/>
                  </a:lnTo>
                  <a:lnTo>
                    <a:pt x="4923" y="291243"/>
                  </a:lnTo>
                  <a:lnTo>
                    <a:pt x="0" y="242392"/>
                  </a:lnTo>
                  <a:close/>
                </a:path>
              </a:pathLst>
            </a:custGeom>
            <a:ln w="43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616100" y="4440894"/>
              <a:ext cx="1374140" cy="1894205"/>
            </a:xfrm>
            <a:custGeom>
              <a:avLst/>
              <a:gdLst/>
              <a:ahLst/>
              <a:cxnLst/>
              <a:rect l="l" t="t" r="r" b="b"/>
              <a:pathLst>
                <a:path w="1374139" h="1894204">
                  <a:moveTo>
                    <a:pt x="943110" y="1496747"/>
                  </a:moveTo>
                  <a:lnTo>
                    <a:pt x="970056" y="1894200"/>
                  </a:lnTo>
                </a:path>
                <a:path w="1374139" h="1894204">
                  <a:moveTo>
                    <a:pt x="0" y="0"/>
                  </a:moveTo>
                  <a:lnTo>
                    <a:pt x="943110" y="940465"/>
                  </a:lnTo>
                </a:path>
                <a:path w="1374139" h="1894204">
                  <a:moveTo>
                    <a:pt x="1374067" y="0"/>
                  </a:moveTo>
                  <a:lnTo>
                    <a:pt x="943110" y="940465"/>
                  </a:lnTo>
                </a:path>
              </a:pathLst>
            </a:custGeom>
            <a:ln w="4310">
              <a:solidFill>
                <a:srgbClr val="4677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121900" y="3107734"/>
              <a:ext cx="2586990" cy="969644"/>
            </a:xfrm>
            <a:custGeom>
              <a:avLst/>
              <a:gdLst/>
              <a:ahLst/>
              <a:cxnLst/>
              <a:rect l="l" t="t" r="r" b="b"/>
              <a:pathLst>
                <a:path w="2586990" h="969645">
                  <a:moveTo>
                    <a:pt x="485028" y="0"/>
                  </a:moveTo>
                  <a:lnTo>
                    <a:pt x="0" y="969570"/>
                  </a:lnTo>
                </a:path>
                <a:path w="2586990" h="969645">
                  <a:moveTo>
                    <a:pt x="2586817" y="969570"/>
                  </a:moveTo>
                  <a:lnTo>
                    <a:pt x="0" y="969570"/>
                  </a:lnTo>
                </a:path>
                <a:path w="2586990" h="969645">
                  <a:moveTo>
                    <a:pt x="485028" y="0"/>
                  </a:moveTo>
                  <a:lnTo>
                    <a:pt x="2586817" y="969570"/>
                  </a:lnTo>
                </a:path>
                <a:path w="2586990" h="969645">
                  <a:moveTo>
                    <a:pt x="485028" y="0"/>
                  </a:moveTo>
                  <a:lnTo>
                    <a:pt x="485028" y="969570"/>
                  </a:lnTo>
                </a:path>
              </a:pathLst>
            </a:custGeom>
            <a:ln w="21551">
              <a:solidFill>
                <a:srgbClr val="4677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9235241" y="3835677"/>
            <a:ext cx="139065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-50" dirty="0">
                <a:latin typeface="Symbol"/>
                <a:cs typeface="Symbol"/>
              </a:rPr>
              <a:t>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9757455" y="3938918"/>
            <a:ext cx="145415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-50" dirty="0"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928123" y="3938918"/>
            <a:ext cx="145415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-50" dirty="0">
                <a:latin typeface="Arial"/>
                <a:cs typeface="Arial"/>
              </a:rPr>
              <a:t>B</a:t>
            </a:r>
            <a:endParaRPr sz="14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529379" y="2848151"/>
            <a:ext cx="155575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-50" dirty="0"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099679" y="3332937"/>
            <a:ext cx="12573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-50" dirty="0"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8635603" y="3332937"/>
            <a:ext cx="12573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-50" dirty="0">
                <a:latin typeface="Arial"/>
                <a:cs typeface="Arial"/>
              </a:rPr>
              <a:t>b</a:t>
            </a:r>
            <a:endParaRPr sz="14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196023" y="4118468"/>
            <a:ext cx="11557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-50" dirty="0"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651463" y="3575329"/>
            <a:ext cx="23495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400" spc="-25" dirty="0">
                <a:latin typeface="Arial"/>
                <a:cs typeface="Arial"/>
              </a:rPr>
              <a:t>h</a:t>
            </a:r>
            <a:r>
              <a:rPr sz="1350" spc="-37" baseline="-12345" dirty="0">
                <a:latin typeface="Arial"/>
                <a:cs typeface="Arial"/>
              </a:rPr>
              <a:t>c</a:t>
            </a:r>
            <a:endParaRPr sz="1350" baseline="-12345">
              <a:latin typeface="Arial"/>
              <a:cs typeface="Arial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7163936" y="3977834"/>
            <a:ext cx="2329815" cy="99695"/>
          </a:xfrm>
          <a:custGeom>
            <a:avLst/>
            <a:gdLst/>
            <a:ahLst/>
            <a:cxnLst/>
            <a:rect l="l" t="t" r="r" b="b"/>
            <a:pathLst>
              <a:path w="2329815" h="99695">
                <a:moveTo>
                  <a:pt x="2329393" y="0"/>
                </a:moveTo>
                <a:lnTo>
                  <a:pt x="2308375" y="21546"/>
                </a:lnTo>
                <a:lnTo>
                  <a:pt x="2299393" y="54583"/>
                </a:lnTo>
                <a:lnTo>
                  <a:pt x="2302267" y="99470"/>
                </a:lnTo>
              </a:path>
              <a:path w="2329815" h="99695">
                <a:moveTo>
                  <a:pt x="0" y="15620"/>
                </a:moveTo>
                <a:lnTo>
                  <a:pt x="49580" y="20827"/>
                </a:lnTo>
                <a:lnTo>
                  <a:pt x="79221" y="36628"/>
                </a:lnTo>
                <a:lnTo>
                  <a:pt x="89281" y="62842"/>
                </a:lnTo>
                <a:lnTo>
                  <a:pt x="79221" y="99470"/>
                </a:lnTo>
              </a:path>
            </a:pathLst>
          </a:custGeom>
          <a:ln w="21551">
            <a:solidFill>
              <a:srgbClr val="4677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7262074" y="3815567"/>
            <a:ext cx="12446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-50" dirty="0">
                <a:latin typeface="Symbol"/>
                <a:cs typeface="Symbol"/>
              </a:rPr>
              <a:t>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7535791" y="3165190"/>
            <a:ext cx="196215" cy="127635"/>
          </a:xfrm>
          <a:custGeom>
            <a:avLst/>
            <a:gdLst/>
            <a:ahLst/>
            <a:cxnLst/>
            <a:rect l="l" t="t" r="r" b="b"/>
            <a:pathLst>
              <a:path w="196215" h="127635">
                <a:moveTo>
                  <a:pt x="195807" y="0"/>
                </a:moveTo>
                <a:lnTo>
                  <a:pt x="165448" y="67869"/>
                </a:lnTo>
                <a:lnTo>
                  <a:pt x="130598" y="110423"/>
                </a:lnTo>
                <a:lnTo>
                  <a:pt x="91436" y="127480"/>
                </a:lnTo>
                <a:lnTo>
                  <a:pt x="47963" y="118862"/>
                </a:lnTo>
                <a:lnTo>
                  <a:pt x="0" y="84927"/>
                </a:lnTo>
              </a:path>
            </a:pathLst>
          </a:custGeom>
          <a:ln w="21549">
            <a:solidFill>
              <a:srgbClr val="4677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7666264" y="3169186"/>
            <a:ext cx="12446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-50" dirty="0">
                <a:latin typeface="Symbol"/>
                <a:cs typeface="Symbol"/>
              </a:rPr>
              <a:t>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3578374" y="6456109"/>
            <a:ext cx="135255" cy="226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sz="1400" b="1" spc="-50" dirty="0">
                <a:latin typeface="Arial"/>
                <a:cs typeface="Arial"/>
              </a:rPr>
              <a:t>p</a:t>
            </a:r>
            <a:endParaRPr sz="14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5523338" y="6456109"/>
            <a:ext cx="125730" cy="226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0"/>
              </a:lnSpc>
            </a:pPr>
            <a:r>
              <a:rPr sz="1400" b="1" spc="-50" dirty="0">
                <a:latin typeface="Arial"/>
                <a:cs typeface="Arial"/>
              </a:rPr>
              <a:t>s</a:t>
            </a:r>
            <a:endParaRPr sz="14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1401170" y="6536676"/>
            <a:ext cx="19621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200" spc="-25" dirty="0">
                <a:latin typeface="Arial"/>
                <a:cs typeface="Arial"/>
              </a:rPr>
              <a:t>21</a:t>
            </a:r>
            <a:endParaRPr sz="12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7267702" y="4352925"/>
            <a:ext cx="357886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Được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giải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bằng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mạng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ngữ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nghĩa </a:t>
            </a:r>
            <a:r>
              <a:rPr sz="1800" spc="-25" dirty="0">
                <a:latin typeface="Arial"/>
                <a:cs typeface="Arial"/>
              </a:rPr>
              <a:t>là </a:t>
            </a:r>
            <a:r>
              <a:rPr sz="1800" dirty="0">
                <a:latin typeface="Arial"/>
                <a:cs typeface="Arial"/>
              </a:rPr>
              <a:t>đồ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thị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gồm hai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loại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đỉnh: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-</a:t>
            </a:r>
            <a:r>
              <a:rPr sz="1800" dirty="0">
                <a:latin typeface="Arial"/>
                <a:cs typeface="Arial"/>
              </a:rPr>
              <a:t>đỉnh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công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thức</a:t>
            </a:r>
            <a:endParaRPr sz="1800">
              <a:latin typeface="Arial"/>
              <a:cs typeface="Arial"/>
            </a:endParaRPr>
          </a:p>
          <a:p>
            <a:pPr marL="12700" marR="65405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-</a:t>
            </a:r>
            <a:r>
              <a:rPr sz="1800" dirty="0">
                <a:latin typeface="Arial"/>
                <a:cs typeface="Arial"/>
              </a:rPr>
              <a:t>đỉnh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thành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phần của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tam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giác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cung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diễn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tả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sự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liên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quan </a:t>
            </a:r>
            <a:r>
              <a:rPr sz="1800" dirty="0">
                <a:latin typeface="Arial"/>
                <a:cs typeface="Arial"/>
              </a:rPr>
              <a:t>giữa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công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thức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thành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phần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tam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giác</a:t>
            </a:r>
            <a:endParaRPr sz="1800">
              <a:latin typeface="Arial"/>
              <a:cs typeface="Arial"/>
            </a:endParaRPr>
          </a:p>
        </p:txBody>
      </p:sp>
      <p:sp>
        <p:nvSpPr>
          <p:cNvPr id="88" name="object 88"/>
          <p:cNvSpPr txBox="1">
            <a:spLocks noGrp="1"/>
          </p:cNvSpPr>
          <p:nvPr>
            <p:ph type="title"/>
          </p:nvPr>
        </p:nvSpPr>
        <p:spPr>
          <a:xfrm>
            <a:off x="413410" y="93726"/>
            <a:ext cx="4290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Bài</a:t>
            </a:r>
            <a:r>
              <a:rPr sz="2400" b="1" i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toán</a:t>
            </a:r>
            <a:r>
              <a:rPr sz="2400" b="1" i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tam</a:t>
            </a:r>
            <a:r>
              <a:rPr sz="2400" b="1" i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giác</a:t>
            </a:r>
            <a:r>
              <a:rPr sz="2400" b="1" i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thông</a:t>
            </a:r>
            <a:r>
              <a:rPr sz="2400" b="1" i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i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minh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2439" y="2340818"/>
            <a:ext cx="7194059" cy="74151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932" y="739140"/>
            <a:ext cx="3943350" cy="13921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699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105"/>
              </a:spcBef>
            </a:pPr>
            <a:r>
              <a:rPr sz="5000" dirty="0">
                <a:solidFill>
                  <a:srgbClr val="455F51"/>
                </a:solidFill>
              </a:rPr>
              <a:t>NỘI </a:t>
            </a:r>
            <a:r>
              <a:rPr sz="5000" spc="-20" dirty="0">
                <a:solidFill>
                  <a:srgbClr val="455F51"/>
                </a:solidFill>
              </a:rPr>
              <a:t>DUNG</a:t>
            </a:r>
            <a:endParaRPr sz="50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23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340" y="1867636"/>
            <a:ext cx="5012055" cy="19278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720"/>
              </a:spcBef>
              <a:buClr>
                <a:srgbClr val="C0CF3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Palatino Linotype"/>
                <a:cs typeface="Palatino Linotype"/>
              </a:rPr>
              <a:t>Phép</a:t>
            </a:r>
            <a:r>
              <a:rPr sz="2600" spc="-20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Palatino Linotype"/>
                <a:cs typeface="Palatino Linotype"/>
              </a:rPr>
              <a:t>toán</a:t>
            </a:r>
            <a:r>
              <a:rPr sz="2600" spc="-15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Palatino Linotype"/>
                <a:cs typeface="Palatino Linotype"/>
              </a:rPr>
              <a:t>mệnh</a:t>
            </a:r>
            <a:r>
              <a:rPr sz="2600" spc="-20" dirty="0">
                <a:latin typeface="Palatino Linotype"/>
                <a:cs typeface="Palatino Linotype"/>
              </a:rPr>
              <a:t> </a:t>
            </a:r>
            <a:r>
              <a:rPr sz="2600" spc="-25" dirty="0">
                <a:latin typeface="Palatino Linotype"/>
                <a:cs typeface="Palatino Linotype"/>
              </a:rPr>
              <a:t>đề</a:t>
            </a:r>
            <a:endParaRPr sz="26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C0CF3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Palatino Linotype"/>
                <a:cs typeface="Palatino Linotype"/>
              </a:rPr>
              <a:t>Phép</a:t>
            </a:r>
            <a:r>
              <a:rPr sz="2600" spc="-20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Palatino Linotype"/>
                <a:cs typeface="Palatino Linotype"/>
              </a:rPr>
              <a:t>tính</a:t>
            </a:r>
            <a:r>
              <a:rPr sz="2600" spc="-25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Palatino Linotype"/>
                <a:cs typeface="Palatino Linotype"/>
              </a:rPr>
              <a:t>vị</a:t>
            </a:r>
            <a:r>
              <a:rPr sz="2600" spc="-15" dirty="0">
                <a:latin typeface="Palatino Linotype"/>
                <a:cs typeface="Palatino Linotype"/>
              </a:rPr>
              <a:t> </a:t>
            </a:r>
            <a:r>
              <a:rPr sz="2600" spc="-25" dirty="0">
                <a:latin typeface="Palatino Linotype"/>
                <a:cs typeface="Palatino Linotype"/>
              </a:rPr>
              <a:t>từ</a:t>
            </a:r>
            <a:endParaRPr sz="26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C0CF3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Palatino Linotype"/>
                <a:cs typeface="Palatino Linotype"/>
              </a:rPr>
              <a:t>Các</a:t>
            </a:r>
            <a:r>
              <a:rPr sz="2600" spc="-50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Palatino Linotype"/>
                <a:cs typeface="Palatino Linotype"/>
              </a:rPr>
              <a:t>luật suy</a:t>
            </a:r>
            <a:r>
              <a:rPr sz="2600" spc="-25" dirty="0">
                <a:latin typeface="Palatino Linotype"/>
                <a:cs typeface="Palatino Linotype"/>
              </a:rPr>
              <a:t> </a:t>
            </a:r>
            <a:r>
              <a:rPr sz="2600" spc="-20" dirty="0">
                <a:latin typeface="Palatino Linotype"/>
                <a:cs typeface="Palatino Linotype"/>
              </a:rPr>
              <a:t>diễn</a:t>
            </a:r>
            <a:endParaRPr sz="26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625"/>
              </a:spcBef>
              <a:buClr>
                <a:srgbClr val="C0CF3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Palatino Linotype"/>
                <a:cs typeface="Palatino Linotype"/>
              </a:rPr>
              <a:t>Đối</a:t>
            </a:r>
            <a:r>
              <a:rPr sz="2600" spc="-20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Palatino Linotype"/>
                <a:cs typeface="Palatino Linotype"/>
              </a:rPr>
              <a:t>sánh</a:t>
            </a:r>
            <a:r>
              <a:rPr sz="2600" spc="-35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Palatino Linotype"/>
                <a:cs typeface="Palatino Linotype"/>
              </a:rPr>
              <a:t>mẫu</a:t>
            </a:r>
            <a:r>
              <a:rPr sz="2600" spc="-30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Palatino Linotype"/>
                <a:cs typeface="Palatino Linotype"/>
              </a:rPr>
              <a:t>và</a:t>
            </a:r>
            <a:r>
              <a:rPr sz="2600" spc="-25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Palatino Linotype"/>
                <a:cs typeface="Palatino Linotype"/>
              </a:rPr>
              <a:t>phép</a:t>
            </a:r>
            <a:r>
              <a:rPr sz="2600" spc="-20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Palatino Linotype"/>
                <a:cs typeface="Palatino Linotype"/>
              </a:rPr>
              <a:t>hợp</a:t>
            </a:r>
            <a:r>
              <a:rPr sz="2600" spc="-30" dirty="0">
                <a:latin typeface="Palatino Linotype"/>
                <a:cs typeface="Palatino Linotype"/>
              </a:rPr>
              <a:t> </a:t>
            </a:r>
            <a:r>
              <a:rPr sz="2600" spc="-20" dirty="0">
                <a:latin typeface="Palatino Linotype"/>
                <a:cs typeface="Palatino Linotype"/>
              </a:rPr>
              <a:t>nhất</a:t>
            </a:r>
            <a:endParaRPr sz="26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570990"/>
            <a:chOff x="0" y="0"/>
            <a:chExt cx="12192000" cy="15709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932" y="178307"/>
              <a:ext cx="2056638" cy="13921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2391" y="178307"/>
              <a:ext cx="2091689" cy="13921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0379" y="178307"/>
              <a:ext cx="2233422" cy="13921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10099" y="178307"/>
              <a:ext cx="1421129" cy="139217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597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100"/>
              </a:spcBef>
            </a:pPr>
            <a:r>
              <a:rPr sz="5000" dirty="0">
                <a:solidFill>
                  <a:srgbClr val="455F51"/>
                </a:solidFill>
              </a:rPr>
              <a:t>Khái</a:t>
            </a:r>
            <a:r>
              <a:rPr sz="5000" spc="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niệm</a:t>
            </a:r>
            <a:r>
              <a:rPr sz="5000" spc="-1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mệnh</a:t>
            </a:r>
            <a:r>
              <a:rPr sz="5000" spc="-5" dirty="0">
                <a:solidFill>
                  <a:srgbClr val="455F51"/>
                </a:solidFill>
              </a:rPr>
              <a:t> </a:t>
            </a:r>
            <a:r>
              <a:rPr sz="5000" spc="-25" dirty="0">
                <a:solidFill>
                  <a:srgbClr val="455F51"/>
                </a:solidFill>
              </a:rPr>
              <a:t>đề</a:t>
            </a:r>
            <a:endParaRPr sz="50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24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8340" y="1731340"/>
            <a:ext cx="10763250" cy="3343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5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b="1" dirty="0">
                <a:latin typeface="Palatino Linotype"/>
                <a:cs typeface="Palatino Linotype"/>
              </a:rPr>
              <a:t>Mệnh</a:t>
            </a:r>
            <a:r>
              <a:rPr sz="3200" b="1" spc="-45" dirty="0">
                <a:latin typeface="Palatino Linotype"/>
                <a:cs typeface="Palatino Linotype"/>
              </a:rPr>
              <a:t> </a:t>
            </a:r>
            <a:r>
              <a:rPr sz="3200" b="1" dirty="0">
                <a:latin typeface="Palatino Linotype"/>
                <a:cs typeface="Palatino Linotype"/>
              </a:rPr>
              <a:t>đề</a:t>
            </a:r>
            <a:r>
              <a:rPr sz="3200" dirty="0">
                <a:latin typeface="Palatino Linotype"/>
                <a:cs typeface="Palatino Linotype"/>
              </a:rPr>
              <a:t>: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là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một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khẳng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định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có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tính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chất</a:t>
            </a:r>
            <a:r>
              <a:rPr sz="3200" spc="-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đúng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(true)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spc="-20" dirty="0">
                <a:latin typeface="Palatino Linotype"/>
                <a:cs typeface="Palatino Linotype"/>
              </a:rPr>
              <a:t>hoặc</a:t>
            </a:r>
            <a:endParaRPr sz="3200">
              <a:latin typeface="Palatino Linotype"/>
              <a:cs typeface="Palatino Linotype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Palatino Linotype"/>
                <a:cs typeface="Palatino Linotype"/>
              </a:rPr>
              <a:t>sai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spc="-10" dirty="0">
                <a:latin typeface="Palatino Linotype"/>
                <a:cs typeface="Palatino Linotype"/>
              </a:rPr>
              <a:t>(false).</a:t>
            </a:r>
            <a:endParaRPr sz="32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765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>
                <a:latin typeface="Palatino Linotype"/>
                <a:cs typeface="Palatino Linotype"/>
              </a:rPr>
              <a:t>Không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có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mệnh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đề</a:t>
            </a:r>
            <a:r>
              <a:rPr sz="3200" spc="-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nào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vừa</a:t>
            </a:r>
            <a:r>
              <a:rPr sz="3200" spc="-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đúng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lại vừa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sai</a:t>
            </a:r>
            <a:endParaRPr sz="32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770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i="1" dirty="0">
                <a:latin typeface="Palatino Linotype"/>
                <a:cs typeface="Palatino Linotype"/>
              </a:rPr>
              <a:t>Ví</a:t>
            </a:r>
            <a:r>
              <a:rPr sz="3200" i="1" spc="-10" dirty="0">
                <a:latin typeface="Palatino Linotype"/>
                <a:cs typeface="Palatino Linotype"/>
              </a:rPr>
              <a:t> </a:t>
            </a:r>
            <a:r>
              <a:rPr sz="3200" i="1" spc="-25" dirty="0">
                <a:latin typeface="Palatino Linotype"/>
                <a:cs typeface="Palatino Linotype"/>
              </a:rPr>
              <a:t>dụ:</a:t>
            </a:r>
            <a:endParaRPr sz="3200">
              <a:latin typeface="Palatino Linotype"/>
              <a:cs typeface="Palatino Linotype"/>
            </a:endParaRPr>
          </a:p>
          <a:p>
            <a:pPr marL="652145" lvl="1" indent="-246379">
              <a:lnSpc>
                <a:spcPct val="100000"/>
              </a:lnSpc>
              <a:spcBef>
                <a:spcPts val="770"/>
              </a:spcBef>
              <a:buClr>
                <a:srgbClr val="539E39"/>
              </a:buClr>
              <a:buSzPct val="84375"/>
              <a:buFont typeface="Wingdings 2"/>
              <a:buChar char=""/>
              <a:tabLst>
                <a:tab pos="652145" algn="l"/>
                <a:tab pos="6414135" algn="l"/>
                <a:tab pos="7328534" algn="l"/>
              </a:tabLst>
            </a:pPr>
            <a:r>
              <a:rPr sz="3200" dirty="0">
                <a:latin typeface="Palatino Linotype"/>
                <a:cs typeface="Palatino Linotype"/>
              </a:rPr>
              <a:t>Hà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Nội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là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thủ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đô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của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Việt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Nam</a:t>
            </a:r>
            <a:r>
              <a:rPr sz="3200" dirty="0">
                <a:latin typeface="Palatino Linotype"/>
                <a:cs typeface="Palatino Linotype"/>
              </a:rPr>
              <a:t>	</a:t>
            </a:r>
            <a:r>
              <a:rPr sz="3200" spc="-25" dirty="0">
                <a:latin typeface="Palatino Linotype"/>
                <a:cs typeface="Palatino Linotype"/>
              </a:rPr>
              <a:t>=&gt;</a:t>
            </a:r>
            <a:r>
              <a:rPr sz="3200" dirty="0">
                <a:latin typeface="Palatino Linotype"/>
                <a:cs typeface="Palatino Linotype"/>
              </a:rPr>
              <a:t>	</a:t>
            </a:r>
            <a:r>
              <a:rPr sz="3200" spc="-20" dirty="0">
                <a:latin typeface="Palatino Linotype"/>
                <a:cs typeface="Palatino Linotype"/>
              </a:rPr>
              <a:t>Đúng</a:t>
            </a:r>
            <a:endParaRPr sz="3200">
              <a:latin typeface="Palatino Linotype"/>
              <a:cs typeface="Palatino Linotype"/>
            </a:endParaRPr>
          </a:p>
          <a:p>
            <a:pPr marL="652145" lvl="1" indent="-246379">
              <a:lnSpc>
                <a:spcPct val="100000"/>
              </a:lnSpc>
              <a:spcBef>
                <a:spcPts val="765"/>
              </a:spcBef>
              <a:buClr>
                <a:srgbClr val="539E39"/>
              </a:buClr>
              <a:buSzPct val="84375"/>
              <a:buFont typeface="Wingdings 2"/>
              <a:buChar char=""/>
              <a:tabLst>
                <a:tab pos="652145" algn="l"/>
                <a:tab pos="5499735" algn="l"/>
                <a:tab pos="6414135" algn="l"/>
              </a:tabLst>
            </a:pPr>
            <a:r>
              <a:rPr sz="3200" dirty="0">
                <a:latin typeface="Palatino Linotype"/>
                <a:cs typeface="Palatino Linotype"/>
              </a:rPr>
              <a:t>Số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122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chia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hết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cho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spc="-50" dirty="0">
                <a:latin typeface="Palatino Linotype"/>
                <a:cs typeface="Palatino Linotype"/>
              </a:rPr>
              <a:t>3</a:t>
            </a:r>
            <a:r>
              <a:rPr sz="3200" dirty="0">
                <a:latin typeface="Palatino Linotype"/>
                <a:cs typeface="Palatino Linotype"/>
              </a:rPr>
              <a:t>	</a:t>
            </a:r>
            <a:r>
              <a:rPr sz="3200" spc="-25" dirty="0">
                <a:latin typeface="Palatino Linotype"/>
                <a:cs typeface="Palatino Linotype"/>
              </a:rPr>
              <a:t>=&gt;</a:t>
            </a:r>
            <a:r>
              <a:rPr sz="3200" dirty="0">
                <a:latin typeface="Palatino Linotype"/>
                <a:cs typeface="Palatino Linotype"/>
              </a:rPr>
              <a:t>	</a:t>
            </a:r>
            <a:r>
              <a:rPr sz="3200" spc="-25" dirty="0">
                <a:latin typeface="Palatino Linotype"/>
                <a:cs typeface="Palatino Linotype"/>
              </a:rPr>
              <a:t>Sai</a:t>
            </a:r>
            <a:endParaRPr sz="3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570990"/>
            <a:chOff x="0" y="0"/>
            <a:chExt cx="12192000" cy="15709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932" y="178307"/>
              <a:ext cx="2093214" cy="13921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5920" y="178307"/>
              <a:ext cx="1916430" cy="13921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98648" y="178307"/>
              <a:ext cx="2233422" cy="13921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69891" y="178307"/>
              <a:ext cx="1421130" cy="139217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597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100"/>
              </a:spcBef>
            </a:pPr>
            <a:r>
              <a:rPr sz="5000" dirty="0">
                <a:solidFill>
                  <a:srgbClr val="455F51"/>
                </a:solidFill>
              </a:rPr>
              <a:t>Phép</a:t>
            </a:r>
            <a:r>
              <a:rPr sz="5000" spc="-1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toán</a:t>
            </a:r>
            <a:r>
              <a:rPr sz="5000" spc="-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mệnh</a:t>
            </a:r>
            <a:r>
              <a:rPr sz="5000" spc="5" dirty="0">
                <a:solidFill>
                  <a:srgbClr val="455F51"/>
                </a:solidFill>
              </a:rPr>
              <a:t> </a:t>
            </a:r>
            <a:r>
              <a:rPr sz="5000" spc="-25" dirty="0">
                <a:solidFill>
                  <a:srgbClr val="455F51"/>
                </a:solidFill>
              </a:rPr>
              <a:t>đề</a:t>
            </a:r>
            <a:endParaRPr sz="50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25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8340" y="1747240"/>
            <a:ext cx="10638155" cy="2561590"/>
          </a:xfrm>
          <a:prstGeom prst="rect">
            <a:avLst/>
          </a:prstGeom>
        </p:spPr>
        <p:txBody>
          <a:bodyPr vert="horz" wrap="square" lIns="0" tIns="20764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635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>
                <a:latin typeface="Palatino Linotype"/>
                <a:cs typeface="Palatino Linotype"/>
              </a:rPr>
              <a:t>Ký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hiệu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trong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phép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toán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mệnh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đề:</a:t>
            </a:r>
            <a:endParaRPr sz="3200">
              <a:latin typeface="Palatino Linotype"/>
              <a:cs typeface="Palatino Linotype"/>
            </a:endParaRPr>
          </a:p>
          <a:p>
            <a:pPr marL="651510" marR="5080" lvl="1" indent="-246379">
              <a:lnSpc>
                <a:spcPct val="100000"/>
              </a:lnSpc>
              <a:spcBef>
                <a:spcPts val="1535"/>
              </a:spcBef>
              <a:buClr>
                <a:srgbClr val="539E39"/>
              </a:buClr>
              <a:buSzPct val="84375"/>
              <a:buFont typeface="Wingdings 2"/>
              <a:buChar char=""/>
              <a:tabLst>
                <a:tab pos="652780" algn="l"/>
              </a:tabLst>
            </a:pPr>
            <a:r>
              <a:rPr sz="3200" dirty="0">
                <a:latin typeface="Palatino Linotype"/>
                <a:cs typeface="Palatino Linotype"/>
              </a:rPr>
              <a:t>Ký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hiệu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mệnh</a:t>
            </a:r>
            <a:r>
              <a:rPr sz="3200" spc="-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đề: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spc="-225" dirty="0">
                <a:latin typeface="Palatino Linotype"/>
                <a:cs typeface="Palatino Linotype"/>
              </a:rPr>
              <a:t>P,</a:t>
            </a:r>
            <a:r>
              <a:rPr sz="3200" dirty="0">
                <a:latin typeface="Palatino Linotype"/>
                <a:cs typeface="Palatino Linotype"/>
              </a:rPr>
              <a:t> Q,</a:t>
            </a:r>
            <a:r>
              <a:rPr sz="3200" spc="-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R,</a:t>
            </a:r>
            <a:r>
              <a:rPr sz="3200" spc="-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S…(chữ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in</a:t>
            </a:r>
            <a:r>
              <a:rPr sz="3200" spc="-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hoa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gần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cuối</a:t>
            </a:r>
            <a:r>
              <a:rPr sz="3200" spc="-10" dirty="0">
                <a:latin typeface="Palatino Linotype"/>
                <a:cs typeface="Palatino Linotype"/>
              </a:rPr>
              <a:t> </a:t>
            </a:r>
            <a:r>
              <a:rPr sz="3200" spc="-20" dirty="0">
                <a:latin typeface="Palatino Linotype"/>
                <a:cs typeface="Palatino Linotype"/>
              </a:rPr>
              <a:t>bảng 	</a:t>
            </a:r>
            <a:r>
              <a:rPr sz="3200" dirty="0">
                <a:latin typeface="Palatino Linotype"/>
                <a:cs typeface="Palatino Linotype"/>
              </a:rPr>
              <a:t>chữ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cái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tiếng</a:t>
            </a:r>
            <a:r>
              <a:rPr sz="3200" spc="-130" dirty="0">
                <a:latin typeface="Palatino Linotype"/>
                <a:cs typeface="Palatino Linotype"/>
              </a:rPr>
              <a:t> </a:t>
            </a:r>
            <a:r>
              <a:rPr sz="3200" spc="-20" dirty="0">
                <a:latin typeface="Palatino Linotype"/>
                <a:cs typeface="Palatino Linotype"/>
              </a:rPr>
              <a:t>Anh)</a:t>
            </a:r>
            <a:endParaRPr sz="3200">
              <a:latin typeface="Palatino Linotype"/>
              <a:cs typeface="Palatino Linotype"/>
            </a:endParaRPr>
          </a:p>
          <a:p>
            <a:pPr marL="652145" lvl="1" indent="-246379">
              <a:lnSpc>
                <a:spcPct val="100000"/>
              </a:lnSpc>
              <a:spcBef>
                <a:spcPts val="1540"/>
              </a:spcBef>
              <a:buClr>
                <a:srgbClr val="539E39"/>
              </a:buClr>
              <a:buSzPct val="84375"/>
              <a:buFont typeface="Wingdings 2"/>
              <a:buChar char=""/>
              <a:tabLst>
                <a:tab pos="652145" algn="l"/>
              </a:tabLst>
            </a:pPr>
            <a:r>
              <a:rPr sz="3200" dirty="0">
                <a:latin typeface="Palatino Linotype"/>
                <a:cs typeface="Palatino Linotype"/>
              </a:rPr>
              <a:t>Ký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hiệu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chân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trị</a:t>
            </a:r>
            <a:r>
              <a:rPr sz="3200" spc="-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của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mệnh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đề: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true,</a:t>
            </a:r>
            <a:r>
              <a:rPr sz="3200" spc="-20" dirty="0">
                <a:latin typeface="Palatino Linotype"/>
                <a:cs typeface="Palatino Linotype"/>
              </a:rPr>
              <a:t> false</a:t>
            </a:r>
            <a:endParaRPr sz="3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823720"/>
            <a:chOff x="0" y="0"/>
            <a:chExt cx="12192000" cy="18237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171" y="484631"/>
              <a:ext cx="2009393" cy="133883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4771" y="484631"/>
              <a:ext cx="1840229" cy="13388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07208" y="484631"/>
              <a:ext cx="2145030" cy="133883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12920" y="484631"/>
              <a:ext cx="1366265" cy="133883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6377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455F51"/>
                </a:solidFill>
              </a:rPr>
              <a:t>Phép</a:t>
            </a:r>
            <a:r>
              <a:rPr sz="4800" spc="-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toán</a:t>
            </a:r>
            <a:r>
              <a:rPr sz="4800" spc="-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mệnh</a:t>
            </a:r>
            <a:r>
              <a:rPr sz="4800" spc="-15" dirty="0">
                <a:solidFill>
                  <a:srgbClr val="455F51"/>
                </a:solidFill>
              </a:rPr>
              <a:t> </a:t>
            </a:r>
            <a:r>
              <a:rPr sz="4800" spc="-25" dirty="0">
                <a:solidFill>
                  <a:srgbClr val="455F51"/>
                </a:solidFill>
              </a:rPr>
              <a:t>đề</a:t>
            </a:r>
            <a:endParaRPr sz="480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26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8340" y="1946274"/>
            <a:ext cx="10330180" cy="1390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95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b="1" dirty="0">
                <a:latin typeface="Palatino Linotype"/>
                <a:cs typeface="Palatino Linotype"/>
              </a:rPr>
              <a:t>Biểu</a:t>
            </a:r>
            <a:r>
              <a:rPr sz="2800" b="1" spc="-35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thức</a:t>
            </a:r>
            <a:r>
              <a:rPr sz="2800" b="1" spc="-30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mệnh</a:t>
            </a:r>
            <a:r>
              <a:rPr sz="2800" b="1" spc="-20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đề</a:t>
            </a:r>
            <a:r>
              <a:rPr sz="2800" dirty="0">
                <a:latin typeface="Palatino Linotype"/>
                <a:cs typeface="Palatino Linotype"/>
              </a:rPr>
              <a:t>: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là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sự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kết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hợp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của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các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mệnh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đề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bởi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các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spc="-20" dirty="0">
                <a:latin typeface="Palatino Linotype"/>
                <a:cs typeface="Palatino Linotype"/>
              </a:rPr>
              <a:t>phép </a:t>
            </a:r>
            <a:r>
              <a:rPr sz="2800" dirty="0">
                <a:latin typeface="Palatino Linotype"/>
                <a:cs typeface="Palatino Linotype"/>
              </a:rPr>
              <a:t>toán</a:t>
            </a:r>
            <a:r>
              <a:rPr sz="2800" spc="-5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mệnh</a:t>
            </a:r>
            <a:r>
              <a:rPr sz="2800" spc="-65" dirty="0">
                <a:latin typeface="Palatino Linotype"/>
                <a:cs typeface="Palatino Linotype"/>
              </a:rPr>
              <a:t> </a:t>
            </a:r>
            <a:r>
              <a:rPr sz="2800" spc="-25" dirty="0">
                <a:latin typeface="Palatino Linotype"/>
                <a:cs typeface="Palatino Linotype"/>
              </a:rPr>
              <a:t>đề</a:t>
            </a:r>
            <a:endParaRPr sz="28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670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b="1" dirty="0">
                <a:latin typeface="Palatino Linotype"/>
                <a:cs typeface="Palatino Linotype"/>
              </a:rPr>
              <a:t>Các</a:t>
            </a:r>
            <a:r>
              <a:rPr sz="2800" b="1" spc="-60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phép</a:t>
            </a:r>
            <a:r>
              <a:rPr sz="2800" b="1" spc="-40" dirty="0">
                <a:latin typeface="Palatino Linotype"/>
                <a:cs typeface="Palatino Linotype"/>
              </a:rPr>
              <a:t> </a:t>
            </a:r>
            <a:r>
              <a:rPr sz="2800" b="1" spc="-10" dirty="0">
                <a:latin typeface="Palatino Linotype"/>
                <a:cs typeface="Palatino Linotype"/>
              </a:rPr>
              <a:t>toán</a:t>
            </a:r>
            <a:r>
              <a:rPr sz="2800" spc="-10" dirty="0">
                <a:latin typeface="Palatino Linotype"/>
                <a:cs typeface="Palatino Linotype"/>
              </a:rPr>
              <a:t>:</a:t>
            </a:r>
            <a:endParaRPr sz="2800">
              <a:latin typeface="Palatino Linotype"/>
              <a:cs typeface="Palatino Linotype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062482" y="3401783"/>
          <a:ext cx="6370954" cy="21462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1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5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4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9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400" spc="-50" dirty="0">
                          <a:latin typeface="Symbol"/>
                          <a:cs typeface="Symbol"/>
                        </a:rPr>
                        <a:t>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5562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400" dirty="0">
                          <a:latin typeface="Palatino Linotype"/>
                          <a:cs typeface="Palatino Linotype"/>
                        </a:rPr>
                        <a:t>Phủ</a:t>
                      </a:r>
                      <a:r>
                        <a:rPr sz="2400" spc="-6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spc="-20" dirty="0">
                          <a:latin typeface="Palatino Linotype"/>
                          <a:cs typeface="Palatino Linotype"/>
                        </a:rPr>
                        <a:t>định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5988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400" dirty="0">
                          <a:latin typeface="Palatino Linotype"/>
                          <a:cs typeface="Palatino Linotype"/>
                        </a:rPr>
                        <a:t>một</a:t>
                      </a:r>
                      <a:r>
                        <a:rPr sz="2400" spc="-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spc="-20" dirty="0">
                          <a:latin typeface="Palatino Linotype"/>
                          <a:cs typeface="Palatino Linotype"/>
                        </a:rPr>
                        <a:t>ngôi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78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spc="-50" dirty="0">
                          <a:latin typeface="Symbol"/>
                          <a:cs typeface="Symbol"/>
                        </a:rPr>
                        <a:t>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5562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dirty="0">
                          <a:latin typeface="Palatino Linotype"/>
                          <a:cs typeface="Palatino Linotype"/>
                        </a:rPr>
                        <a:t>Hội</a:t>
                      </a:r>
                      <a:r>
                        <a:rPr sz="2400" spc="-5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Palatino Linotype"/>
                          <a:cs typeface="Palatino Linotype"/>
                        </a:rPr>
                        <a:t>(giao,</a:t>
                      </a:r>
                      <a:r>
                        <a:rPr sz="2400" spc="-4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spc="-20" dirty="0">
                          <a:latin typeface="Palatino Linotype"/>
                          <a:cs typeface="Palatino Linotype"/>
                        </a:rPr>
                        <a:t>nhân)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59880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dirty="0">
                          <a:latin typeface="Palatino Linotype"/>
                          <a:cs typeface="Palatino Linotype"/>
                        </a:rPr>
                        <a:t>hai</a:t>
                      </a:r>
                      <a:r>
                        <a:rPr sz="2400" spc="-3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spc="-20" dirty="0">
                          <a:latin typeface="Palatino Linotype"/>
                          <a:cs typeface="Palatino Linotype"/>
                        </a:rPr>
                        <a:t>ngôi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2476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78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spc="-50" dirty="0">
                          <a:latin typeface="Symbol"/>
                          <a:cs typeface="Symbol"/>
                        </a:rPr>
                        <a:t>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55626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spc="-25" dirty="0">
                          <a:latin typeface="Palatino Linotype"/>
                          <a:cs typeface="Palatino Linotype"/>
                        </a:rPr>
                        <a:t>Tuyển</a:t>
                      </a:r>
                      <a:r>
                        <a:rPr sz="2400" spc="-8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Palatino Linotype"/>
                          <a:cs typeface="Palatino Linotype"/>
                        </a:rPr>
                        <a:t>(hợp,</a:t>
                      </a:r>
                      <a:r>
                        <a:rPr sz="2400" spc="-8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spc="-10" dirty="0">
                          <a:latin typeface="Palatino Linotype"/>
                          <a:cs typeface="Palatino Linotype"/>
                        </a:rPr>
                        <a:t>cộng)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5988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dirty="0">
                          <a:latin typeface="Palatino Linotype"/>
                          <a:cs typeface="Palatino Linotype"/>
                        </a:rPr>
                        <a:t>hai</a:t>
                      </a:r>
                      <a:r>
                        <a:rPr sz="2400" spc="-3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spc="-20" dirty="0">
                          <a:latin typeface="Palatino Linotype"/>
                          <a:cs typeface="Palatino Linotype"/>
                        </a:rPr>
                        <a:t>ngôi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2413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spc="-50" dirty="0">
                          <a:latin typeface="Symbol"/>
                          <a:cs typeface="Symbol"/>
                        </a:rPr>
                        <a:t>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55626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dirty="0">
                          <a:latin typeface="Palatino Linotype"/>
                          <a:cs typeface="Palatino Linotype"/>
                        </a:rPr>
                        <a:t>Kéo</a:t>
                      </a:r>
                      <a:r>
                        <a:rPr sz="2400" spc="-3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Palatino Linotype"/>
                          <a:cs typeface="Palatino Linotype"/>
                        </a:rPr>
                        <a:t>theo</a:t>
                      </a:r>
                      <a:r>
                        <a:rPr sz="2400" spc="-2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Palatino Linotype"/>
                          <a:cs typeface="Palatino Linotype"/>
                        </a:rPr>
                        <a:t>(suy</a:t>
                      </a:r>
                      <a:r>
                        <a:rPr sz="2400" spc="-3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spc="-25" dirty="0">
                          <a:latin typeface="Palatino Linotype"/>
                          <a:cs typeface="Palatino Linotype"/>
                        </a:rPr>
                        <a:t>ra)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5988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dirty="0">
                          <a:latin typeface="Palatino Linotype"/>
                          <a:cs typeface="Palatino Linotype"/>
                        </a:rPr>
                        <a:t>hai</a:t>
                      </a:r>
                      <a:r>
                        <a:rPr sz="2400" spc="-3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spc="-20" dirty="0">
                          <a:latin typeface="Palatino Linotype"/>
                          <a:cs typeface="Palatino Linotype"/>
                        </a:rPr>
                        <a:t>ngôi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2413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spc="-50" dirty="0">
                          <a:latin typeface="Wingdings"/>
                          <a:cs typeface="Wingdings"/>
                        </a:rPr>
                        <a:t></a:t>
                      </a:r>
                      <a:endParaRPr sz="2400">
                        <a:latin typeface="Wingdings"/>
                        <a:cs typeface="Wingdings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55626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dirty="0">
                          <a:latin typeface="Palatino Linotype"/>
                          <a:cs typeface="Palatino Linotype"/>
                        </a:rPr>
                        <a:t>Tương</a:t>
                      </a:r>
                      <a:r>
                        <a:rPr sz="2400" spc="-7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spc="-10" dirty="0">
                          <a:latin typeface="Palatino Linotype"/>
                          <a:cs typeface="Palatino Linotype"/>
                        </a:rPr>
                        <a:t>đương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5988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400" dirty="0">
                          <a:latin typeface="Palatino Linotype"/>
                          <a:cs typeface="Palatino Linotype"/>
                        </a:rPr>
                        <a:t>hai</a:t>
                      </a:r>
                      <a:r>
                        <a:rPr sz="2400" spc="-3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spc="-20" dirty="0">
                          <a:latin typeface="Palatino Linotype"/>
                          <a:cs typeface="Palatino Linotype"/>
                        </a:rPr>
                        <a:t>ngôi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762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570990"/>
            <a:chOff x="0" y="0"/>
            <a:chExt cx="12192000" cy="15709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932" y="178307"/>
              <a:ext cx="2093214" cy="13921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5920" y="178307"/>
              <a:ext cx="1916430" cy="13921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98648" y="178307"/>
              <a:ext cx="2233422" cy="13921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69891" y="178307"/>
              <a:ext cx="1421130" cy="139217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96900" y="344805"/>
            <a:ext cx="4879975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dirty="0">
                <a:solidFill>
                  <a:srgbClr val="455F51"/>
                </a:solidFill>
              </a:rPr>
              <a:t>Phép</a:t>
            </a:r>
            <a:r>
              <a:rPr sz="5000" spc="-1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toán</a:t>
            </a:r>
            <a:r>
              <a:rPr sz="5000" spc="-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mệnh</a:t>
            </a:r>
            <a:r>
              <a:rPr sz="5000" spc="5" dirty="0">
                <a:solidFill>
                  <a:srgbClr val="455F51"/>
                </a:solidFill>
              </a:rPr>
              <a:t> </a:t>
            </a:r>
            <a:r>
              <a:rPr sz="5000" spc="-25" dirty="0">
                <a:solidFill>
                  <a:srgbClr val="455F51"/>
                </a:solidFill>
              </a:rPr>
              <a:t>đề</a:t>
            </a:r>
            <a:endParaRPr sz="500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27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8340" y="1551812"/>
            <a:ext cx="10165080" cy="189103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286385" marR="5080" indent="-274320" algn="just">
              <a:lnSpc>
                <a:spcPct val="85000"/>
              </a:lnSpc>
              <a:spcBef>
                <a:spcPts val="650"/>
              </a:spcBef>
              <a:buClr>
                <a:srgbClr val="C0CF39"/>
              </a:buClr>
              <a:buSzPct val="95161"/>
              <a:buFont typeface="Wingdings 2"/>
              <a:buChar char=""/>
              <a:tabLst>
                <a:tab pos="286385" algn="l"/>
              </a:tabLst>
            </a:pPr>
            <a:r>
              <a:rPr sz="3100" b="1" dirty="0">
                <a:latin typeface="Palatino Linotype"/>
                <a:cs typeface="Palatino Linotype"/>
              </a:rPr>
              <a:t>Ngữ</a:t>
            </a:r>
            <a:r>
              <a:rPr sz="3100" b="1" spc="-25" dirty="0">
                <a:latin typeface="Palatino Linotype"/>
                <a:cs typeface="Palatino Linotype"/>
              </a:rPr>
              <a:t> </a:t>
            </a:r>
            <a:r>
              <a:rPr sz="3100" b="1" dirty="0">
                <a:latin typeface="Palatino Linotype"/>
                <a:cs typeface="Palatino Linotype"/>
              </a:rPr>
              <a:t>nghĩa</a:t>
            </a:r>
            <a:r>
              <a:rPr sz="3100" b="1" spc="-50" dirty="0">
                <a:latin typeface="Palatino Linotype"/>
                <a:cs typeface="Palatino Linotype"/>
              </a:rPr>
              <a:t> </a:t>
            </a:r>
            <a:r>
              <a:rPr sz="3100" b="1" dirty="0">
                <a:latin typeface="Palatino Linotype"/>
                <a:cs typeface="Palatino Linotype"/>
              </a:rPr>
              <a:t>của</a:t>
            </a:r>
            <a:r>
              <a:rPr sz="3100" b="1" spc="-50" dirty="0">
                <a:latin typeface="Palatino Linotype"/>
                <a:cs typeface="Palatino Linotype"/>
              </a:rPr>
              <a:t> </a:t>
            </a:r>
            <a:r>
              <a:rPr sz="3100" b="1" dirty="0">
                <a:latin typeface="Palatino Linotype"/>
                <a:cs typeface="Palatino Linotype"/>
              </a:rPr>
              <a:t>phép</a:t>
            </a:r>
            <a:r>
              <a:rPr sz="3100" b="1" spc="-55" dirty="0">
                <a:latin typeface="Palatino Linotype"/>
                <a:cs typeface="Palatino Linotype"/>
              </a:rPr>
              <a:t> </a:t>
            </a:r>
            <a:r>
              <a:rPr sz="3100" b="1" dirty="0">
                <a:latin typeface="Palatino Linotype"/>
                <a:cs typeface="Palatino Linotype"/>
              </a:rPr>
              <a:t>toán</a:t>
            </a:r>
            <a:r>
              <a:rPr sz="3100" b="1" spc="-45" dirty="0">
                <a:latin typeface="Palatino Linotype"/>
                <a:cs typeface="Palatino Linotype"/>
              </a:rPr>
              <a:t> </a:t>
            </a:r>
            <a:r>
              <a:rPr sz="3100" b="1" dirty="0">
                <a:latin typeface="Palatino Linotype"/>
                <a:cs typeface="Palatino Linotype"/>
              </a:rPr>
              <a:t>mệnh</a:t>
            </a:r>
            <a:r>
              <a:rPr sz="3100" b="1" spc="-50" dirty="0">
                <a:latin typeface="Palatino Linotype"/>
                <a:cs typeface="Palatino Linotype"/>
              </a:rPr>
              <a:t> </a:t>
            </a:r>
            <a:r>
              <a:rPr sz="3100" b="1" dirty="0">
                <a:latin typeface="Palatino Linotype"/>
                <a:cs typeface="Palatino Linotype"/>
              </a:rPr>
              <a:t>đề</a:t>
            </a:r>
            <a:r>
              <a:rPr sz="3100" dirty="0">
                <a:latin typeface="Palatino Linotype"/>
                <a:cs typeface="Palatino Linotype"/>
              </a:rPr>
              <a:t>:</a:t>
            </a:r>
            <a:r>
              <a:rPr sz="3100" spc="-50" dirty="0">
                <a:latin typeface="Palatino Linotype"/>
                <a:cs typeface="Palatino Linotype"/>
              </a:rPr>
              <a:t> </a:t>
            </a:r>
            <a:r>
              <a:rPr sz="3100" dirty="0">
                <a:latin typeface="Palatino Linotype"/>
                <a:cs typeface="Palatino Linotype"/>
              </a:rPr>
              <a:t>được</a:t>
            </a:r>
            <a:r>
              <a:rPr sz="3100" spc="-40" dirty="0">
                <a:latin typeface="Palatino Linotype"/>
                <a:cs typeface="Palatino Linotype"/>
              </a:rPr>
              <a:t> </a:t>
            </a:r>
            <a:r>
              <a:rPr sz="3100" dirty="0">
                <a:latin typeface="Palatino Linotype"/>
                <a:cs typeface="Palatino Linotype"/>
              </a:rPr>
              <a:t>diễn</a:t>
            </a:r>
            <a:r>
              <a:rPr sz="3100" spc="-45" dirty="0">
                <a:latin typeface="Palatino Linotype"/>
                <a:cs typeface="Palatino Linotype"/>
              </a:rPr>
              <a:t> </a:t>
            </a:r>
            <a:r>
              <a:rPr sz="3100" dirty="0">
                <a:latin typeface="Palatino Linotype"/>
                <a:cs typeface="Palatino Linotype"/>
              </a:rPr>
              <a:t>giải</a:t>
            </a:r>
            <a:r>
              <a:rPr sz="3100" spc="-50" dirty="0">
                <a:latin typeface="Palatino Linotype"/>
                <a:cs typeface="Palatino Linotype"/>
              </a:rPr>
              <a:t> </a:t>
            </a:r>
            <a:r>
              <a:rPr sz="3100" spc="-20" dirty="0">
                <a:latin typeface="Palatino Linotype"/>
                <a:cs typeface="Palatino Linotype"/>
              </a:rPr>
              <a:t>bằng </a:t>
            </a:r>
            <a:r>
              <a:rPr sz="3100" dirty="0">
                <a:latin typeface="Palatino Linotype"/>
                <a:cs typeface="Palatino Linotype"/>
              </a:rPr>
              <a:t>cách</a:t>
            </a:r>
            <a:r>
              <a:rPr sz="3100" spc="-45" dirty="0">
                <a:latin typeface="Palatino Linotype"/>
                <a:cs typeface="Palatino Linotype"/>
              </a:rPr>
              <a:t> </a:t>
            </a:r>
            <a:r>
              <a:rPr sz="3100" dirty="0">
                <a:latin typeface="Palatino Linotype"/>
                <a:cs typeface="Palatino Linotype"/>
              </a:rPr>
              <a:t>gán</a:t>
            </a:r>
            <a:r>
              <a:rPr sz="3100" spc="-45" dirty="0">
                <a:latin typeface="Palatino Linotype"/>
                <a:cs typeface="Palatino Linotype"/>
              </a:rPr>
              <a:t> </a:t>
            </a:r>
            <a:r>
              <a:rPr sz="3100" dirty="0">
                <a:latin typeface="Palatino Linotype"/>
                <a:cs typeface="Palatino Linotype"/>
              </a:rPr>
              <a:t>chân</a:t>
            </a:r>
            <a:r>
              <a:rPr sz="3100" spc="-25" dirty="0">
                <a:latin typeface="Palatino Linotype"/>
                <a:cs typeface="Palatino Linotype"/>
              </a:rPr>
              <a:t> </a:t>
            </a:r>
            <a:r>
              <a:rPr sz="3100" dirty="0">
                <a:latin typeface="Palatino Linotype"/>
                <a:cs typeface="Palatino Linotype"/>
              </a:rPr>
              <a:t>trị</a:t>
            </a:r>
            <a:r>
              <a:rPr sz="3100" spc="-40" dirty="0">
                <a:latin typeface="Palatino Linotype"/>
                <a:cs typeface="Palatino Linotype"/>
              </a:rPr>
              <a:t> </a:t>
            </a:r>
            <a:r>
              <a:rPr sz="3100" dirty="0">
                <a:latin typeface="Palatino Linotype"/>
                <a:cs typeface="Palatino Linotype"/>
              </a:rPr>
              <a:t>cho</a:t>
            </a:r>
            <a:r>
              <a:rPr sz="3100" spc="-45" dirty="0">
                <a:latin typeface="Palatino Linotype"/>
                <a:cs typeface="Palatino Linotype"/>
              </a:rPr>
              <a:t> </a:t>
            </a:r>
            <a:r>
              <a:rPr sz="3100" dirty="0">
                <a:latin typeface="Palatino Linotype"/>
                <a:cs typeface="Palatino Linotype"/>
              </a:rPr>
              <a:t>các</a:t>
            </a:r>
            <a:r>
              <a:rPr sz="3100" spc="-35" dirty="0">
                <a:latin typeface="Palatino Linotype"/>
                <a:cs typeface="Palatino Linotype"/>
              </a:rPr>
              <a:t> </a:t>
            </a:r>
            <a:r>
              <a:rPr sz="3100" dirty="0">
                <a:latin typeface="Palatino Linotype"/>
                <a:cs typeface="Palatino Linotype"/>
              </a:rPr>
              <a:t>mệnh</a:t>
            </a:r>
            <a:r>
              <a:rPr sz="3100" spc="-45" dirty="0">
                <a:latin typeface="Palatino Linotype"/>
                <a:cs typeface="Palatino Linotype"/>
              </a:rPr>
              <a:t> </a:t>
            </a:r>
            <a:r>
              <a:rPr sz="3100" dirty="0">
                <a:latin typeface="Palatino Linotype"/>
                <a:cs typeface="Palatino Linotype"/>
              </a:rPr>
              <a:t>đề</a:t>
            </a:r>
            <a:r>
              <a:rPr sz="3100" spc="-40" dirty="0">
                <a:latin typeface="Palatino Linotype"/>
                <a:cs typeface="Palatino Linotype"/>
              </a:rPr>
              <a:t> </a:t>
            </a:r>
            <a:r>
              <a:rPr sz="3100" dirty="0">
                <a:latin typeface="Palatino Linotype"/>
                <a:cs typeface="Palatino Linotype"/>
              </a:rPr>
              <a:t>(một</a:t>
            </a:r>
            <a:r>
              <a:rPr sz="3100" spc="-40" dirty="0">
                <a:latin typeface="Palatino Linotype"/>
                <a:cs typeface="Palatino Linotype"/>
              </a:rPr>
              <a:t> </a:t>
            </a:r>
            <a:r>
              <a:rPr sz="3100" dirty="0">
                <a:latin typeface="Palatino Linotype"/>
                <a:cs typeface="Palatino Linotype"/>
              </a:rPr>
              <a:t>ánh</a:t>
            </a:r>
            <a:r>
              <a:rPr sz="3100" spc="-40" dirty="0">
                <a:latin typeface="Palatino Linotype"/>
                <a:cs typeface="Palatino Linotype"/>
              </a:rPr>
              <a:t> </a:t>
            </a:r>
            <a:r>
              <a:rPr sz="3100" dirty="0">
                <a:latin typeface="Palatino Linotype"/>
                <a:cs typeface="Palatino Linotype"/>
              </a:rPr>
              <a:t>xạ</a:t>
            </a:r>
            <a:r>
              <a:rPr sz="3100" spc="-35" dirty="0">
                <a:latin typeface="Palatino Linotype"/>
                <a:cs typeface="Palatino Linotype"/>
              </a:rPr>
              <a:t> </a:t>
            </a:r>
            <a:r>
              <a:rPr sz="3100" dirty="0">
                <a:latin typeface="Palatino Linotype"/>
                <a:cs typeface="Palatino Linotype"/>
              </a:rPr>
              <a:t>từ</a:t>
            </a:r>
            <a:r>
              <a:rPr sz="3100" spc="-30" dirty="0">
                <a:latin typeface="Palatino Linotype"/>
                <a:cs typeface="Palatino Linotype"/>
              </a:rPr>
              <a:t> </a:t>
            </a:r>
            <a:r>
              <a:rPr sz="3100" dirty="0">
                <a:latin typeface="Palatino Linotype"/>
                <a:cs typeface="Palatino Linotype"/>
              </a:rPr>
              <a:t>các</a:t>
            </a:r>
            <a:r>
              <a:rPr sz="3100" spc="-40" dirty="0">
                <a:latin typeface="Palatino Linotype"/>
                <a:cs typeface="Palatino Linotype"/>
              </a:rPr>
              <a:t> </a:t>
            </a:r>
            <a:r>
              <a:rPr sz="3100" spc="-25" dirty="0">
                <a:latin typeface="Palatino Linotype"/>
                <a:cs typeface="Palatino Linotype"/>
              </a:rPr>
              <a:t>ký </a:t>
            </a:r>
            <a:r>
              <a:rPr sz="3100" dirty="0">
                <a:latin typeface="Palatino Linotype"/>
                <a:cs typeface="Palatino Linotype"/>
              </a:rPr>
              <a:t>hiệu</a:t>
            </a:r>
            <a:r>
              <a:rPr sz="3100" spc="-25" dirty="0">
                <a:latin typeface="Palatino Linotype"/>
                <a:cs typeface="Palatino Linotype"/>
              </a:rPr>
              <a:t> </a:t>
            </a:r>
            <a:r>
              <a:rPr sz="3100" dirty="0">
                <a:latin typeface="Palatino Linotype"/>
                <a:cs typeface="Palatino Linotype"/>
              </a:rPr>
              <a:t>mệnh</a:t>
            </a:r>
            <a:r>
              <a:rPr sz="3100" spc="-40" dirty="0">
                <a:latin typeface="Palatino Linotype"/>
                <a:cs typeface="Palatino Linotype"/>
              </a:rPr>
              <a:t> </a:t>
            </a:r>
            <a:r>
              <a:rPr sz="3100" dirty="0">
                <a:latin typeface="Palatino Linotype"/>
                <a:cs typeface="Palatino Linotype"/>
              </a:rPr>
              <a:t>đề</a:t>
            </a:r>
            <a:r>
              <a:rPr sz="3100" spc="-35" dirty="0">
                <a:latin typeface="Palatino Linotype"/>
                <a:cs typeface="Palatino Linotype"/>
              </a:rPr>
              <a:t> </a:t>
            </a:r>
            <a:r>
              <a:rPr sz="3100" dirty="0">
                <a:latin typeface="Palatino Linotype"/>
                <a:cs typeface="Palatino Linotype"/>
              </a:rPr>
              <a:t>vào</a:t>
            </a:r>
            <a:r>
              <a:rPr sz="3100" spc="-25" dirty="0">
                <a:latin typeface="Palatino Linotype"/>
                <a:cs typeface="Palatino Linotype"/>
              </a:rPr>
              <a:t> </a:t>
            </a:r>
            <a:r>
              <a:rPr sz="3100" dirty="0">
                <a:latin typeface="Palatino Linotype"/>
                <a:cs typeface="Palatino Linotype"/>
              </a:rPr>
              <a:t>tập</a:t>
            </a:r>
            <a:r>
              <a:rPr sz="3100" spc="-25" dirty="0">
                <a:latin typeface="Palatino Linotype"/>
                <a:cs typeface="Palatino Linotype"/>
              </a:rPr>
              <a:t> </a:t>
            </a:r>
            <a:r>
              <a:rPr sz="3100" spc="-10" dirty="0">
                <a:latin typeface="Palatino Linotype"/>
                <a:cs typeface="Palatino Linotype"/>
              </a:rPr>
              <a:t>{T,F})</a:t>
            </a:r>
            <a:endParaRPr sz="3100">
              <a:latin typeface="Palatino Linotype"/>
              <a:cs typeface="Palatino Linotype"/>
            </a:endParaRPr>
          </a:p>
          <a:p>
            <a:pPr marL="286385" indent="-273685" algn="just">
              <a:lnSpc>
                <a:spcPct val="100000"/>
              </a:lnSpc>
              <a:spcBef>
                <a:spcPts val="930"/>
              </a:spcBef>
              <a:buClr>
                <a:srgbClr val="C0CF39"/>
              </a:buClr>
              <a:buSzPct val="95161"/>
              <a:buFont typeface="Wingdings 2"/>
              <a:buChar char=""/>
              <a:tabLst>
                <a:tab pos="286385" algn="l"/>
              </a:tabLst>
            </a:pPr>
            <a:r>
              <a:rPr sz="3100" dirty="0">
                <a:latin typeface="Palatino Linotype"/>
                <a:cs typeface="Palatino Linotype"/>
              </a:rPr>
              <a:t>Giá</a:t>
            </a:r>
            <a:r>
              <a:rPr sz="3100" spc="-35" dirty="0">
                <a:latin typeface="Palatino Linotype"/>
                <a:cs typeface="Palatino Linotype"/>
              </a:rPr>
              <a:t> </a:t>
            </a:r>
            <a:r>
              <a:rPr sz="3100" dirty="0">
                <a:latin typeface="Palatino Linotype"/>
                <a:cs typeface="Palatino Linotype"/>
              </a:rPr>
              <a:t>trị</a:t>
            </a:r>
            <a:r>
              <a:rPr sz="3100" spc="-35" dirty="0">
                <a:latin typeface="Palatino Linotype"/>
                <a:cs typeface="Palatino Linotype"/>
              </a:rPr>
              <a:t> </a:t>
            </a:r>
            <a:r>
              <a:rPr sz="3100" dirty="0">
                <a:latin typeface="Palatino Linotype"/>
                <a:cs typeface="Palatino Linotype"/>
              </a:rPr>
              <a:t>của</a:t>
            </a:r>
            <a:r>
              <a:rPr sz="3100" spc="-45" dirty="0">
                <a:latin typeface="Palatino Linotype"/>
                <a:cs typeface="Palatino Linotype"/>
              </a:rPr>
              <a:t> </a:t>
            </a:r>
            <a:r>
              <a:rPr sz="3100" dirty="0">
                <a:latin typeface="Palatino Linotype"/>
                <a:cs typeface="Palatino Linotype"/>
              </a:rPr>
              <a:t>phép</a:t>
            </a:r>
            <a:r>
              <a:rPr sz="3100" spc="-30" dirty="0">
                <a:latin typeface="Palatino Linotype"/>
                <a:cs typeface="Palatino Linotype"/>
              </a:rPr>
              <a:t> </a:t>
            </a:r>
            <a:r>
              <a:rPr sz="3100" dirty="0">
                <a:latin typeface="Palatino Linotype"/>
                <a:cs typeface="Palatino Linotype"/>
              </a:rPr>
              <a:t>toán</a:t>
            </a:r>
            <a:r>
              <a:rPr sz="3100" spc="-35" dirty="0">
                <a:latin typeface="Palatino Linotype"/>
                <a:cs typeface="Palatino Linotype"/>
              </a:rPr>
              <a:t> </a:t>
            </a:r>
            <a:r>
              <a:rPr sz="3100" dirty="0">
                <a:latin typeface="Palatino Linotype"/>
                <a:cs typeface="Palatino Linotype"/>
              </a:rPr>
              <a:t>dựa</a:t>
            </a:r>
            <a:r>
              <a:rPr sz="3100" spc="-30" dirty="0">
                <a:latin typeface="Palatino Linotype"/>
                <a:cs typeface="Palatino Linotype"/>
              </a:rPr>
              <a:t> </a:t>
            </a:r>
            <a:r>
              <a:rPr sz="3100" dirty="0">
                <a:latin typeface="Palatino Linotype"/>
                <a:cs typeface="Palatino Linotype"/>
              </a:rPr>
              <a:t>vào</a:t>
            </a:r>
            <a:r>
              <a:rPr sz="3100" spc="-40" dirty="0">
                <a:latin typeface="Palatino Linotype"/>
                <a:cs typeface="Palatino Linotype"/>
              </a:rPr>
              <a:t> </a:t>
            </a:r>
            <a:r>
              <a:rPr sz="3100" dirty="0">
                <a:latin typeface="Palatino Linotype"/>
                <a:cs typeface="Palatino Linotype"/>
              </a:rPr>
              <a:t>“Bảng</a:t>
            </a:r>
            <a:r>
              <a:rPr sz="3100" spc="-35" dirty="0">
                <a:latin typeface="Palatino Linotype"/>
                <a:cs typeface="Palatino Linotype"/>
              </a:rPr>
              <a:t> </a:t>
            </a:r>
            <a:r>
              <a:rPr sz="3100" dirty="0">
                <a:latin typeface="Palatino Linotype"/>
                <a:cs typeface="Palatino Linotype"/>
              </a:rPr>
              <a:t>chân</a:t>
            </a:r>
            <a:r>
              <a:rPr sz="3100" spc="-40" dirty="0">
                <a:latin typeface="Palatino Linotype"/>
                <a:cs typeface="Palatino Linotype"/>
              </a:rPr>
              <a:t> </a:t>
            </a:r>
            <a:r>
              <a:rPr sz="3100" spc="-10" dirty="0">
                <a:latin typeface="Palatino Linotype"/>
                <a:cs typeface="Palatino Linotype"/>
              </a:rPr>
              <a:t>trị”:</a:t>
            </a:r>
            <a:endParaRPr sz="3100">
              <a:latin typeface="Palatino Linotype"/>
              <a:cs typeface="Palatino Linotype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579308" y="3553740"/>
          <a:ext cx="8171814" cy="1880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0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0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83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9420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spc="-50" dirty="0">
                          <a:latin typeface="Palatino Linotype"/>
                          <a:cs typeface="Palatino Linotype"/>
                        </a:rPr>
                        <a:t>P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63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spc="-50" dirty="0">
                          <a:latin typeface="Palatino Linotype"/>
                          <a:cs typeface="Palatino Linotype"/>
                        </a:rPr>
                        <a:t>Q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635" marB="0"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7719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spc="-25" dirty="0">
                          <a:latin typeface="Symbol"/>
                          <a:cs typeface="Symbol"/>
                        </a:rPr>
                        <a:t></a:t>
                      </a:r>
                      <a:r>
                        <a:rPr sz="2200" spc="-25" dirty="0">
                          <a:latin typeface="Palatino Linotype"/>
                          <a:cs typeface="Palatino Linotype"/>
                        </a:rPr>
                        <a:t>P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dirty="0">
                          <a:latin typeface="Palatino Linotype"/>
                          <a:cs typeface="Palatino Linotype"/>
                        </a:rPr>
                        <a:t>P</a:t>
                      </a:r>
                      <a:r>
                        <a:rPr sz="2200" spc="-6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200" dirty="0">
                          <a:latin typeface="Symbol"/>
                          <a:cs typeface="Symbol"/>
                        </a:rPr>
                        <a:t></a:t>
                      </a:r>
                      <a:r>
                        <a:rPr sz="2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50" dirty="0">
                          <a:latin typeface="Palatino Linotype"/>
                          <a:cs typeface="Palatino Linotype"/>
                        </a:rPr>
                        <a:t>Q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63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16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dirty="0">
                          <a:latin typeface="Palatino Linotype"/>
                          <a:cs typeface="Palatino Linotype"/>
                        </a:rPr>
                        <a:t>P</a:t>
                      </a:r>
                      <a:r>
                        <a:rPr sz="2200" spc="-5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200" dirty="0">
                          <a:latin typeface="Symbol"/>
                          <a:cs typeface="Symbol"/>
                        </a:rPr>
                        <a:t></a:t>
                      </a:r>
                      <a:r>
                        <a:rPr sz="2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50" dirty="0">
                          <a:latin typeface="Palatino Linotype"/>
                          <a:cs typeface="Palatino Linotype"/>
                        </a:rPr>
                        <a:t>Q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63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005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dirty="0">
                          <a:latin typeface="Palatino Linotype"/>
                          <a:cs typeface="Palatino Linotype"/>
                        </a:rPr>
                        <a:t>P</a:t>
                      </a:r>
                      <a:r>
                        <a:rPr sz="2200" spc="-7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200" dirty="0">
                          <a:latin typeface="Symbol"/>
                          <a:cs typeface="Symbol"/>
                        </a:rPr>
                        <a:t></a:t>
                      </a:r>
                      <a:r>
                        <a:rPr sz="2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50" dirty="0">
                          <a:latin typeface="Palatino Linotype"/>
                          <a:cs typeface="Palatino Linotype"/>
                        </a:rPr>
                        <a:t>Q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63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dirty="0">
                          <a:latin typeface="Palatino Linotype"/>
                          <a:cs typeface="Palatino Linotype"/>
                        </a:rPr>
                        <a:t>P</a:t>
                      </a:r>
                      <a:r>
                        <a:rPr sz="2200" spc="-7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200" dirty="0">
                          <a:latin typeface="Wingdings"/>
                          <a:cs typeface="Wingdings"/>
                        </a:rPr>
                        <a:t></a:t>
                      </a:r>
                      <a:r>
                        <a:rPr sz="2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spc="-60" dirty="0">
                          <a:latin typeface="Palatino Linotype"/>
                          <a:cs typeface="Palatino Linotype"/>
                        </a:rPr>
                        <a:t>Q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63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2200" spc="-50" dirty="0">
                          <a:latin typeface="Palatino Linotype"/>
                          <a:cs typeface="Palatino Linotype"/>
                        </a:rPr>
                        <a:t>T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17589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74930" algn="ctr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2200" spc="-50" dirty="0">
                          <a:latin typeface="Palatino Linotype"/>
                          <a:cs typeface="Palatino Linotype"/>
                        </a:rPr>
                        <a:t>T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17589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79730" algn="r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2200" spc="-50" dirty="0">
                          <a:latin typeface="Palatino Linotype"/>
                          <a:cs typeface="Palatino Linotype"/>
                        </a:rPr>
                        <a:t>F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17589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32080" algn="ctr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2200" spc="-50" dirty="0">
                          <a:latin typeface="Palatino Linotype"/>
                          <a:cs typeface="Palatino Linotype"/>
                        </a:rPr>
                        <a:t>T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17589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68910" algn="ctr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2200" spc="-50" dirty="0">
                          <a:latin typeface="Palatino Linotype"/>
                          <a:cs typeface="Palatino Linotype"/>
                        </a:rPr>
                        <a:t>T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17589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02565" algn="ctr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2200" spc="-50" dirty="0">
                          <a:latin typeface="Palatino Linotype"/>
                          <a:cs typeface="Palatino Linotype"/>
                        </a:rPr>
                        <a:t>T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17589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96900" algn="ctr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2200" spc="-50" dirty="0">
                          <a:latin typeface="Palatino Linotype"/>
                          <a:cs typeface="Palatino Linotype"/>
                        </a:rPr>
                        <a:t>T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17589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36195">
                        <a:lnSpc>
                          <a:spcPts val="2120"/>
                        </a:lnSpc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Palatino Linotype"/>
                          <a:cs typeface="Palatino Linotype"/>
                        </a:rPr>
                        <a:t>T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ctr">
                        <a:lnSpc>
                          <a:spcPts val="2120"/>
                        </a:lnSpc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Palatino Linotype"/>
                          <a:cs typeface="Palatino Linotype"/>
                        </a:rPr>
                        <a:t>F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379730" algn="r">
                        <a:lnSpc>
                          <a:spcPts val="2120"/>
                        </a:lnSpc>
                      </a:pPr>
                      <a:r>
                        <a:rPr sz="2200" spc="-50" dirty="0">
                          <a:latin typeface="Palatino Linotype"/>
                          <a:cs typeface="Palatino Linotype"/>
                        </a:rPr>
                        <a:t>F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47955" algn="ctr">
                        <a:lnSpc>
                          <a:spcPts val="2120"/>
                        </a:lnSpc>
                      </a:pPr>
                      <a:r>
                        <a:rPr sz="2200" spc="-50" dirty="0">
                          <a:latin typeface="Palatino Linotype"/>
                          <a:cs typeface="Palatino Linotype"/>
                        </a:rPr>
                        <a:t>F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8910" algn="ctr">
                        <a:lnSpc>
                          <a:spcPts val="2120"/>
                        </a:lnSpc>
                      </a:pPr>
                      <a:r>
                        <a:rPr sz="2200" spc="-50" dirty="0">
                          <a:latin typeface="Palatino Linotype"/>
                          <a:cs typeface="Palatino Linotype"/>
                        </a:rPr>
                        <a:t>T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8440" algn="ctr">
                        <a:lnSpc>
                          <a:spcPts val="2120"/>
                        </a:lnSpc>
                      </a:pPr>
                      <a:r>
                        <a:rPr sz="2200" spc="-50" dirty="0">
                          <a:solidFill>
                            <a:srgbClr val="FF0000"/>
                          </a:solidFill>
                          <a:latin typeface="Palatino Linotype"/>
                          <a:cs typeface="Palatino Linotype"/>
                        </a:rPr>
                        <a:t>F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1025" algn="ctr">
                        <a:lnSpc>
                          <a:spcPts val="2120"/>
                        </a:lnSpc>
                      </a:pPr>
                      <a:r>
                        <a:rPr sz="2200" spc="-50" dirty="0">
                          <a:solidFill>
                            <a:srgbClr val="006FC0"/>
                          </a:solidFill>
                          <a:latin typeface="Palatino Linotype"/>
                          <a:cs typeface="Palatino Linotype"/>
                        </a:rPr>
                        <a:t>F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36195">
                        <a:lnSpc>
                          <a:spcPts val="2120"/>
                        </a:lnSpc>
                      </a:pPr>
                      <a:r>
                        <a:rPr sz="2200" spc="-50" dirty="0">
                          <a:latin typeface="Palatino Linotype"/>
                          <a:cs typeface="Palatino Linotype"/>
                        </a:rPr>
                        <a:t>F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4930" algn="ctr">
                        <a:lnSpc>
                          <a:spcPts val="2120"/>
                        </a:lnSpc>
                      </a:pPr>
                      <a:r>
                        <a:rPr sz="2200" spc="-50" dirty="0">
                          <a:latin typeface="Palatino Linotype"/>
                          <a:cs typeface="Palatino Linotype"/>
                        </a:rPr>
                        <a:t>T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363855" algn="r">
                        <a:lnSpc>
                          <a:spcPts val="2120"/>
                        </a:lnSpc>
                      </a:pPr>
                      <a:r>
                        <a:rPr sz="2200" spc="-50" dirty="0">
                          <a:latin typeface="Palatino Linotype"/>
                          <a:cs typeface="Palatino Linotype"/>
                        </a:rPr>
                        <a:t>T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47955" algn="ctr">
                        <a:lnSpc>
                          <a:spcPts val="2120"/>
                        </a:lnSpc>
                      </a:pPr>
                      <a:r>
                        <a:rPr sz="2200" spc="-50" dirty="0">
                          <a:latin typeface="Palatino Linotype"/>
                          <a:cs typeface="Palatino Linotype"/>
                        </a:rPr>
                        <a:t>F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8910" algn="ctr">
                        <a:lnSpc>
                          <a:spcPts val="2120"/>
                        </a:lnSpc>
                      </a:pPr>
                      <a:r>
                        <a:rPr sz="2200" spc="-50" dirty="0">
                          <a:latin typeface="Palatino Linotype"/>
                          <a:cs typeface="Palatino Linotype"/>
                        </a:rPr>
                        <a:t>T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2565" algn="ctr">
                        <a:lnSpc>
                          <a:spcPts val="2120"/>
                        </a:lnSpc>
                      </a:pPr>
                      <a:r>
                        <a:rPr sz="2200" spc="-50" dirty="0">
                          <a:latin typeface="Palatino Linotype"/>
                          <a:cs typeface="Palatino Linotype"/>
                        </a:rPr>
                        <a:t>T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1025" algn="ctr">
                        <a:lnSpc>
                          <a:spcPts val="2120"/>
                        </a:lnSpc>
                      </a:pPr>
                      <a:r>
                        <a:rPr sz="2200" spc="-50" dirty="0">
                          <a:solidFill>
                            <a:srgbClr val="006FC0"/>
                          </a:solidFill>
                          <a:latin typeface="Palatino Linotype"/>
                          <a:cs typeface="Palatino Linotype"/>
                        </a:rPr>
                        <a:t>F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005">
                <a:tc>
                  <a:txBody>
                    <a:bodyPr/>
                    <a:lstStyle/>
                    <a:p>
                      <a:pPr marL="36195">
                        <a:lnSpc>
                          <a:spcPts val="2120"/>
                        </a:lnSpc>
                      </a:pPr>
                      <a:r>
                        <a:rPr sz="2200" spc="-50" dirty="0">
                          <a:latin typeface="Palatino Linotype"/>
                          <a:cs typeface="Palatino Linotype"/>
                        </a:rPr>
                        <a:t>F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ctr">
                        <a:lnSpc>
                          <a:spcPts val="2120"/>
                        </a:lnSpc>
                      </a:pPr>
                      <a:r>
                        <a:rPr sz="2200" spc="-50" dirty="0">
                          <a:latin typeface="Palatino Linotype"/>
                          <a:cs typeface="Palatino Linotype"/>
                        </a:rPr>
                        <a:t>F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363855" algn="r">
                        <a:lnSpc>
                          <a:spcPts val="2120"/>
                        </a:lnSpc>
                      </a:pPr>
                      <a:r>
                        <a:rPr sz="2200" spc="-50" dirty="0">
                          <a:latin typeface="Palatino Linotype"/>
                          <a:cs typeface="Palatino Linotype"/>
                        </a:rPr>
                        <a:t>T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47955" algn="ctr">
                        <a:lnSpc>
                          <a:spcPts val="2120"/>
                        </a:lnSpc>
                      </a:pPr>
                      <a:r>
                        <a:rPr sz="2200" spc="-50" dirty="0">
                          <a:latin typeface="Palatino Linotype"/>
                          <a:cs typeface="Palatino Linotype"/>
                        </a:rPr>
                        <a:t>F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84785" algn="ctr">
                        <a:lnSpc>
                          <a:spcPts val="2120"/>
                        </a:lnSpc>
                      </a:pPr>
                      <a:r>
                        <a:rPr sz="2200" spc="-50" dirty="0">
                          <a:latin typeface="Palatino Linotype"/>
                          <a:cs typeface="Palatino Linotype"/>
                        </a:rPr>
                        <a:t>F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2565" algn="ctr">
                        <a:lnSpc>
                          <a:spcPts val="2120"/>
                        </a:lnSpc>
                      </a:pPr>
                      <a:r>
                        <a:rPr sz="2200" spc="-50" dirty="0">
                          <a:latin typeface="Palatino Linotype"/>
                          <a:cs typeface="Palatino Linotype"/>
                        </a:rPr>
                        <a:t>T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6900" algn="ctr">
                        <a:lnSpc>
                          <a:spcPts val="2120"/>
                        </a:lnSpc>
                      </a:pPr>
                      <a:r>
                        <a:rPr sz="2200" spc="-50" dirty="0">
                          <a:latin typeface="Palatino Linotype"/>
                          <a:cs typeface="Palatino Linotype"/>
                        </a:rPr>
                        <a:t>T</a:t>
                      </a:r>
                      <a:endParaRPr sz="22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602994" y="5670600"/>
            <a:ext cx="927925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Palatino Linotype"/>
                <a:cs typeface="Palatino Linotype"/>
              </a:rPr>
              <a:t>(P</a:t>
            </a:r>
            <a:r>
              <a:rPr sz="1900" dirty="0">
                <a:latin typeface="Symbol"/>
                <a:cs typeface="Symbol"/>
              </a:rPr>
              <a:t></a:t>
            </a:r>
            <a:r>
              <a:rPr sz="1900" dirty="0">
                <a:latin typeface="Palatino Linotype"/>
                <a:cs typeface="Palatino Linotype"/>
              </a:rPr>
              <a:t>Q:</a:t>
            </a:r>
            <a:r>
              <a:rPr sz="1900" spc="-15" dirty="0">
                <a:latin typeface="Palatino Linotype"/>
                <a:cs typeface="Palatino Linotype"/>
              </a:rPr>
              <a:t> </a:t>
            </a:r>
            <a:r>
              <a:rPr sz="1900" dirty="0">
                <a:latin typeface="Palatino Linotype"/>
                <a:cs typeface="Palatino Linotype"/>
              </a:rPr>
              <a:t>nếu</a:t>
            </a:r>
            <a:r>
              <a:rPr sz="1900" spc="-15" dirty="0">
                <a:latin typeface="Palatino Linotype"/>
                <a:cs typeface="Palatino Linotype"/>
              </a:rPr>
              <a:t> </a:t>
            </a:r>
            <a:r>
              <a:rPr sz="1900" dirty="0">
                <a:latin typeface="Palatino Linotype"/>
                <a:cs typeface="Palatino Linotype"/>
              </a:rPr>
              <a:t>P</a:t>
            </a:r>
            <a:r>
              <a:rPr sz="1900" spc="-55" dirty="0">
                <a:latin typeface="Palatino Linotype"/>
                <a:cs typeface="Palatino Linotype"/>
              </a:rPr>
              <a:t> </a:t>
            </a:r>
            <a:r>
              <a:rPr sz="1900" dirty="0">
                <a:latin typeface="Palatino Linotype"/>
                <a:cs typeface="Palatino Linotype"/>
              </a:rPr>
              <a:t>thì</a:t>
            </a:r>
            <a:r>
              <a:rPr sz="1900" spc="-15" dirty="0">
                <a:latin typeface="Palatino Linotype"/>
                <a:cs typeface="Palatino Linotype"/>
              </a:rPr>
              <a:t> </a:t>
            </a:r>
            <a:r>
              <a:rPr sz="1900" dirty="0">
                <a:latin typeface="Palatino Linotype"/>
                <a:cs typeface="Palatino Linotype"/>
              </a:rPr>
              <a:t>Q,</a:t>
            </a:r>
            <a:r>
              <a:rPr sz="1900" spc="-20" dirty="0">
                <a:latin typeface="Palatino Linotype"/>
                <a:cs typeface="Palatino Linotype"/>
              </a:rPr>
              <a:t> </a:t>
            </a:r>
            <a:r>
              <a:rPr sz="1900" dirty="0">
                <a:latin typeface="Palatino Linotype"/>
                <a:cs typeface="Palatino Linotype"/>
              </a:rPr>
              <a:t>từ</a:t>
            </a:r>
            <a:r>
              <a:rPr sz="1900" spc="-35" dirty="0">
                <a:latin typeface="Palatino Linotype"/>
                <a:cs typeface="Palatino Linotype"/>
              </a:rPr>
              <a:t> </a:t>
            </a:r>
            <a:r>
              <a:rPr sz="1900" dirty="0">
                <a:latin typeface="Palatino Linotype"/>
                <a:cs typeface="Palatino Linotype"/>
              </a:rPr>
              <a:t>P</a:t>
            </a:r>
            <a:r>
              <a:rPr sz="1900" spc="-55" dirty="0">
                <a:latin typeface="Palatino Linotype"/>
                <a:cs typeface="Palatino Linotype"/>
              </a:rPr>
              <a:t> </a:t>
            </a:r>
            <a:r>
              <a:rPr sz="1900" dirty="0">
                <a:latin typeface="Palatino Linotype"/>
                <a:cs typeface="Palatino Linotype"/>
              </a:rPr>
              <a:t>suy</a:t>
            </a:r>
            <a:r>
              <a:rPr sz="1900" spc="-5" dirty="0">
                <a:latin typeface="Palatino Linotype"/>
                <a:cs typeface="Palatino Linotype"/>
              </a:rPr>
              <a:t> </a:t>
            </a:r>
            <a:r>
              <a:rPr sz="1900" dirty="0">
                <a:latin typeface="Palatino Linotype"/>
                <a:cs typeface="Palatino Linotype"/>
              </a:rPr>
              <a:t>ra</a:t>
            </a:r>
            <a:r>
              <a:rPr sz="1900" spc="-10" dirty="0">
                <a:latin typeface="Palatino Linotype"/>
                <a:cs typeface="Palatino Linotype"/>
              </a:rPr>
              <a:t> </a:t>
            </a:r>
            <a:r>
              <a:rPr sz="1900" dirty="0">
                <a:latin typeface="Palatino Linotype"/>
                <a:cs typeface="Palatino Linotype"/>
              </a:rPr>
              <a:t>Q,</a:t>
            </a:r>
            <a:r>
              <a:rPr sz="1900" spc="-25" dirty="0">
                <a:latin typeface="Palatino Linotype"/>
                <a:cs typeface="Palatino Linotype"/>
              </a:rPr>
              <a:t> </a:t>
            </a:r>
            <a:r>
              <a:rPr sz="1900" dirty="0">
                <a:latin typeface="Palatino Linotype"/>
                <a:cs typeface="Palatino Linotype"/>
              </a:rPr>
              <a:t>P</a:t>
            </a:r>
            <a:r>
              <a:rPr sz="1900" spc="-55" dirty="0">
                <a:latin typeface="Palatino Linotype"/>
                <a:cs typeface="Palatino Linotype"/>
              </a:rPr>
              <a:t> </a:t>
            </a:r>
            <a:r>
              <a:rPr sz="1900" dirty="0">
                <a:latin typeface="Palatino Linotype"/>
                <a:cs typeface="Palatino Linotype"/>
              </a:rPr>
              <a:t>là</a:t>
            </a:r>
            <a:r>
              <a:rPr sz="1900" spc="-15" dirty="0">
                <a:latin typeface="Palatino Linotype"/>
                <a:cs typeface="Palatino Linotype"/>
              </a:rPr>
              <a:t> </a:t>
            </a:r>
            <a:r>
              <a:rPr sz="1900" dirty="0">
                <a:latin typeface="Palatino Linotype"/>
                <a:cs typeface="Palatino Linotype"/>
              </a:rPr>
              <a:t>điều</a:t>
            </a:r>
            <a:r>
              <a:rPr sz="1900" spc="-15" dirty="0">
                <a:latin typeface="Palatino Linotype"/>
                <a:cs typeface="Palatino Linotype"/>
              </a:rPr>
              <a:t> </a:t>
            </a:r>
            <a:r>
              <a:rPr sz="1900" dirty="0">
                <a:latin typeface="Palatino Linotype"/>
                <a:cs typeface="Palatino Linotype"/>
              </a:rPr>
              <a:t>kiện</a:t>
            </a:r>
            <a:r>
              <a:rPr sz="1900" spc="-10" dirty="0">
                <a:latin typeface="Palatino Linotype"/>
                <a:cs typeface="Palatino Linotype"/>
              </a:rPr>
              <a:t> </a:t>
            </a:r>
            <a:r>
              <a:rPr sz="1900" dirty="0">
                <a:latin typeface="Palatino Linotype"/>
                <a:cs typeface="Palatino Linotype"/>
              </a:rPr>
              <a:t>đủ</a:t>
            </a:r>
            <a:r>
              <a:rPr sz="1900" spc="-20" dirty="0">
                <a:latin typeface="Palatino Linotype"/>
                <a:cs typeface="Palatino Linotype"/>
              </a:rPr>
              <a:t> </a:t>
            </a:r>
            <a:r>
              <a:rPr sz="1900" dirty="0">
                <a:latin typeface="Palatino Linotype"/>
                <a:cs typeface="Palatino Linotype"/>
              </a:rPr>
              <a:t>để</a:t>
            </a:r>
            <a:r>
              <a:rPr sz="1900" spc="-10" dirty="0">
                <a:latin typeface="Palatino Linotype"/>
                <a:cs typeface="Palatino Linotype"/>
              </a:rPr>
              <a:t> </a:t>
            </a:r>
            <a:r>
              <a:rPr sz="1900" dirty="0">
                <a:latin typeface="Palatino Linotype"/>
                <a:cs typeface="Palatino Linotype"/>
              </a:rPr>
              <a:t>có</a:t>
            </a:r>
            <a:r>
              <a:rPr sz="1900" spc="-30" dirty="0">
                <a:latin typeface="Palatino Linotype"/>
                <a:cs typeface="Palatino Linotype"/>
              </a:rPr>
              <a:t> </a:t>
            </a:r>
            <a:r>
              <a:rPr sz="1900" dirty="0">
                <a:latin typeface="Palatino Linotype"/>
                <a:cs typeface="Palatino Linotype"/>
              </a:rPr>
              <a:t>Q,</a:t>
            </a:r>
            <a:r>
              <a:rPr sz="1900" spc="-15" dirty="0">
                <a:latin typeface="Palatino Linotype"/>
                <a:cs typeface="Palatino Linotype"/>
              </a:rPr>
              <a:t> </a:t>
            </a:r>
            <a:r>
              <a:rPr sz="1900" dirty="0">
                <a:latin typeface="Palatino Linotype"/>
                <a:cs typeface="Palatino Linotype"/>
              </a:rPr>
              <a:t>Q</a:t>
            </a:r>
            <a:r>
              <a:rPr sz="1900" spc="-20" dirty="0">
                <a:latin typeface="Palatino Linotype"/>
                <a:cs typeface="Palatino Linotype"/>
              </a:rPr>
              <a:t> </a:t>
            </a:r>
            <a:r>
              <a:rPr sz="1900" dirty="0">
                <a:latin typeface="Palatino Linotype"/>
                <a:cs typeface="Palatino Linotype"/>
              </a:rPr>
              <a:t>là</a:t>
            </a:r>
            <a:r>
              <a:rPr sz="1900" spc="-15" dirty="0">
                <a:latin typeface="Palatino Linotype"/>
                <a:cs typeface="Palatino Linotype"/>
              </a:rPr>
              <a:t> </a:t>
            </a:r>
            <a:r>
              <a:rPr sz="1900" dirty="0">
                <a:latin typeface="Palatino Linotype"/>
                <a:cs typeface="Palatino Linotype"/>
              </a:rPr>
              <a:t>điều</a:t>
            </a:r>
            <a:r>
              <a:rPr sz="1900" spc="-10" dirty="0">
                <a:latin typeface="Palatino Linotype"/>
                <a:cs typeface="Palatino Linotype"/>
              </a:rPr>
              <a:t> </a:t>
            </a:r>
            <a:r>
              <a:rPr sz="1900" dirty="0">
                <a:latin typeface="Palatino Linotype"/>
                <a:cs typeface="Palatino Linotype"/>
              </a:rPr>
              <a:t>kiện</a:t>
            </a:r>
            <a:r>
              <a:rPr sz="1900" spc="-25" dirty="0">
                <a:latin typeface="Palatino Linotype"/>
                <a:cs typeface="Palatino Linotype"/>
              </a:rPr>
              <a:t> </a:t>
            </a:r>
            <a:r>
              <a:rPr sz="1900" dirty="0">
                <a:latin typeface="Palatino Linotype"/>
                <a:cs typeface="Palatino Linotype"/>
              </a:rPr>
              <a:t>cần</a:t>
            </a:r>
            <a:r>
              <a:rPr sz="1900" spc="-20" dirty="0">
                <a:latin typeface="Palatino Linotype"/>
                <a:cs typeface="Palatino Linotype"/>
              </a:rPr>
              <a:t> </a:t>
            </a:r>
            <a:r>
              <a:rPr sz="1900" dirty="0">
                <a:latin typeface="Palatino Linotype"/>
                <a:cs typeface="Palatino Linotype"/>
              </a:rPr>
              <a:t>để</a:t>
            </a:r>
            <a:r>
              <a:rPr sz="1900" spc="-20" dirty="0">
                <a:latin typeface="Palatino Linotype"/>
                <a:cs typeface="Palatino Linotype"/>
              </a:rPr>
              <a:t> </a:t>
            </a:r>
            <a:r>
              <a:rPr sz="1900" dirty="0">
                <a:latin typeface="Palatino Linotype"/>
                <a:cs typeface="Palatino Linotype"/>
              </a:rPr>
              <a:t>có</a:t>
            </a:r>
            <a:r>
              <a:rPr sz="1900" spc="-20" dirty="0">
                <a:latin typeface="Palatino Linotype"/>
                <a:cs typeface="Palatino Linotype"/>
              </a:rPr>
              <a:t> </a:t>
            </a:r>
            <a:r>
              <a:rPr sz="1900" spc="-25" dirty="0">
                <a:latin typeface="Palatino Linotype"/>
                <a:cs typeface="Palatino Linotype"/>
              </a:rPr>
              <a:t>P)</a:t>
            </a:r>
            <a:endParaRPr sz="19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570990"/>
            <a:chOff x="0" y="0"/>
            <a:chExt cx="12192000" cy="15709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932" y="178307"/>
              <a:ext cx="2093214" cy="13921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5920" y="178307"/>
              <a:ext cx="1916430" cy="13921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98648" y="178307"/>
              <a:ext cx="2233422" cy="13921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69891" y="178307"/>
              <a:ext cx="1421130" cy="139217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96900" y="344805"/>
            <a:ext cx="4879975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dirty="0">
                <a:solidFill>
                  <a:srgbClr val="455F51"/>
                </a:solidFill>
              </a:rPr>
              <a:t>Phép</a:t>
            </a:r>
            <a:r>
              <a:rPr sz="5000" spc="-1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toán</a:t>
            </a:r>
            <a:r>
              <a:rPr sz="5000" spc="-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mệnh</a:t>
            </a:r>
            <a:r>
              <a:rPr sz="5000" spc="5" dirty="0">
                <a:solidFill>
                  <a:srgbClr val="455F51"/>
                </a:solidFill>
              </a:rPr>
              <a:t> </a:t>
            </a:r>
            <a:r>
              <a:rPr sz="5000" spc="-25" dirty="0">
                <a:solidFill>
                  <a:srgbClr val="455F51"/>
                </a:solidFill>
              </a:rPr>
              <a:t>đề</a:t>
            </a:r>
            <a:endParaRPr sz="50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28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8340" y="1585252"/>
            <a:ext cx="10381615" cy="3830954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869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b="1" dirty="0">
                <a:latin typeface="Palatino Linotype"/>
                <a:cs typeface="Palatino Linotype"/>
              </a:rPr>
              <a:t>Câu</a:t>
            </a:r>
            <a:r>
              <a:rPr sz="3200" b="1" spc="-5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được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tạo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từ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những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ký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hiệu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sơ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cấp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theo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các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spc="-10" dirty="0">
                <a:latin typeface="Palatino Linotype"/>
                <a:cs typeface="Palatino Linotype"/>
              </a:rPr>
              <a:t>luật:</a:t>
            </a:r>
            <a:endParaRPr sz="3200">
              <a:latin typeface="Palatino Linotype"/>
              <a:cs typeface="Palatino Linotype"/>
            </a:endParaRPr>
          </a:p>
          <a:p>
            <a:pPr marL="652145" lvl="1" indent="-246379">
              <a:lnSpc>
                <a:spcPct val="100000"/>
              </a:lnSpc>
              <a:spcBef>
                <a:spcPts val="770"/>
              </a:spcBef>
              <a:buClr>
                <a:srgbClr val="539E39"/>
              </a:buClr>
              <a:buSzPct val="84375"/>
              <a:buFont typeface="Wingdings 2"/>
              <a:buChar char=""/>
              <a:tabLst>
                <a:tab pos="652145" algn="l"/>
              </a:tabLst>
            </a:pPr>
            <a:r>
              <a:rPr sz="3200" dirty="0">
                <a:latin typeface="Palatino Linotype"/>
                <a:cs typeface="Palatino Linotype"/>
              </a:rPr>
              <a:t>Mỗi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ký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hiệu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mệnh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đề,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ký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hiệu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chân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trị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là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một</a:t>
            </a:r>
            <a:r>
              <a:rPr sz="3200" spc="-25" dirty="0">
                <a:latin typeface="Palatino Linotype"/>
                <a:cs typeface="Palatino Linotype"/>
              </a:rPr>
              <a:t> câu</a:t>
            </a:r>
            <a:endParaRPr sz="3200">
              <a:latin typeface="Palatino Linotype"/>
              <a:cs typeface="Palatino Linotype"/>
            </a:endParaRPr>
          </a:p>
          <a:p>
            <a:pPr marL="652145" lvl="1" indent="-246379">
              <a:lnSpc>
                <a:spcPct val="100000"/>
              </a:lnSpc>
              <a:spcBef>
                <a:spcPts val="770"/>
              </a:spcBef>
              <a:buClr>
                <a:srgbClr val="539E39"/>
              </a:buClr>
              <a:buSzPct val="84375"/>
              <a:buFont typeface="Wingdings 2"/>
              <a:buChar char=""/>
              <a:tabLst>
                <a:tab pos="652145" algn="l"/>
              </a:tabLst>
            </a:pPr>
            <a:r>
              <a:rPr sz="3200" dirty="0">
                <a:latin typeface="Palatino Linotype"/>
                <a:cs typeface="Palatino Linotype"/>
              </a:rPr>
              <a:t>Phủ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định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của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một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câu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là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một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câu</a:t>
            </a:r>
            <a:endParaRPr sz="3200">
              <a:latin typeface="Palatino Linotype"/>
              <a:cs typeface="Palatino Linotype"/>
            </a:endParaRPr>
          </a:p>
          <a:p>
            <a:pPr marL="652780" lvl="1" indent="-247015">
              <a:lnSpc>
                <a:spcPts val="3650"/>
              </a:lnSpc>
              <a:spcBef>
                <a:spcPts val="770"/>
              </a:spcBef>
              <a:buClr>
                <a:srgbClr val="539E39"/>
              </a:buClr>
              <a:buSzPct val="84375"/>
              <a:buFont typeface="Wingdings 2"/>
              <a:buChar char=""/>
              <a:tabLst>
                <a:tab pos="652780" algn="l"/>
              </a:tabLst>
            </a:pPr>
            <a:r>
              <a:rPr sz="3200" dirty="0">
                <a:latin typeface="Palatino Linotype"/>
                <a:cs typeface="Palatino Linotype"/>
              </a:rPr>
              <a:t>Hội,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tuyển,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kéo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theo,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tương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đương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của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hai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câu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là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một</a:t>
            </a:r>
            <a:endParaRPr sz="3200">
              <a:latin typeface="Palatino Linotype"/>
              <a:cs typeface="Palatino Linotype"/>
            </a:endParaRPr>
          </a:p>
          <a:p>
            <a:pPr marL="652780">
              <a:lnSpc>
                <a:spcPts val="3650"/>
              </a:lnSpc>
            </a:pPr>
            <a:r>
              <a:rPr sz="3200" spc="-25" dirty="0">
                <a:latin typeface="Palatino Linotype"/>
                <a:cs typeface="Palatino Linotype"/>
              </a:rPr>
              <a:t>câu</a:t>
            </a:r>
            <a:endParaRPr sz="3200">
              <a:latin typeface="Palatino Linotype"/>
              <a:cs typeface="Palatino Linotype"/>
            </a:endParaRPr>
          </a:p>
          <a:p>
            <a:pPr marL="286385" marR="5080" indent="-274320">
              <a:lnSpc>
                <a:spcPts val="3460"/>
              </a:lnSpc>
              <a:spcBef>
                <a:spcPts val="1200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>
                <a:latin typeface="Palatino Linotype"/>
                <a:cs typeface="Palatino Linotype"/>
              </a:rPr>
              <a:t>Ký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hiệu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(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)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và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[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]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dùng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để</a:t>
            </a:r>
            <a:r>
              <a:rPr sz="3200" spc="-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nhóm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các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ký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hiệu</a:t>
            </a:r>
            <a:r>
              <a:rPr sz="3200" spc="-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vào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các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spc="-20" dirty="0">
                <a:latin typeface="Palatino Linotype"/>
                <a:cs typeface="Palatino Linotype"/>
              </a:rPr>
              <a:t>biểu </a:t>
            </a:r>
            <a:r>
              <a:rPr sz="3200" dirty="0">
                <a:latin typeface="Palatino Linotype"/>
                <a:cs typeface="Palatino Linotype"/>
              </a:rPr>
              <a:t>thức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con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=&gt;</a:t>
            </a:r>
            <a:r>
              <a:rPr sz="3200" spc="-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kiểm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soát</a:t>
            </a:r>
            <a:r>
              <a:rPr sz="3200" spc="-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thứ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tự</a:t>
            </a:r>
            <a:r>
              <a:rPr sz="3200" spc="-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của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spc="-10" dirty="0">
                <a:latin typeface="Palatino Linotype"/>
                <a:cs typeface="Palatino Linotype"/>
              </a:rPr>
              <a:t>chúng.</a:t>
            </a:r>
            <a:endParaRPr sz="3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672589"/>
            <a:chOff x="0" y="0"/>
            <a:chExt cx="12192000" cy="167258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932" y="280415"/>
              <a:ext cx="2021586" cy="13921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7340" y="280415"/>
              <a:ext cx="1942338" cy="13921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55976" y="280415"/>
              <a:ext cx="2233422" cy="13921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25696" y="280415"/>
              <a:ext cx="1421129" cy="13921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84647" y="280415"/>
              <a:ext cx="1794509" cy="13921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15455" y="280415"/>
              <a:ext cx="1279398" cy="1392174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96900" y="447801"/>
            <a:ext cx="6583045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dirty="0">
                <a:solidFill>
                  <a:srgbClr val="455F51"/>
                </a:solidFill>
              </a:rPr>
              <a:t>Biểu</a:t>
            </a:r>
            <a:r>
              <a:rPr sz="5000" spc="-1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thức</a:t>
            </a:r>
            <a:r>
              <a:rPr sz="5000" spc="-2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mệnh</a:t>
            </a:r>
            <a:r>
              <a:rPr sz="5000" spc="-2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đề</a:t>
            </a:r>
            <a:r>
              <a:rPr sz="5000" spc="-20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hợp</a:t>
            </a:r>
            <a:r>
              <a:rPr sz="5000" spc="-25" dirty="0">
                <a:solidFill>
                  <a:srgbClr val="455F51"/>
                </a:solidFill>
              </a:rPr>
              <a:t> lệ</a:t>
            </a:r>
            <a:endParaRPr sz="500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29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8340" y="1515337"/>
            <a:ext cx="10551795" cy="45123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535"/>
              </a:spcBef>
              <a:buClr>
                <a:srgbClr val="C0CF3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3600" b="1" dirty="0">
                <a:latin typeface="Palatino Linotype"/>
                <a:cs typeface="Palatino Linotype"/>
              </a:rPr>
              <a:t>Biểu</a:t>
            </a:r>
            <a:r>
              <a:rPr sz="3600" b="1" spc="-45" dirty="0">
                <a:latin typeface="Palatino Linotype"/>
                <a:cs typeface="Palatino Linotype"/>
              </a:rPr>
              <a:t> </a:t>
            </a:r>
            <a:r>
              <a:rPr sz="3600" b="1" dirty="0">
                <a:latin typeface="Palatino Linotype"/>
                <a:cs typeface="Palatino Linotype"/>
              </a:rPr>
              <a:t>thức</a:t>
            </a:r>
            <a:r>
              <a:rPr sz="3600" b="1" spc="-25" dirty="0">
                <a:latin typeface="Palatino Linotype"/>
                <a:cs typeface="Palatino Linotype"/>
              </a:rPr>
              <a:t> </a:t>
            </a:r>
            <a:r>
              <a:rPr sz="3600" b="1" dirty="0">
                <a:latin typeface="Palatino Linotype"/>
                <a:cs typeface="Palatino Linotype"/>
              </a:rPr>
              <a:t>mệnh</a:t>
            </a:r>
            <a:r>
              <a:rPr sz="3600" b="1" spc="-40" dirty="0">
                <a:latin typeface="Palatino Linotype"/>
                <a:cs typeface="Palatino Linotype"/>
              </a:rPr>
              <a:t> </a:t>
            </a:r>
            <a:r>
              <a:rPr sz="3600" b="1" dirty="0">
                <a:latin typeface="Palatino Linotype"/>
                <a:cs typeface="Palatino Linotype"/>
              </a:rPr>
              <a:t>đề</a:t>
            </a:r>
            <a:r>
              <a:rPr sz="3600" b="1" spc="-4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cũng</a:t>
            </a:r>
            <a:r>
              <a:rPr sz="3600" spc="-1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là</a:t>
            </a:r>
            <a:r>
              <a:rPr sz="3600" spc="-3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một</a:t>
            </a:r>
            <a:r>
              <a:rPr sz="3600" spc="-45" dirty="0">
                <a:latin typeface="Palatino Linotype"/>
                <a:cs typeface="Palatino Linotype"/>
              </a:rPr>
              <a:t> </a:t>
            </a:r>
            <a:r>
              <a:rPr sz="3600" spc="-25" dirty="0">
                <a:latin typeface="Palatino Linotype"/>
                <a:cs typeface="Palatino Linotype"/>
              </a:rPr>
              <a:t>câu</a:t>
            </a:r>
            <a:endParaRPr sz="3600">
              <a:latin typeface="Palatino Linotype"/>
              <a:cs typeface="Palatino Linotype"/>
            </a:endParaRPr>
          </a:p>
          <a:p>
            <a:pPr marL="286385" indent="-273685">
              <a:lnSpc>
                <a:spcPts val="4105"/>
              </a:lnSpc>
              <a:spcBef>
                <a:spcPts val="434"/>
              </a:spcBef>
              <a:buClr>
                <a:srgbClr val="C0CF3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3600" b="1" dirty="0">
                <a:latin typeface="Palatino Linotype"/>
                <a:cs typeface="Palatino Linotype"/>
              </a:rPr>
              <a:t>Biểu</a:t>
            </a:r>
            <a:r>
              <a:rPr sz="3600" b="1" spc="-70" dirty="0">
                <a:latin typeface="Palatino Linotype"/>
                <a:cs typeface="Palatino Linotype"/>
              </a:rPr>
              <a:t> </a:t>
            </a:r>
            <a:r>
              <a:rPr sz="3600" b="1" dirty="0">
                <a:latin typeface="Palatino Linotype"/>
                <a:cs typeface="Palatino Linotype"/>
              </a:rPr>
              <a:t>thức</a:t>
            </a:r>
            <a:r>
              <a:rPr sz="3600" b="1" spc="-55" dirty="0">
                <a:latin typeface="Palatino Linotype"/>
                <a:cs typeface="Palatino Linotype"/>
              </a:rPr>
              <a:t> </a:t>
            </a:r>
            <a:r>
              <a:rPr sz="3600" b="1" dirty="0">
                <a:latin typeface="Palatino Linotype"/>
                <a:cs typeface="Palatino Linotype"/>
              </a:rPr>
              <a:t>mệnh</a:t>
            </a:r>
            <a:r>
              <a:rPr sz="3600" b="1" spc="-70" dirty="0">
                <a:latin typeface="Palatino Linotype"/>
                <a:cs typeface="Palatino Linotype"/>
              </a:rPr>
              <a:t> </a:t>
            </a:r>
            <a:r>
              <a:rPr sz="3600" b="1" dirty="0">
                <a:latin typeface="Palatino Linotype"/>
                <a:cs typeface="Palatino Linotype"/>
              </a:rPr>
              <a:t>đề</a:t>
            </a:r>
            <a:r>
              <a:rPr sz="3600" b="1" spc="-65" dirty="0">
                <a:latin typeface="Palatino Linotype"/>
                <a:cs typeface="Palatino Linotype"/>
              </a:rPr>
              <a:t> </a:t>
            </a:r>
            <a:r>
              <a:rPr sz="3600" b="1" dirty="0">
                <a:latin typeface="Palatino Linotype"/>
                <a:cs typeface="Palatino Linotype"/>
              </a:rPr>
              <a:t>hợp</a:t>
            </a:r>
            <a:r>
              <a:rPr sz="3600" b="1" spc="-55" dirty="0">
                <a:latin typeface="Palatino Linotype"/>
                <a:cs typeface="Palatino Linotype"/>
              </a:rPr>
              <a:t> </a:t>
            </a:r>
            <a:r>
              <a:rPr sz="3600" b="1" dirty="0">
                <a:latin typeface="Palatino Linotype"/>
                <a:cs typeface="Palatino Linotype"/>
              </a:rPr>
              <a:t>lệ</a:t>
            </a:r>
            <a:r>
              <a:rPr sz="3600" dirty="0">
                <a:latin typeface="Palatino Linotype"/>
                <a:cs typeface="Palatino Linotype"/>
              </a:rPr>
              <a:t>:</a:t>
            </a:r>
            <a:r>
              <a:rPr sz="3600" spc="-6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(công</a:t>
            </a:r>
            <a:r>
              <a:rPr sz="3600" spc="-6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thức</a:t>
            </a:r>
            <a:r>
              <a:rPr sz="3600" spc="-5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dạng</a:t>
            </a:r>
            <a:r>
              <a:rPr sz="3600" spc="-60" dirty="0">
                <a:latin typeface="Palatino Linotype"/>
                <a:cs typeface="Palatino Linotype"/>
              </a:rPr>
              <a:t> </a:t>
            </a:r>
            <a:r>
              <a:rPr sz="3600" spc="-10" dirty="0">
                <a:latin typeface="Palatino Linotype"/>
                <a:cs typeface="Palatino Linotype"/>
              </a:rPr>
              <a:t>chuẩn</a:t>
            </a:r>
            <a:endParaRPr sz="3600">
              <a:latin typeface="Palatino Linotype"/>
              <a:cs typeface="Palatino Linotype"/>
            </a:endParaRPr>
          </a:p>
          <a:p>
            <a:pPr marL="552450" lvl="1" indent="-266065">
              <a:lnSpc>
                <a:spcPts val="4105"/>
              </a:lnSpc>
              <a:buFont typeface="Palatino Linotype"/>
              <a:buChar char="-"/>
              <a:tabLst>
                <a:tab pos="552450" algn="l"/>
              </a:tabLst>
            </a:pPr>
            <a:r>
              <a:rPr sz="3600" b="1" spc="-25" dirty="0">
                <a:latin typeface="Palatino Linotype"/>
                <a:cs typeface="Palatino Linotype"/>
              </a:rPr>
              <a:t>well-</a:t>
            </a:r>
            <a:r>
              <a:rPr sz="3600" b="1" dirty="0">
                <a:latin typeface="Palatino Linotype"/>
                <a:cs typeface="Palatino Linotype"/>
              </a:rPr>
              <a:t>formed</a:t>
            </a:r>
            <a:r>
              <a:rPr sz="3600" b="1" spc="-50" dirty="0">
                <a:latin typeface="Palatino Linotype"/>
                <a:cs typeface="Palatino Linotype"/>
              </a:rPr>
              <a:t> </a:t>
            </a:r>
            <a:r>
              <a:rPr sz="3600" b="1" dirty="0">
                <a:latin typeface="Palatino Linotype"/>
                <a:cs typeface="Palatino Linotype"/>
              </a:rPr>
              <a:t>formula</a:t>
            </a:r>
            <a:r>
              <a:rPr sz="3600" dirty="0">
                <a:latin typeface="Palatino Linotype"/>
                <a:cs typeface="Palatino Linotype"/>
              </a:rPr>
              <a:t>,</a:t>
            </a:r>
            <a:r>
              <a:rPr sz="3600" spc="-40" dirty="0">
                <a:latin typeface="Palatino Linotype"/>
                <a:cs typeface="Palatino Linotype"/>
              </a:rPr>
              <a:t> </a:t>
            </a:r>
            <a:r>
              <a:rPr sz="3600" spc="-20" dirty="0">
                <a:latin typeface="Palatino Linotype"/>
                <a:cs typeface="Palatino Linotype"/>
              </a:rPr>
              <a:t>WFF)</a:t>
            </a:r>
            <a:endParaRPr sz="3600">
              <a:latin typeface="Palatino Linotype"/>
              <a:cs typeface="Palatino Linotype"/>
            </a:endParaRPr>
          </a:p>
          <a:p>
            <a:pPr marL="652780" lvl="2" indent="-247015">
              <a:lnSpc>
                <a:spcPct val="100000"/>
              </a:lnSpc>
              <a:spcBef>
                <a:spcPts val="409"/>
              </a:spcBef>
              <a:buClr>
                <a:srgbClr val="539E39"/>
              </a:buClr>
              <a:buSzPct val="84375"/>
              <a:buFont typeface="Wingdings 2"/>
              <a:buChar char=""/>
              <a:tabLst>
                <a:tab pos="652780" algn="l"/>
              </a:tabLst>
            </a:pPr>
            <a:r>
              <a:rPr sz="3200" dirty="0">
                <a:latin typeface="Palatino Linotype"/>
                <a:cs typeface="Palatino Linotype"/>
              </a:rPr>
              <a:t>Thành</a:t>
            </a:r>
            <a:r>
              <a:rPr sz="3200" spc="-8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phần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cơ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bản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là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spc="-225" dirty="0">
                <a:latin typeface="Palatino Linotype"/>
                <a:cs typeface="Palatino Linotype"/>
              </a:rPr>
              <a:t>P,</a:t>
            </a:r>
            <a:r>
              <a:rPr sz="3200" dirty="0">
                <a:latin typeface="Palatino Linotype"/>
                <a:cs typeface="Palatino Linotype"/>
              </a:rPr>
              <a:t> </a:t>
            </a:r>
            <a:r>
              <a:rPr sz="3200" spc="-10" dirty="0">
                <a:latin typeface="Palatino Linotype"/>
                <a:cs typeface="Palatino Linotype"/>
              </a:rPr>
              <a:t>True,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False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(P</a:t>
            </a:r>
            <a:r>
              <a:rPr sz="3200" spc="-1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là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một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mệnh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đề)</a:t>
            </a:r>
            <a:endParaRPr sz="3200">
              <a:latin typeface="Palatino Linotype"/>
              <a:cs typeface="Palatino Linotype"/>
            </a:endParaRPr>
          </a:p>
          <a:p>
            <a:pPr marL="651510" marR="302260" lvl="2" indent="-246379">
              <a:lnSpc>
                <a:spcPts val="3670"/>
              </a:lnSpc>
              <a:spcBef>
                <a:spcPts val="870"/>
              </a:spcBef>
              <a:buClr>
                <a:srgbClr val="539E39"/>
              </a:buClr>
              <a:buSzPct val="85294"/>
              <a:buFont typeface="Wingdings 2"/>
              <a:buChar char=""/>
              <a:tabLst>
                <a:tab pos="652780" algn="l"/>
              </a:tabLst>
            </a:pPr>
            <a:r>
              <a:rPr sz="3400" dirty="0">
                <a:latin typeface="Palatino Linotype"/>
                <a:cs typeface="Palatino Linotype"/>
              </a:rPr>
              <a:t>Hoặc</a:t>
            </a:r>
            <a:r>
              <a:rPr sz="3400" spc="-20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được</a:t>
            </a:r>
            <a:r>
              <a:rPr sz="3400" spc="-15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tạo</a:t>
            </a:r>
            <a:r>
              <a:rPr sz="3400" spc="-30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từ</a:t>
            </a:r>
            <a:r>
              <a:rPr sz="3400" spc="-25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những</a:t>
            </a:r>
            <a:r>
              <a:rPr sz="3400" spc="-30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ký</a:t>
            </a:r>
            <a:r>
              <a:rPr sz="3400" spc="-35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hiệu</a:t>
            </a:r>
            <a:r>
              <a:rPr sz="3400" spc="-35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hợp</a:t>
            </a:r>
            <a:r>
              <a:rPr sz="3400" spc="-20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lệ</a:t>
            </a:r>
            <a:r>
              <a:rPr sz="3400" spc="-25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thông</a:t>
            </a:r>
            <a:r>
              <a:rPr sz="3400" spc="-30" dirty="0">
                <a:latin typeface="Palatino Linotype"/>
                <a:cs typeface="Palatino Linotype"/>
              </a:rPr>
              <a:t> </a:t>
            </a:r>
            <a:r>
              <a:rPr sz="3400" spc="-25" dirty="0">
                <a:latin typeface="Palatino Linotype"/>
                <a:cs typeface="Palatino Linotype"/>
              </a:rPr>
              <a:t>qua 	</a:t>
            </a:r>
            <a:r>
              <a:rPr sz="3400" dirty="0">
                <a:latin typeface="Palatino Linotype"/>
                <a:cs typeface="Palatino Linotype"/>
              </a:rPr>
              <a:t>dãy</a:t>
            </a:r>
            <a:r>
              <a:rPr sz="3400" spc="-60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các</a:t>
            </a:r>
            <a:r>
              <a:rPr sz="3400" spc="-60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luật</a:t>
            </a:r>
            <a:r>
              <a:rPr sz="3400" spc="-45" dirty="0">
                <a:latin typeface="Palatino Linotype"/>
                <a:cs typeface="Palatino Linotype"/>
              </a:rPr>
              <a:t> </a:t>
            </a:r>
            <a:r>
              <a:rPr sz="3400" spc="-20" dirty="0">
                <a:latin typeface="Palatino Linotype"/>
                <a:cs typeface="Palatino Linotype"/>
              </a:rPr>
              <a:t>trên</a:t>
            </a:r>
            <a:endParaRPr sz="3400">
              <a:latin typeface="Palatino Linotype"/>
              <a:cs typeface="Palatino Linotype"/>
            </a:endParaRPr>
          </a:p>
          <a:p>
            <a:pPr marL="652145" lvl="2" indent="-246379">
              <a:lnSpc>
                <a:spcPct val="100000"/>
              </a:lnSpc>
              <a:spcBef>
                <a:spcPts val="359"/>
              </a:spcBef>
              <a:buClr>
                <a:srgbClr val="539E39"/>
              </a:buClr>
              <a:buSzPct val="84722"/>
              <a:buFont typeface="Wingdings 2"/>
              <a:buChar char=""/>
              <a:tabLst>
                <a:tab pos="652145" algn="l"/>
              </a:tabLst>
            </a:pPr>
            <a:r>
              <a:rPr sz="3600" dirty="0">
                <a:latin typeface="Palatino Linotype"/>
                <a:cs typeface="Palatino Linotype"/>
              </a:rPr>
              <a:t>Ví</a:t>
            </a:r>
            <a:r>
              <a:rPr sz="3600" spc="-55" dirty="0">
                <a:latin typeface="Palatino Linotype"/>
                <a:cs typeface="Palatino Linotype"/>
              </a:rPr>
              <a:t> </a:t>
            </a:r>
            <a:r>
              <a:rPr sz="3600" spc="-25" dirty="0">
                <a:latin typeface="Palatino Linotype"/>
                <a:cs typeface="Palatino Linotype"/>
              </a:rPr>
              <a:t>dụ:</a:t>
            </a:r>
            <a:endParaRPr sz="3600">
              <a:latin typeface="Palatino Linotype"/>
              <a:cs typeface="Palatino Linotype"/>
            </a:endParaRPr>
          </a:p>
          <a:p>
            <a:pPr marR="755015" algn="ctr">
              <a:lnSpc>
                <a:spcPct val="100000"/>
              </a:lnSpc>
              <a:spcBef>
                <a:spcPts val="470"/>
              </a:spcBef>
            </a:pPr>
            <a:r>
              <a:rPr sz="3600" dirty="0">
                <a:latin typeface="Palatino Linotype"/>
                <a:cs typeface="Palatino Linotype"/>
              </a:rPr>
              <a:t>((</a:t>
            </a:r>
            <a:r>
              <a:rPr sz="3600" spc="-1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P</a:t>
            </a:r>
            <a:r>
              <a:rPr sz="3600" spc="-8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Symbol"/>
                <a:cs typeface="Symbol"/>
              </a:rPr>
              <a:t>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Q</a:t>
            </a:r>
            <a:r>
              <a:rPr sz="3600" spc="-1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)</a:t>
            </a:r>
            <a:r>
              <a:rPr sz="3600" spc="-2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Symbol"/>
                <a:cs typeface="Symbol"/>
              </a:rPr>
              <a:t>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R</a:t>
            </a:r>
            <a:r>
              <a:rPr sz="3600" spc="-9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)</a:t>
            </a:r>
            <a:r>
              <a:rPr sz="3600" spc="-1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=</a:t>
            </a:r>
            <a:r>
              <a:rPr sz="3600" spc="-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Symbol"/>
                <a:cs typeface="Symbol"/>
              </a:rPr>
              <a:t></a:t>
            </a:r>
            <a:r>
              <a:rPr sz="3600" dirty="0">
                <a:latin typeface="Palatino Linotype"/>
                <a:cs typeface="Palatino Linotype"/>
              </a:rPr>
              <a:t>P</a:t>
            </a:r>
            <a:r>
              <a:rPr sz="3600" spc="-10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Symbol"/>
                <a:cs typeface="Symbol"/>
              </a:rPr>
              <a:t>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Symbol"/>
                <a:cs typeface="Symbol"/>
              </a:rPr>
              <a:t></a:t>
            </a:r>
            <a:r>
              <a:rPr sz="3600" dirty="0">
                <a:latin typeface="Palatino Linotype"/>
                <a:cs typeface="Palatino Linotype"/>
              </a:rPr>
              <a:t>Q</a:t>
            </a:r>
            <a:r>
              <a:rPr sz="3600" spc="-2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Symbol"/>
                <a:cs typeface="Symbol"/>
              </a:rPr>
              <a:t>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spc="-50" dirty="0">
                <a:latin typeface="Palatino Linotype"/>
                <a:cs typeface="Palatino Linotype"/>
              </a:rPr>
              <a:t>R</a:t>
            </a:r>
            <a:endParaRPr sz="36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698625"/>
            <a:chOff x="0" y="0"/>
            <a:chExt cx="12192000" cy="16986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248" y="359663"/>
              <a:ext cx="1942338" cy="133883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2268" y="359663"/>
              <a:ext cx="1866138" cy="13388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09088" y="359663"/>
              <a:ext cx="2145030" cy="133883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16323" y="359663"/>
              <a:ext cx="1366265" cy="133883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43272" y="359663"/>
              <a:ext cx="1722881" cy="13388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28359" y="359663"/>
              <a:ext cx="1230630" cy="1338834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42366" y="519429"/>
            <a:ext cx="63150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455F51"/>
                </a:solidFill>
              </a:rPr>
              <a:t>Biểu</a:t>
            </a:r>
            <a:r>
              <a:rPr sz="4800" spc="-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thức</a:t>
            </a:r>
            <a:r>
              <a:rPr sz="4800" spc="-10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mệnh</a:t>
            </a:r>
            <a:r>
              <a:rPr sz="4800" spc="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đề</a:t>
            </a:r>
            <a:r>
              <a:rPr sz="4800" spc="-10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hợp</a:t>
            </a:r>
            <a:r>
              <a:rPr sz="4800" spc="5" dirty="0">
                <a:solidFill>
                  <a:srgbClr val="455F51"/>
                </a:solidFill>
              </a:rPr>
              <a:t> </a:t>
            </a:r>
            <a:r>
              <a:rPr sz="4800" spc="-25" dirty="0">
                <a:solidFill>
                  <a:srgbClr val="455F51"/>
                </a:solidFill>
              </a:rPr>
              <a:t>lệ</a:t>
            </a:r>
            <a:endParaRPr sz="480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30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8340" y="1673199"/>
            <a:ext cx="10289540" cy="470852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870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>
                <a:latin typeface="Palatino Linotype"/>
                <a:cs typeface="Palatino Linotype"/>
              </a:rPr>
              <a:t>Các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biểu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thức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đúng</a:t>
            </a:r>
            <a:r>
              <a:rPr sz="3200" spc="-7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định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nghĩa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theo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dạng</a:t>
            </a:r>
            <a:r>
              <a:rPr sz="3200" spc="-7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luật</a:t>
            </a:r>
            <a:r>
              <a:rPr sz="3200" spc="-5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sinh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spc="-20" dirty="0">
                <a:latin typeface="Palatino Linotype"/>
                <a:cs typeface="Palatino Linotype"/>
              </a:rPr>
              <a:t>sau:</a:t>
            </a:r>
            <a:endParaRPr sz="3200">
              <a:latin typeface="Palatino Linotype"/>
              <a:cs typeface="Palatino Linotype"/>
            </a:endParaRPr>
          </a:p>
          <a:p>
            <a:pPr marL="927100">
              <a:lnSpc>
                <a:spcPct val="100000"/>
              </a:lnSpc>
              <a:spcBef>
                <a:spcPts val="770"/>
              </a:spcBef>
            </a:pPr>
            <a:r>
              <a:rPr sz="3200" b="1" dirty="0">
                <a:latin typeface="Palatino Linotype"/>
                <a:cs typeface="Palatino Linotype"/>
              </a:rPr>
              <a:t>Wff=</a:t>
            </a:r>
            <a:r>
              <a:rPr sz="3200" b="1" spc="-20" dirty="0">
                <a:latin typeface="Palatino Linotype"/>
                <a:cs typeface="Palatino Linotype"/>
              </a:rPr>
              <a:t> </a:t>
            </a:r>
            <a:r>
              <a:rPr sz="3200" b="1" dirty="0">
                <a:latin typeface="Palatino Linotype"/>
                <a:cs typeface="Palatino Linotype"/>
              </a:rPr>
              <a:t>“Thành</a:t>
            </a:r>
            <a:r>
              <a:rPr sz="3200" b="1" spc="-45" dirty="0">
                <a:latin typeface="Palatino Linotype"/>
                <a:cs typeface="Palatino Linotype"/>
              </a:rPr>
              <a:t> </a:t>
            </a:r>
            <a:r>
              <a:rPr sz="3200" b="1" dirty="0">
                <a:latin typeface="Palatino Linotype"/>
                <a:cs typeface="Palatino Linotype"/>
              </a:rPr>
              <a:t>phần</a:t>
            </a:r>
            <a:r>
              <a:rPr sz="3200" b="1" spc="-50" dirty="0">
                <a:latin typeface="Palatino Linotype"/>
                <a:cs typeface="Palatino Linotype"/>
              </a:rPr>
              <a:t> </a:t>
            </a:r>
            <a:r>
              <a:rPr sz="3200" b="1" dirty="0">
                <a:latin typeface="Palatino Linotype"/>
                <a:cs typeface="Palatino Linotype"/>
              </a:rPr>
              <a:t>cơ</a:t>
            </a:r>
            <a:r>
              <a:rPr sz="3200" b="1" spc="-20" dirty="0">
                <a:latin typeface="Palatino Linotype"/>
                <a:cs typeface="Palatino Linotype"/>
              </a:rPr>
              <a:t> </a:t>
            </a:r>
            <a:r>
              <a:rPr sz="3200" b="1" spc="-10" dirty="0">
                <a:latin typeface="Palatino Linotype"/>
                <a:cs typeface="Palatino Linotype"/>
              </a:rPr>
              <a:t>bản”|</a:t>
            </a:r>
            <a:endParaRPr sz="3200">
              <a:latin typeface="Palatino Linotype"/>
              <a:cs typeface="Palatino Linotype"/>
            </a:endParaRPr>
          </a:p>
          <a:p>
            <a:pPr marL="3670935" marR="4358005">
              <a:lnSpc>
                <a:spcPct val="119800"/>
              </a:lnSpc>
              <a:spcBef>
                <a:spcPts val="40"/>
              </a:spcBef>
            </a:pPr>
            <a:r>
              <a:rPr sz="3200" dirty="0">
                <a:latin typeface="Symbol"/>
                <a:cs typeface="Symbol"/>
              </a:rPr>
              <a:t></a:t>
            </a:r>
            <a:r>
              <a:rPr sz="3200" b="1" dirty="0">
                <a:latin typeface="Palatino Linotype"/>
                <a:cs typeface="Palatino Linotype"/>
              </a:rPr>
              <a:t>wff</a:t>
            </a:r>
            <a:r>
              <a:rPr sz="3200" b="1" spc="-40" dirty="0">
                <a:latin typeface="Palatino Linotype"/>
                <a:cs typeface="Palatino Linotype"/>
              </a:rPr>
              <a:t> </a:t>
            </a:r>
            <a:r>
              <a:rPr sz="3200" b="1" spc="-50" dirty="0">
                <a:latin typeface="Palatino Linotype"/>
                <a:cs typeface="Palatino Linotype"/>
              </a:rPr>
              <a:t>| </a:t>
            </a:r>
            <a:r>
              <a:rPr sz="3200" b="1" dirty="0">
                <a:latin typeface="Palatino Linotype"/>
                <a:cs typeface="Palatino Linotype"/>
              </a:rPr>
              <a:t>wff^wff</a:t>
            </a:r>
            <a:r>
              <a:rPr sz="3200" b="1" spc="-45" dirty="0">
                <a:latin typeface="Palatino Linotype"/>
                <a:cs typeface="Palatino Linotype"/>
              </a:rPr>
              <a:t> </a:t>
            </a:r>
            <a:r>
              <a:rPr sz="3200" b="1" spc="-50" dirty="0">
                <a:latin typeface="Palatino Linotype"/>
                <a:cs typeface="Palatino Linotype"/>
              </a:rPr>
              <a:t>| </a:t>
            </a:r>
            <a:r>
              <a:rPr sz="3200" b="1" dirty="0">
                <a:latin typeface="Palatino Linotype"/>
                <a:cs typeface="Palatino Linotype"/>
              </a:rPr>
              <a:t>wff</a:t>
            </a:r>
            <a:r>
              <a:rPr sz="3200" b="1" spc="-10" dirty="0">
                <a:latin typeface="Palatino Linotype"/>
                <a:cs typeface="Palatino Linotype"/>
              </a:rPr>
              <a:t> </a:t>
            </a:r>
            <a:r>
              <a:rPr sz="3200" b="1" dirty="0">
                <a:latin typeface="Palatino Linotype"/>
                <a:cs typeface="Palatino Linotype"/>
              </a:rPr>
              <a:t>v</a:t>
            </a:r>
            <a:r>
              <a:rPr sz="3200" b="1" spc="-20" dirty="0">
                <a:latin typeface="Palatino Linotype"/>
                <a:cs typeface="Palatino Linotype"/>
              </a:rPr>
              <a:t> </a:t>
            </a:r>
            <a:r>
              <a:rPr sz="3200" b="1" dirty="0">
                <a:latin typeface="Palatino Linotype"/>
                <a:cs typeface="Palatino Linotype"/>
              </a:rPr>
              <a:t>wff</a:t>
            </a:r>
            <a:r>
              <a:rPr sz="3200" b="1" spc="-5" dirty="0">
                <a:latin typeface="Palatino Linotype"/>
                <a:cs typeface="Palatino Linotype"/>
              </a:rPr>
              <a:t> </a:t>
            </a:r>
            <a:r>
              <a:rPr sz="3200" b="1" spc="-50" dirty="0">
                <a:latin typeface="Palatino Linotype"/>
                <a:cs typeface="Palatino Linotype"/>
              </a:rPr>
              <a:t>| </a:t>
            </a:r>
            <a:r>
              <a:rPr sz="3200" b="1" dirty="0">
                <a:latin typeface="Palatino Linotype"/>
                <a:cs typeface="Palatino Linotype"/>
              </a:rPr>
              <a:t>wff</a:t>
            </a:r>
            <a:r>
              <a:rPr sz="3200" b="1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Symbol"/>
                <a:cs typeface="Symbol"/>
              </a:rPr>
              <a:t>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Palatino Linotype"/>
                <a:cs typeface="Palatino Linotype"/>
              </a:rPr>
              <a:t>wff</a:t>
            </a:r>
            <a:r>
              <a:rPr sz="3200" b="1" spc="-20" dirty="0">
                <a:latin typeface="Palatino Linotype"/>
                <a:cs typeface="Palatino Linotype"/>
              </a:rPr>
              <a:t> </a:t>
            </a:r>
            <a:r>
              <a:rPr sz="3200" b="1" spc="-50" dirty="0">
                <a:latin typeface="Palatino Linotype"/>
                <a:cs typeface="Palatino Linotype"/>
              </a:rPr>
              <a:t>| </a:t>
            </a:r>
            <a:r>
              <a:rPr sz="3200" b="1" dirty="0">
                <a:latin typeface="Palatino Linotype"/>
                <a:cs typeface="Palatino Linotype"/>
              </a:rPr>
              <a:t>wff</a:t>
            </a:r>
            <a:r>
              <a:rPr sz="3200" b="1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Wingdings"/>
                <a:cs typeface="Wingdings"/>
              </a:rPr>
              <a:t>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Palatino Linotype"/>
                <a:cs typeface="Palatino Linotype"/>
              </a:rPr>
              <a:t>wff</a:t>
            </a:r>
            <a:r>
              <a:rPr sz="3200" b="1" spc="-5" dirty="0">
                <a:latin typeface="Palatino Linotype"/>
                <a:cs typeface="Palatino Linotype"/>
              </a:rPr>
              <a:t> </a:t>
            </a:r>
            <a:r>
              <a:rPr sz="3200" b="1" spc="-50" dirty="0">
                <a:latin typeface="Palatino Linotype"/>
                <a:cs typeface="Palatino Linotype"/>
              </a:rPr>
              <a:t>| </a:t>
            </a:r>
            <a:r>
              <a:rPr sz="3200" b="1" spc="-10" dirty="0">
                <a:latin typeface="Palatino Linotype"/>
                <a:cs typeface="Palatino Linotype"/>
              </a:rPr>
              <a:t>(wff)</a:t>
            </a:r>
            <a:endParaRPr sz="3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788795"/>
            <a:chOff x="0" y="0"/>
            <a:chExt cx="12192000" cy="17887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171" y="449580"/>
              <a:ext cx="1399793" cy="133883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5171" y="449580"/>
              <a:ext cx="1399793" cy="13388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57171" y="449580"/>
              <a:ext cx="1604010" cy="133883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18816" y="449580"/>
              <a:ext cx="1975866" cy="133883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55364" y="449580"/>
              <a:ext cx="1840230" cy="13388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57799" y="449580"/>
              <a:ext cx="2145029" cy="13388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63511" y="449580"/>
              <a:ext cx="1366266" cy="1338834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0944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455F51"/>
                </a:solidFill>
              </a:rPr>
              <a:t>Ví</a:t>
            </a:r>
            <a:r>
              <a:rPr sz="4800" spc="-20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dụ</a:t>
            </a:r>
            <a:r>
              <a:rPr sz="4800" spc="-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các</a:t>
            </a:r>
            <a:r>
              <a:rPr sz="4800" spc="-3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phép</a:t>
            </a:r>
            <a:r>
              <a:rPr sz="4800" spc="-10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toán</a:t>
            </a:r>
            <a:r>
              <a:rPr sz="4800" spc="-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mệnh</a:t>
            </a:r>
            <a:r>
              <a:rPr sz="4800" spc="-15" dirty="0">
                <a:solidFill>
                  <a:srgbClr val="455F51"/>
                </a:solidFill>
              </a:rPr>
              <a:t> </a:t>
            </a:r>
            <a:r>
              <a:rPr sz="4800" spc="-25" dirty="0">
                <a:solidFill>
                  <a:srgbClr val="455F51"/>
                </a:solidFill>
              </a:rPr>
              <a:t>đề</a:t>
            </a:r>
            <a:endParaRPr sz="480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31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8340" y="1941702"/>
            <a:ext cx="10777855" cy="392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b="1" dirty="0">
                <a:latin typeface="Palatino Linotype"/>
                <a:cs typeface="Palatino Linotype"/>
              </a:rPr>
              <a:t>Cho</a:t>
            </a:r>
            <a:r>
              <a:rPr sz="3200" b="1" spc="-20" dirty="0">
                <a:latin typeface="Palatino Linotype"/>
                <a:cs typeface="Palatino Linotype"/>
              </a:rPr>
              <a:t> </a:t>
            </a:r>
            <a:r>
              <a:rPr sz="3200" b="1" dirty="0">
                <a:latin typeface="Palatino Linotype"/>
                <a:cs typeface="Palatino Linotype"/>
              </a:rPr>
              <a:t>3</a:t>
            </a:r>
            <a:r>
              <a:rPr sz="3200" b="1" spc="-35" dirty="0">
                <a:latin typeface="Palatino Linotype"/>
                <a:cs typeface="Palatino Linotype"/>
              </a:rPr>
              <a:t> </a:t>
            </a:r>
            <a:r>
              <a:rPr sz="3200" b="1" dirty="0">
                <a:latin typeface="Palatino Linotype"/>
                <a:cs typeface="Palatino Linotype"/>
              </a:rPr>
              <a:t>mệnh</a:t>
            </a:r>
            <a:r>
              <a:rPr sz="3200" b="1" spc="-40" dirty="0">
                <a:latin typeface="Palatino Linotype"/>
                <a:cs typeface="Palatino Linotype"/>
              </a:rPr>
              <a:t> </a:t>
            </a:r>
            <a:r>
              <a:rPr sz="3200" b="1" dirty="0">
                <a:latin typeface="Palatino Linotype"/>
                <a:cs typeface="Palatino Linotype"/>
              </a:rPr>
              <a:t>đề:</a:t>
            </a:r>
            <a:r>
              <a:rPr sz="3200" b="1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P=“John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học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giỏi”;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Q=“John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thông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spc="-10" dirty="0">
                <a:latin typeface="Palatino Linotype"/>
                <a:cs typeface="Palatino Linotype"/>
              </a:rPr>
              <a:t>minh”; </a:t>
            </a:r>
            <a:r>
              <a:rPr sz="3200" dirty="0">
                <a:latin typeface="Palatino Linotype"/>
                <a:cs typeface="Palatino Linotype"/>
              </a:rPr>
              <a:t>R=“John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đẹp</a:t>
            </a:r>
            <a:r>
              <a:rPr sz="3200" spc="-10" dirty="0">
                <a:latin typeface="Palatino Linotype"/>
                <a:cs typeface="Palatino Linotype"/>
              </a:rPr>
              <a:t> trai”.</a:t>
            </a:r>
            <a:endParaRPr sz="32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765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b="1" dirty="0">
                <a:latin typeface="Palatino Linotype"/>
                <a:cs typeface="Palatino Linotype"/>
              </a:rPr>
              <a:t>Mệnh</a:t>
            </a:r>
            <a:r>
              <a:rPr sz="3200" b="1" spc="-25" dirty="0">
                <a:latin typeface="Palatino Linotype"/>
                <a:cs typeface="Palatino Linotype"/>
              </a:rPr>
              <a:t> </a:t>
            </a:r>
            <a:r>
              <a:rPr sz="3200" b="1" dirty="0">
                <a:latin typeface="Palatino Linotype"/>
                <a:cs typeface="Palatino Linotype"/>
              </a:rPr>
              <a:t>đề</a:t>
            </a:r>
            <a:r>
              <a:rPr sz="3200" b="1" spc="-15" dirty="0">
                <a:latin typeface="Palatino Linotype"/>
                <a:cs typeface="Palatino Linotype"/>
              </a:rPr>
              <a:t> </a:t>
            </a:r>
            <a:r>
              <a:rPr sz="3200" b="1" dirty="0">
                <a:latin typeface="Palatino Linotype"/>
                <a:cs typeface="Palatino Linotype"/>
              </a:rPr>
              <a:t>thực </a:t>
            </a:r>
            <a:r>
              <a:rPr sz="3200" b="1" spc="-25" dirty="0">
                <a:latin typeface="Palatino Linotype"/>
                <a:cs typeface="Palatino Linotype"/>
              </a:rPr>
              <a:t>tế</a:t>
            </a:r>
            <a:endParaRPr sz="3200">
              <a:latin typeface="Palatino Linotype"/>
              <a:cs typeface="Palatino Linotype"/>
            </a:endParaRPr>
          </a:p>
          <a:p>
            <a:pPr marL="652145" lvl="1" indent="-246379">
              <a:lnSpc>
                <a:spcPct val="100000"/>
              </a:lnSpc>
              <a:spcBef>
                <a:spcPts val="770"/>
              </a:spcBef>
              <a:buClr>
                <a:srgbClr val="539E39"/>
              </a:buClr>
              <a:buSzPct val="84375"/>
              <a:buFont typeface="Wingdings 2"/>
              <a:buChar char=""/>
              <a:tabLst>
                <a:tab pos="652145" algn="l"/>
              </a:tabLst>
            </a:pPr>
            <a:r>
              <a:rPr sz="3200" dirty="0">
                <a:latin typeface="Palatino Linotype"/>
                <a:cs typeface="Palatino Linotype"/>
              </a:rPr>
              <a:t>“John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học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giỏi</a:t>
            </a:r>
            <a:r>
              <a:rPr sz="3200" b="1" dirty="0">
                <a:latin typeface="Palatino Linotype"/>
                <a:cs typeface="Palatino Linotype"/>
              </a:rPr>
              <a:t>,</a:t>
            </a:r>
            <a:r>
              <a:rPr sz="3200" b="1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thông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minh</a:t>
            </a:r>
            <a:r>
              <a:rPr sz="3200" b="1" dirty="0">
                <a:latin typeface="Palatino Linotype"/>
                <a:cs typeface="Palatino Linotype"/>
              </a:rPr>
              <a:t>,</a:t>
            </a:r>
            <a:r>
              <a:rPr sz="3200" b="1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đẹp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spc="-10" dirty="0">
                <a:latin typeface="Palatino Linotype"/>
                <a:cs typeface="Palatino Linotype"/>
              </a:rPr>
              <a:t>trai”.</a:t>
            </a:r>
            <a:endParaRPr sz="3200">
              <a:latin typeface="Palatino Linotype"/>
              <a:cs typeface="Palatino Linotype"/>
            </a:endParaRPr>
          </a:p>
          <a:p>
            <a:pPr marL="652145" lvl="1" indent="-246379">
              <a:lnSpc>
                <a:spcPct val="100000"/>
              </a:lnSpc>
              <a:spcBef>
                <a:spcPts val="770"/>
              </a:spcBef>
              <a:buClr>
                <a:srgbClr val="539E39"/>
              </a:buClr>
              <a:buSzPct val="84375"/>
              <a:buFont typeface="Wingdings 2"/>
              <a:buChar char=""/>
              <a:tabLst>
                <a:tab pos="652145" algn="l"/>
              </a:tabLst>
            </a:pPr>
            <a:r>
              <a:rPr sz="3200" dirty="0">
                <a:latin typeface="Palatino Linotype"/>
                <a:cs typeface="Palatino Linotype"/>
              </a:rPr>
              <a:t>“John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học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giỏi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hoặc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thông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spc="-10" dirty="0">
                <a:latin typeface="Palatino Linotype"/>
                <a:cs typeface="Palatino Linotype"/>
              </a:rPr>
              <a:t>minh”.</a:t>
            </a:r>
            <a:endParaRPr sz="32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765"/>
              </a:spcBef>
              <a:buClr>
                <a:srgbClr val="539E39"/>
              </a:buClr>
              <a:buSzPct val="84375"/>
              <a:buFont typeface="Wingdings 2"/>
              <a:buChar char=""/>
              <a:tabLst>
                <a:tab pos="652780" algn="l"/>
              </a:tabLst>
            </a:pPr>
            <a:r>
              <a:rPr sz="3200" dirty="0">
                <a:latin typeface="Palatino Linotype"/>
                <a:cs typeface="Palatino Linotype"/>
              </a:rPr>
              <a:t>“John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hoặc</a:t>
            </a:r>
            <a:r>
              <a:rPr sz="3200" spc="-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học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giỏi,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hoặc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đẹp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spc="-10" dirty="0">
                <a:latin typeface="Palatino Linotype"/>
                <a:cs typeface="Palatino Linotype"/>
              </a:rPr>
              <a:t>trai”.</a:t>
            </a:r>
            <a:endParaRPr sz="3200">
              <a:latin typeface="Palatino Linotype"/>
              <a:cs typeface="Palatino Linotype"/>
            </a:endParaRPr>
          </a:p>
          <a:p>
            <a:pPr marL="652145" lvl="1" indent="-246379">
              <a:lnSpc>
                <a:spcPct val="100000"/>
              </a:lnSpc>
              <a:spcBef>
                <a:spcPts val="770"/>
              </a:spcBef>
              <a:buClr>
                <a:srgbClr val="539E39"/>
              </a:buClr>
              <a:buSzPct val="84375"/>
              <a:buFont typeface="Wingdings 2"/>
              <a:buChar char=""/>
              <a:tabLst>
                <a:tab pos="652145" algn="l"/>
              </a:tabLst>
            </a:pPr>
            <a:r>
              <a:rPr sz="3200" dirty="0">
                <a:latin typeface="Palatino Linotype"/>
                <a:cs typeface="Palatino Linotype"/>
              </a:rPr>
              <a:t>“John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thông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minh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thì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học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spc="-10" dirty="0">
                <a:latin typeface="Palatino Linotype"/>
                <a:cs typeface="Palatino Linotype"/>
              </a:rPr>
              <a:t>giỏi”.</a:t>
            </a:r>
            <a:endParaRPr sz="3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762760"/>
            <a:chOff x="0" y="0"/>
            <a:chExt cx="12192000" cy="17627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980" y="423672"/>
              <a:ext cx="1399794" cy="133883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2980" y="423672"/>
              <a:ext cx="1399794" cy="13388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44979" y="423672"/>
              <a:ext cx="1604009" cy="133883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06623" y="423672"/>
              <a:ext cx="1975866" cy="133883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43172" y="423672"/>
              <a:ext cx="1840229" cy="13388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45608" y="423672"/>
              <a:ext cx="2145030" cy="133883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51319" y="423672"/>
              <a:ext cx="1366266" cy="1338834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611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455F51"/>
                </a:solidFill>
              </a:rPr>
              <a:t>Ví</a:t>
            </a:r>
            <a:r>
              <a:rPr sz="4800" spc="-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dụ các</a:t>
            </a:r>
            <a:r>
              <a:rPr sz="4800" spc="-30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phép</a:t>
            </a:r>
            <a:r>
              <a:rPr sz="4800" spc="-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toán mệnh</a:t>
            </a:r>
            <a:r>
              <a:rPr sz="4800" spc="-10" dirty="0">
                <a:solidFill>
                  <a:srgbClr val="455F51"/>
                </a:solidFill>
              </a:rPr>
              <a:t> </a:t>
            </a:r>
            <a:r>
              <a:rPr sz="4800" spc="-25" dirty="0">
                <a:solidFill>
                  <a:srgbClr val="455F51"/>
                </a:solidFill>
              </a:rPr>
              <a:t>đề</a:t>
            </a:r>
            <a:endParaRPr sz="480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32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8340" y="1824354"/>
            <a:ext cx="10496550" cy="332676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0"/>
              </a:spcBef>
              <a:buClr>
                <a:srgbClr val="C0CF3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3600" b="1" dirty="0">
                <a:latin typeface="Palatino Linotype"/>
                <a:cs typeface="Palatino Linotype"/>
              </a:rPr>
              <a:t>Biểu</a:t>
            </a:r>
            <a:r>
              <a:rPr sz="3600" b="1" spc="-65" dirty="0">
                <a:latin typeface="Palatino Linotype"/>
                <a:cs typeface="Palatino Linotype"/>
              </a:rPr>
              <a:t> </a:t>
            </a:r>
            <a:r>
              <a:rPr sz="3600" b="1" dirty="0">
                <a:latin typeface="Palatino Linotype"/>
                <a:cs typeface="Palatino Linotype"/>
              </a:rPr>
              <a:t>thức</a:t>
            </a:r>
            <a:r>
              <a:rPr sz="3600" b="1" spc="-45" dirty="0">
                <a:latin typeface="Palatino Linotype"/>
                <a:cs typeface="Palatino Linotype"/>
              </a:rPr>
              <a:t> </a:t>
            </a:r>
            <a:r>
              <a:rPr sz="3600" b="1" dirty="0">
                <a:latin typeface="Palatino Linotype"/>
                <a:cs typeface="Palatino Linotype"/>
              </a:rPr>
              <a:t>mệnh</a:t>
            </a:r>
            <a:r>
              <a:rPr sz="3600" b="1" spc="-60" dirty="0">
                <a:latin typeface="Palatino Linotype"/>
                <a:cs typeface="Palatino Linotype"/>
              </a:rPr>
              <a:t> </a:t>
            </a:r>
            <a:r>
              <a:rPr sz="3600" b="1" spc="-25" dirty="0">
                <a:latin typeface="Palatino Linotype"/>
                <a:cs typeface="Palatino Linotype"/>
              </a:rPr>
              <a:t>đề</a:t>
            </a:r>
            <a:endParaRPr sz="36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900"/>
              </a:spcBef>
              <a:buClr>
                <a:srgbClr val="539E39"/>
              </a:buClr>
              <a:buSzPct val="84722"/>
              <a:buFont typeface="Wingdings 2"/>
              <a:buChar char=""/>
              <a:tabLst>
                <a:tab pos="652780" algn="l"/>
              </a:tabLst>
            </a:pPr>
            <a:r>
              <a:rPr sz="3600" dirty="0">
                <a:latin typeface="Palatino Linotype"/>
                <a:cs typeface="Palatino Linotype"/>
              </a:rPr>
              <a:t>P</a:t>
            </a:r>
            <a:r>
              <a:rPr sz="3600" spc="-11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Symbol"/>
                <a:cs typeface="Symbol"/>
              </a:rPr>
              <a:t></a:t>
            </a:r>
            <a:r>
              <a:rPr sz="3600" spc="-3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Q</a:t>
            </a:r>
            <a:r>
              <a:rPr sz="3600" spc="-5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Symbol"/>
                <a:cs typeface="Symbol"/>
              </a:rPr>
              <a:t>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R</a:t>
            </a:r>
            <a:r>
              <a:rPr sz="3600" spc="-12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:</a:t>
            </a:r>
            <a:r>
              <a:rPr sz="36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“John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học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giỏi</a:t>
            </a:r>
            <a:r>
              <a:rPr sz="2800" b="1" dirty="0">
                <a:latin typeface="Palatino Linotype"/>
                <a:cs typeface="Palatino Linotype"/>
              </a:rPr>
              <a:t>,</a:t>
            </a:r>
            <a:r>
              <a:rPr sz="2800" b="1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thông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minh</a:t>
            </a:r>
            <a:r>
              <a:rPr sz="2800" b="1" dirty="0">
                <a:latin typeface="Palatino Linotype"/>
                <a:cs typeface="Palatino Linotype"/>
              </a:rPr>
              <a:t>,</a:t>
            </a:r>
            <a:r>
              <a:rPr sz="2800" b="1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đẹp</a:t>
            </a:r>
            <a:r>
              <a:rPr sz="2800" spc="-15" dirty="0">
                <a:latin typeface="Palatino Linotype"/>
                <a:cs typeface="Palatino Linotype"/>
              </a:rPr>
              <a:t> </a:t>
            </a:r>
            <a:r>
              <a:rPr sz="2800" spc="-10" dirty="0">
                <a:latin typeface="Palatino Linotype"/>
                <a:cs typeface="Palatino Linotype"/>
              </a:rPr>
              <a:t>trai”.</a:t>
            </a:r>
            <a:endParaRPr sz="2800">
              <a:latin typeface="Palatino Linotype"/>
              <a:cs typeface="Palatino Linotype"/>
            </a:endParaRPr>
          </a:p>
          <a:p>
            <a:pPr marL="652145" lvl="1" indent="-246379">
              <a:lnSpc>
                <a:spcPct val="100000"/>
              </a:lnSpc>
              <a:spcBef>
                <a:spcPts val="865"/>
              </a:spcBef>
              <a:buClr>
                <a:srgbClr val="539E39"/>
              </a:buClr>
              <a:buSzPct val="84722"/>
              <a:buFont typeface="Wingdings 2"/>
              <a:buChar char=""/>
              <a:tabLst>
                <a:tab pos="652145" algn="l"/>
              </a:tabLst>
            </a:pPr>
            <a:r>
              <a:rPr sz="3600" dirty="0">
                <a:latin typeface="Palatino Linotype"/>
                <a:cs typeface="Palatino Linotype"/>
              </a:rPr>
              <a:t>P</a:t>
            </a:r>
            <a:r>
              <a:rPr sz="3600" spc="-9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Symbol"/>
                <a:cs typeface="Symbol"/>
              </a:rPr>
              <a:t>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Q</a:t>
            </a:r>
            <a:r>
              <a:rPr sz="3600" spc="-2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:</a:t>
            </a:r>
            <a:r>
              <a:rPr sz="3600" spc="-1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“John</a:t>
            </a:r>
            <a:r>
              <a:rPr sz="2800" spc="-1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học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giỏi</a:t>
            </a:r>
            <a:r>
              <a:rPr sz="2800" spc="-1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hoặc</a:t>
            </a:r>
            <a:r>
              <a:rPr sz="2800" spc="-1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thông</a:t>
            </a:r>
            <a:r>
              <a:rPr sz="2800" spc="-10" dirty="0">
                <a:latin typeface="Palatino Linotype"/>
                <a:cs typeface="Palatino Linotype"/>
              </a:rPr>
              <a:t> minh”.</a:t>
            </a:r>
            <a:endParaRPr sz="28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865"/>
              </a:spcBef>
              <a:buClr>
                <a:srgbClr val="539E39"/>
              </a:buClr>
              <a:buSzPct val="84722"/>
              <a:buFont typeface="Wingdings 2"/>
              <a:buChar char=""/>
              <a:tabLst>
                <a:tab pos="652780" algn="l"/>
              </a:tabLst>
            </a:pPr>
            <a:r>
              <a:rPr sz="3600" dirty="0">
                <a:latin typeface="Palatino Linotype"/>
                <a:cs typeface="Palatino Linotype"/>
              </a:rPr>
              <a:t>(P</a:t>
            </a:r>
            <a:r>
              <a:rPr sz="3600" spc="-9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Symbol"/>
                <a:cs typeface="Symbol"/>
              </a:rPr>
              <a:t>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Symbol"/>
                <a:cs typeface="Symbol"/>
              </a:rPr>
              <a:t></a:t>
            </a:r>
            <a:r>
              <a:rPr sz="3600" dirty="0">
                <a:latin typeface="Palatino Linotype"/>
                <a:cs typeface="Palatino Linotype"/>
              </a:rPr>
              <a:t>R)</a:t>
            </a:r>
            <a:r>
              <a:rPr sz="3600" spc="-5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Symbol"/>
                <a:cs typeface="Symbol"/>
              </a:rPr>
              <a:t>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(</a:t>
            </a:r>
            <a:r>
              <a:rPr sz="3600" dirty="0">
                <a:latin typeface="Symbol"/>
                <a:cs typeface="Symbol"/>
              </a:rPr>
              <a:t></a:t>
            </a:r>
            <a:r>
              <a:rPr sz="3600" dirty="0">
                <a:latin typeface="Palatino Linotype"/>
                <a:cs typeface="Palatino Linotype"/>
              </a:rPr>
              <a:t>P</a:t>
            </a:r>
            <a:r>
              <a:rPr sz="3600" spc="-3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Symbol"/>
                <a:cs typeface="Symbol"/>
              </a:rPr>
              <a:t>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R)</a:t>
            </a:r>
            <a:r>
              <a:rPr sz="3600" spc="-2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:</a:t>
            </a:r>
            <a:r>
              <a:rPr sz="36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“John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hoặc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học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giỏi,</a:t>
            </a:r>
            <a:r>
              <a:rPr sz="2800" spc="-1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hoặc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đẹp</a:t>
            </a:r>
            <a:r>
              <a:rPr sz="2800" spc="5" dirty="0">
                <a:latin typeface="Palatino Linotype"/>
                <a:cs typeface="Palatino Linotype"/>
              </a:rPr>
              <a:t> </a:t>
            </a:r>
            <a:r>
              <a:rPr sz="2800" spc="-10" dirty="0">
                <a:latin typeface="Palatino Linotype"/>
                <a:cs typeface="Palatino Linotype"/>
              </a:rPr>
              <a:t>trai”.</a:t>
            </a:r>
            <a:endParaRPr sz="2800">
              <a:latin typeface="Palatino Linotype"/>
              <a:cs typeface="Palatino Linotype"/>
            </a:endParaRPr>
          </a:p>
          <a:p>
            <a:pPr marL="652145" lvl="1" indent="-246379">
              <a:lnSpc>
                <a:spcPct val="100000"/>
              </a:lnSpc>
              <a:spcBef>
                <a:spcPts val="865"/>
              </a:spcBef>
              <a:buClr>
                <a:srgbClr val="539E39"/>
              </a:buClr>
              <a:buSzPct val="84722"/>
              <a:buFont typeface="Wingdings 2"/>
              <a:buChar char=""/>
              <a:tabLst>
                <a:tab pos="652145" algn="l"/>
              </a:tabLst>
            </a:pPr>
            <a:r>
              <a:rPr sz="3600" dirty="0">
                <a:latin typeface="Palatino Linotype"/>
                <a:cs typeface="Palatino Linotype"/>
              </a:rPr>
              <a:t>Q</a:t>
            </a:r>
            <a:r>
              <a:rPr sz="3600" spc="-2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Symbol"/>
                <a:cs typeface="Symbol"/>
              </a:rPr>
              <a:t>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P</a:t>
            </a:r>
            <a:r>
              <a:rPr sz="3600" spc="-8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:</a:t>
            </a:r>
            <a:r>
              <a:rPr sz="3600" spc="-1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“John</a:t>
            </a:r>
            <a:r>
              <a:rPr sz="2800" spc="-1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thông</a:t>
            </a:r>
            <a:r>
              <a:rPr sz="2800" spc="-1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minh</a:t>
            </a:r>
            <a:r>
              <a:rPr sz="2800" spc="-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thì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học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spc="-10" dirty="0">
                <a:latin typeface="Palatino Linotype"/>
                <a:cs typeface="Palatino Linotype"/>
              </a:rPr>
              <a:t>giỏi”.</a:t>
            </a:r>
            <a:endParaRPr sz="28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784350"/>
            <a:chOff x="0" y="0"/>
            <a:chExt cx="12192000" cy="17843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652" y="554736"/>
              <a:ext cx="1713738" cy="122910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9888" y="554736"/>
              <a:ext cx="1971293" cy="122910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70632" y="554736"/>
              <a:ext cx="1690877" cy="122910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72484" y="554736"/>
              <a:ext cx="1713738" cy="122910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97196" y="554736"/>
              <a:ext cx="1969770" cy="122910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79464" y="554736"/>
              <a:ext cx="1255014" cy="1229106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3908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455F51"/>
                </a:solidFill>
              </a:rPr>
              <a:t>Ngữ</a:t>
            </a:r>
            <a:r>
              <a:rPr sz="4400" spc="-5" dirty="0">
                <a:solidFill>
                  <a:srgbClr val="455F51"/>
                </a:solidFill>
              </a:rPr>
              <a:t> </a:t>
            </a:r>
            <a:r>
              <a:rPr sz="4400" dirty="0">
                <a:solidFill>
                  <a:srgbClr val="455F51"/>
                </a:solidFill>
              </a:rPr>
              <a:t>nghĩa</a:t>
            </a:r>
            <a:r>
              <a:rPr sz="4400" spc="-30" dirty="0">
                <a:solidFill>
                  <a:srgbClr val="455F51"/>
                </a:solidFill>
              </a:rPr>
              <a:t> </a:t>
            </a:r>
            <a:r>
              <a:rPr sz="4400" dirty="0">
                <a:solidFill>
                  <a:srgbClr val="455F51"/>
                </a:solidFill>
              </a:rPr>
              <a:t>biểu</a:t>
            </a:r>
            <a:r>
              <a:rPr sz="4400" spc="-10" dirty="0">
                <a:solidFill>
                  <a:srgbClr val="455F51"/>
                </a:solidFill>
              </a:rPr>
              <a:t> </a:t>
            </a:r>
            <a:r>
              <a:rPr sz="4400" dirty="0">
                <a:solidFill>
                  <a:srgbClr val="455F51"/>
                </a:solidFill>
              </a:rPr>
              <a:t>thức</a:t>
            </a:r>
            <a:r>
              <a:rPr sz="4400" spc="-20" dirty="0">
                <a:solidFill>
                  <a:srgbClr val="455F51"/>
                </a:solidFill>
              </a:rPr>
              <a:t> </a:t>
            </a:r>
            <a:r>
              <a:rPr sz="4400" dirty="0">
                <a:solidFill>
                  <a:srgbClr val="455F51"/>
                </a:solidFill>
              </a:rPr>
              <a:t>mệnh </a:t>
            </a:r>
            <a:r>
              <a:rPr sz="4400" spc="-25" dirty="0">
                <a:solidFill>
                  <a:srgbClr val="455F51"/>
                </a:solidFill>
              </a:rPr>
              <a:t>đề</a:t>
            </a:r>
            <a:endParaRPr sz="440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33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8340" y="1941702"/>
            <a:ext cx="10563860" cy="35293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28905" indent="-274320">
              <a:lnSpc>
                <a:spcPct val="100000"/>
              </a:lnSpc>
              <a:spcBef>
                <a:spcPts val="105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b="1" i="1" dirty="0">
                <a:solidFill>
                  <a:srgbClr val="FF0000"/>
                </a:solidFill>
                <a:latin typeface="Palatino Linotype"/>
                <a:cs typeface="Palatino Linotype"/>
              </a:rPr>
              <a:t>Ngữ</a:t>
            </a:r>
            <a:r>
              <a:rPr sz="3200" b="1" i="1" spc="-5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3200" b="1" i="1" dirty="0">
                <a:solidFill>
                  <a:srgbClr val="FF0000"/>
                </a:solidFill>
                <a:latin typeface="Palatino Linotype"/>
                <a:cs typeface="Palatino Linotype"/>
              </a:rPr>
              <a:t>nghĩa</a:t>
            </a:r>
            <a:r>
              <a:rPr sz="3200" b="1" i="1" spc="-4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của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một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biểu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thức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mệnh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đề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là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b="1" i="1" dirty="0">
                <a:solidFill>
                  <a:srgbClr val="FF0000"/>
                </a:solidFill>
                <a:latin typeface="Palatino Linotype"/>
                <a:cs typeface="Palatino Linotype"/>
              </a:rPr>
              <a:t>giá</a:t>
            </a:r>
            <a:r>
              <a:rPr sz="3200" b="1" i="1" spc="-3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3200" b="1" i="1" dirty="0">
                <a:solidFill>
                  <a:srgbClr val="FF0000"/>
                </a:solidFill>
                <a:latin typeface="Palatino Linotype"/>
                <a:cs typeface="Palatino Linotype"/>
              </a:rPr>
              <a:t>trị</a:t>
            </a:r>
            <a:r>
              <a:rPr sz="3200" b="1" i="1" spc="-3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của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spc="-20" dirty="0">
                <a:latin typeface="Palatino Linotype"/>
                <a:cs typeface="Palatino Linotype"/>
              </a:rPr>
              <a:t>biểu </a:t>
            </a:r>
            <a:r>
              <a:rPr sz="3200" dirty="0">
                <a:latin typeface="Palatino Linotype"/>
                <a:cs typeface="Palatino Linotype"/>
              </a:rPr>
              <a:t>thức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mệnh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đề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đó.</a:t>
            </a:r>
            <a:endParaRPr sz="32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765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>
                <a:latin typeface="Palatino Linotype"/>
                <a:cs typeface="Palatino Linotype"/>
              </a:rPr>
              <a:t>Giá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trị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của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biểu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thức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mệnh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đề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là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có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khả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năng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tính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spc="-20" dirty="0">
                <a:latin typeface="Palatino Linotype"/>
                <a:cs typeface="Palatino Linotype"/>
              </a:rPr>
              <a:t>toán</a:t>
            </a:r>
            <a:endParaRPr sz="3200">
              <a:latin typeface="Palatino Linotype"/>
              <a:cs typeface="Palatino Linotype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Palatino Linotype"/>
                <a:cs typeface="Palatino Linotype"/>
              </a:rPr>
              <a:t>được.</a:t>
            </a:r>
            <a:r>
              <a:rPr sz="3200" spc="-75" dirty="0">
                <a:latin typeface="Palatino Linotype"/>
                <a:cs typeface="Palatino Linotype"/>
              </a:rPr>
              <a:t> </a:t>
            </a:r>
            <a:r>
              <a:rPr sz="3200" spc="-20" dirty="0">
                <a:latin typeface="Palatino Linotype"/>
                <a:cs typeface="Palatino Linotype"/>
              </a:rPr>
              <a:t>Trong</a:t>
            </a:r>
            <a:r>
              <a:rPr sz="3200" spc="-85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đó:</a:t>
            </a:r>
            <a:endParaRPr sz="3200">
              <a:latin typeface="Palatino Linotype"/>
              <a:cs typeface="Palatino Linotype"/>
            </a:endParaRPr>
          </a:p>
          <a:p>
            <a:pPr marL="652145" lvl="1" indent="-246379">
              <a:lnSpc>
                <a:spcPct val="100000"/>
              </a:lnSpc>
              <a:spcBef>
                <a:spcPts val="700"/>
              </a:spcBef>
              <a:buClr>
                <a:srgbClr val="539E39"/>
              </a:buClr>
              <a:buSzPct val="83928"/>
              <a:buFont typeface="Wingdings 2"/>
              <a:buChar char=""/>
              <a:tabLst>
                <a:tab pos="652145" algn="l"/>
              </a:tabLst>
            </a:pPr>
            <a:r>
              <a:rPr sz="2800" dirty="0">
                <a:latin typeface="Palatino Linotype"/>
                <a:cs typeface="Palatino Linotype"/>
              </a:rPr>
              <a:t>Mỗi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mệnh</a:t>
            </a:r>
            <a:r>
              <a:rPr sz="2800" spc="-5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đề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được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gán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một</a:t>
            </a:r>
            <a:r>
              <a:rPr sz="2800" spc="-5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giá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trị</a:t>
            </a:r>
            <a:r>
              <a:rPr sz="2800" spc="-50" dirty="0">
                <a:latin typeface="Palatino Linotype"/>
                <a:cs typeface="Palatino Linotype"/>
              </a:rPr>
              <a:t> </a:t>
            </a:r>
            <a:r>
              <a:rPr sz="2800" spc="-20" dirty="0">
                <a:latin typeface="Palatino Linotype"/>
                <a:cs typeface="Palatino Linotype"/>
              </a:rPr>
              <a:t>True</a:t>
            </a:r>
            <a:r>
              <a:rPr sz="2800" spc="-6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hay</a:t>
            </a:r>
            <a:r>
              <a:rPr sz="2800" spc="-50" dirty="0">
                <a:latin typeface="Palatino Linotype"/>
                <a:cs typeface="Palatino Linotype"/>
              </a:rPr>
              <a:t> </a:t>
            </a:r>
            <a:r>
              <a:rPr sz="2800" spc="-10" dirty="0">
                <a:latin typeface="Palatino Linotype"/>
                <a:cs typeface="Palatino Linotype"/>
              </a:rPr>
              <a:t>False.</a:t>
            </a:r>
            <a:endParaRPr sz="2800">
              <a:latin typeface="Palatino Linotype"/>
              <a:cs typeface="Palatino Linotype"/>
            </a:endParaRPr>
          </a:p>
          <a:p>
            <a:pPr marL="652145" lvl="1" indent="-246379">
              <a:lnSpc>
                <a:spcPct val="100000"/>
              </a:lnSpc>
              <a:spcBef>
                <a:spcPts val="670"/>
              </a:spcBef>
              <a:buClr>
                <a:srgbClr val="539E39"/>
              </a:buClr>
              <a:buSzPct val="83928"/>
              <a:buFont typeface="Wingdings 2"/>
              <a:buChar char=""/>
              <a:tabLst>
                <a:tab pos="652145" algn="l"/>
              </a:tabLst>
            </a:pPr>
            <a:r>
              <a:rPr sz="2800" dirty="0">
                <a:latin typeface="Palatino Linotype"/>
                <a:cs typeface="Palatino Linotype"/>
              </a:rPr>
              <a:t>Mỗi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toán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tử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được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đánh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giá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theo</a:t>
            </a:r>
            <a:r>
              <a:rPr sz="2800" spc="-5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bảng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chân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trị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và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thứ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tự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ưu</a:t>
            </a:r>
            <a:r>
              <a:rPr sz="2800" spc="-20" dirty="0">
                <a:latin typeface="Palatino Linotype"/>
                <a:cs typeface="Palatino Linotype"/>
              </a:rPr>
              <a:t> tiên</a:t>
            </a:r>
            <a:endParaRPr sz="2800">
              <a:latin typeface="Palatino Linotype"/>
              <a:cs typeface="Palatino Linotype"/>
            </a:endParaRPr>
          </a:p>
          <a:p>
            <a:pPr marL="652780">
              <a:lnSpc>
                <a:spcPct val="100000"/>
              </a:lnSpc>
            </a:pPr>
            <a:r>
              <a:rPr sz="2800" dirty="0">
                <a:latin typeface="Palatino Linotype"/>
                <a:cs typeface="Palatino Linotype"/>
              </a:rPr>
              <a:t>của</a:t>
            </a:r>
            <a:r>
              <a:rPr sz="2800" spc="-1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toán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spc="-25" dirty="0">
                <a:latin typeface="Palatino Linotype"/>
                <a:cs typeface="Palatino Linotype"/>
              </a:rPr>
              <a:t>tử.</a:t>
            </a:r>
            <a:endParaRPr sz="28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602326"/>
            <a:ext cx="10650220" cy="2350135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990"/>
              </a:spcBef>
              <a:buClr>
                <a:srgbClr val="C0CF3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3600" dirty="0">
                <a:latin typeface="Palatino Linotype"/>
                <a:cs typeface="Palatino Linotype"/>
              </a:rPr>
              <a:t>Giá</a:t>
            </a:r>
            <a:r>
              <a:rPr sz="3600" spc="-5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trị</a:t>
            </a:r>
            <a:r>
              <a:rPr sz="3600" spc="-6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của</a:t>
            </a:r>
            <a:r>
              <a:rPr sz="3600" spc="-6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biểu</a:t>
            </a:r>
            <a:r>
              <a:rPr sz="3600" spc="-4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thức</a:t>
            </a:r>
            <a:r>
              <a:rPr sz="3600" spc="-5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mệnh</a:t>
            </a:r>
            <a:r>
              <a:rPr sz="3600" spc="-5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đề</a:t>
            </a:r>
            <a:r>
              <a:rPr sz="3600" spc="-6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tính</a:t>
            </a:r>
            <a:r>
              <a:rPr sz="3600" spc="-5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bằng</a:t>
            </a:r>
            <a:r>
              <a:rPr sz="3600" spc="-65" dirty="0">
                <a:latin typeface="Palatino Linotype"/>
                <a:cs typeface="Palatino Linotype"/>
              </a:rPr>
              <a:t> </a:t>
            </a:r>
            <a:r>
              <a:rPr sz="3600" spc="-10" dirty="0">
                <a:latin typeface="Palatino Linotype"/>
                <a:cs typeface="Palatino Linotype"/>
              </a:rPr>
              <a:t>cách:</a:t>
            </a:r>
            <a:endParaRPr sz="3600">
              <a:latin typeface="Palatino Linotype"/>
              <a:cs typeface="Palatino Linotype"/>
            </a:endParaRPr>
          </a:p>
          <a:p>
            <a:pPr marL="652145" lvl="1" indent="-246379">
              <a:lnSpc>
                <a:spcPct val="100000"/>
              </a:lnSpc>
              <a:spcBef>
                <a:spcPts val="800"/>
              </a:spcBef>
              <a:buClr>
                <a:srgbClr val="539E39"/>
              </a:buClr>
              <a:buSzPct val="84375"/>
              <a:buFont typeface="Wingdings 2"/>
              <a:buChar char=""/>
              <a:tabLst>
                <a:tab pos="652145" algn="l"/>
              </a:tabLst>
            </a:pPr>
            <a:r>
              <a:rPr sz="3200" dirty="0">
                <a:latin typeface="Palatino Linotype"/>
                <a:cs typeface="Palatino Linotype"/>
              </a:rPr>
              <a:t>Dùng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bảng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chân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spc="-20" dirty="0">
                <a:latin typeface="Palatino Linotype"/>
                <a:cs typeface="Palatino Linotype"/>
              </a:rPr>
              <a:t>trị.</a:t>
            </a:r>
            <a:endParaRPr sz="3200">
              <a:latin typeface="Palatino Linotype"/>
              <a:cs typeface="Palatino Linotype"/>
            </a:endParaRPr>
          </a:p>
          <a:p>
            <a:pPr marL="651510" marR="5080" lvl="1" indent="-246379">
              <a:lnSpc>
                <a:spcPct val="100000"/>
              </a:lnSpc>
              <a:spcBef>
                <a:spcPts val="770"/>
              </a:spcBef>
              <a:buClr>
                <a:srgbClr val="539E39"/>
              </a:buClr>
              <a:buSzPct val="84375"/>
              <a:buFont typeface="Wingdings 2"/>
              <a:buChar char=""/>
              <a:tabLst>
                <a:tab pos="652780" algn="l"/>
              </a:tabLst>
            </a:pPr>
            <a:r>
              <a:rPr sz="3200" dirty="0">
                <a:latin typeface="Palatino Linotype"/>
                <a:cs typeface="Palatino Linotype"/>
              </a:rPr>
              <a:t>Đánh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giá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ngược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từ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node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lá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khi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biểu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thức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mệnh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đề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spc="-20" dirty="0">
                <a:latin typeface="Palatino Linotype"/>
                <a:cs typeface="Palatino Linotype"/>
              </a:rPr>
              <a:t>được 	</a:t>
            </a:r>
            <a:r>
              <a:rPr sz="3200" dirty="0">
                <a:latin typeface="Palatino Linotype"/>
                <a:cs typeface="Palatino Linotype"/>
              </a:rPr>
              <a:t>biểu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diễn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ở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dạng</a:t>
            </a:r>
            <a:r>
              <a:rPr sz="3200" spc="-60" dirty="0">
                <a:latin typeface="Palatino Linotype"/>
                <a:cs typeface="Palatino Linotype"/>
              </a:rPr>
              <a:t> </a:t>
            </a:r>
            <a:r>
              <a:rPr sz="3200" spc="-20" dirty="0">
                <a:latin typeface="Palatino Linotype"/>
                <a:cs typeface="Palatino Linotype"/>
              </a:rPr>
              <a:t>cây.</a:t>
            </a:r>
            <a:endParaRPr sz="3200">
              <a:latin typeface="Palatino Linotype"/>
              <a:cs typeface="Palatino Linotyp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63652" y="400811"/>
            <a:ext cx="7371080" cy="1229360"/>
            <a:chOff x="263652" y="400811"/>
            <a:chExt cx="7371080" cy="12293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652" y="400811"/>
              <a:ext cx="1713738" cy="122910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9888" y="400811"/>
              <a:ext cx="1971293" cy="122910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70631" y="400811"/>
              <a:ext cx="1690877" cy="122910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72484" y="400811"/>
              <a:ext cx="1713738" cy="122910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97196" y="400811"/>
              <a:ext cx="1969770" cy="122910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79463" y="400811"/>
              <a:ext cx="1255014" cy="1229106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96900" y="546049"/>
            <a:ext cx="66719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455F51"/>
                </a:solidFill>
              </a:rPr>
              <a:t>Ngữ</a:t>
            </a:r>
            <a:r>
              <a:rPr sz="4400" spc="-5" dirty="0">
                <a:solidFill>
                  <a:srgbClr val="455F51"/>
                </a:solidFill>
              </a:rPr>
              <a:t> </a:t>
            </a:r>
            <a:r>
              <a:rPr sz="4400" dirty="0">
                <a:solidFill>
                  <a:srgbClr val="455F51"/>
                </a:solidFill>
              </a:rPr>
              <a:t>nghĩa</a:t>
            </a:r>
            <a:r>
              <a:rPr sz="4400" spc="-30" dirty="0">
                <a:solidFill>
                  <a:srgbClr val="455F51"/>
                </a:solidFill>
              </a:rPr>
              <a:t> </a:t>
            </a:r>
            <a:r>
              <a:rPr sz="4400" dirty="0">
                <a:solidFill>
                  <a:srgbClr val="455F51"/>
                </a:solidFill>
              </a:rPr>
              <a:t>biểu</a:t>
            </a:r>
            <a:r>
              <a:rPr sz="4400" spc="-10" dirty="0">
                <a:solidFill>
                  <a:srgbClr val="455F51"/>
                </a:solidFill>
              </a:rPr>
              <a:t> </a:t>
            </a:r>
            <a:r>
              <a:rPr sz="4400" dirty="0">
                <a:solidFill>
                  <a:srgbClr val="455F51"/>
                </a:solidFill>
              </a:rPr>
              <a:t>thức</a:t>
            </a:r>
            <a:r>
              <a:rPr sz="4400" spc="-20" dirty="0">
                <a:solidFill>
                  <a:srgbClr val="455F51"/>
                </a:solidFill>
              </a:rPr>
              <a:t> </a:t>
            </a:r>
            <a:r>
              <a:rPr sz="4400" dirty="0">
                <a:solidFill>
                  <a:srgbClr val="455F51"/>
                </a:solidFill>
              </a:rPr>
              <a:t>mệnh </a:t>
            </a:r>
            <a:r>
              <a:rPr sz="4400" spc="-25" dirty="0">
                <a:solidFill>
                  <a:srgbClr val="455F51"/>
                </a:solidFill>
              </a:rPr>
              <a:t>đề</a:t>
            </a:r>
            <a:endParaRPr sz="440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34</a:t>
            </a:fld>
            <a:endParaRPr spc="-25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720214"/>
            <a:chOff x="0" y="0"/>
            <a:chExt cx="12192000" cy="172021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652" y="490727"/>
              <a:ext cx="2032254" cy="122910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6879" y="490727"/>
              <a:ext cx="1255014" cy="122910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72867" y="490727"/>
              <a:ext cx="2041398" cy="122910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26764" y="490727"/>
              <a:ext cx="2166366" cy="122910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88340" y="1938654"/>
            <a:ext cx="10740390" cy="2879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93980" indent="-274320">
              <a:lnSpc>
                <a:spcPct val="100000"/>
              </a:lnSpc>
              <a:spcBef>
                <a:spcPts val="100"/>
              </a:spcBef>
              <a:buClr>
                <a:srgbClr val="C0CF3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3600" dirty="0">
                <a:latin typeface="Palatino Linotype"/>
                <a:cs typeface="Palatino Linotype"/>
              </a:rPr>
              <a:t>Các</a:t>
            </a:r>
            <a:r>
              <a:rPr sz="3600" spc="-9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tương</a:t>
            </a:r>
            <a:r>
              <a:rPr sz="3600" spc="-7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đương</a:t>
            </a:r>
            <a:r>
              <a:rPr sz="3600" spc="-7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được</a:t>
            </a:r>
            <a:r>
              <a:rPr sz="3600" spc="-8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sử</a:t>
            </a:r>
            <a:r>
              <a:rPr sz="3600" spc="-8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dụng</a:t>
            </a:r>
            <a:r>
              <a:rPr sz="3600" spc="-8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thường</a:t>
            </a:r>
            <a:r>
              <a:rPr sz="3600" spc="-75" dirty="0">
                <a:latin typeface="Palatino Linotype"/>
                <a:cs typeface="Palatino Linotype"/>
              </a:rPr>
              <a:t> </a:t>
            </a:r>
            <a:r>
              <a:rPr sz="3600" spc="-10" dirty="0">
                <a:latin typeface="Palatino Linotype"/>
                <a:cs typeface="Palatino Linotype"/>
              </a:rPr>
              <a:t>xuyên </a:t>
            </a:r>
            <a:r>
              <a:rPr sz="3600" dirty="0">
                <a:latin typeface="Palatino Linotype"/>
                <a:cs typeface="Palatino Linotype"/>
              </a:rPr>
              <a:t>trong</a:t>
            </a:r>
            <a:r>
              <a:rPr sz="3600" spc="-7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quá</a:t>
            </a:r>
            <a:r>
              <a:rPr sz="3600" spc="-6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trình</a:t>
            </a:r>
            <a:r>
              <a:rPr sz="3600" spc="-5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biến</a:t>
            </a:r>
            <a:r>
              <a:rPr sz="3600" spc="-5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đổi</a:t>
            </a:r>
            <a:r>
              <a:rPr sz="3600" spc="-6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một</a:t>
            </a:r>
            <a:r>
              <a:rPr sz="3600" spc="-6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biểu</a:t>
            </a:r>
            <a:r>
              <a:rPr sz="3600" spc="-6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thức</a:t>
            </a:r>
            <a:r>
              <a:rPr sz="3600" spc="-4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từ</a:t>
            </a:r>
            <a:r>
              <a:rPr sz="3600" spc="-5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dạng</a:t>
            </a:r>
            <a:r>
              <a:rPr sz="3600" spc="-55" dirty="0">
                <a:latin typeface="Palatino Linotype"/>
                <a:cs typeface="Palatino Linotype"/>
              </a:rPr>
              <a:t> </a:t>
            </a:r>
            <a:r>
              <a:rPr sz="3600" spc="-25" dirty="0">
                <a:latin typeface="Palatino Linotype"/>
                <a:cs typeface="Palatino Linotype"/>
              </a:rPr>
              <a:t>này </a:t>
            </a:r>
            <a:r>
              <a:rPr sz="3600" dirty="0">
                <a:latin typeface="Palatino Linotype"/>
                <a:cs typeface="Palatino Linotype"/>
              </a:rPr>
              <a:t>sang</a:t>
            </a:r>
            <a:r>
              <a:rPr sz="3600" spc="-1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dạng</a:t>
            </a:r>
            <a:r>
              <a:rPr sz="3600" spc="-20" dirty="0">
                <a:latin typeface="Palatino Linotype"/>
                <a:cs typeface="Palatino Linotype"/>
              </a:rPr>
              <a:t> </a:t>
            </a:r>
            <a:r>
              <a:rPr sz="3600" spc="-10" dirty="0">
                <a:latin typeface="Palatino Linotype"/>
                <a:cs typeface="Palatino Linotype"/>
              </a:rPr>
              <a:t>khác.</a:t>
            </a:r>
            <a:endParaRPr sz="3600">
              <a:latin typeface="Palatino Linotype"/>
              <a:cs typeface="Palatino Linotype"/>
            </a:endParaRPr>
          </a:p>
          <a:p>
            <a:pPr marL="286385" marR="5080" indent="-274320">
              <a:lnSpc>
                <a:spcPct val="100000"/>
              </a:lnSpc>
              <a:spcBef>
                <a:spcPts val="865"/>
              </a:spcBef>
              <a:buClr>
                <a:srgbClr val="C0CF3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3600" dirty="0">
                <a:latin typeface="Palatino Linotype"/>
                <a:cs typeface="Palatino Linotype"/>
              </a:rPr>
              <a:t>Khả</a:t>
            </a:r>
            <a:r>
              <a:rPr sz="3600" spc="-7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năng</a:t>
            </a:r>
            <a:r>
              <a:rPr sz="3600" spc="-6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biến</a:t>
            </a:r>
            <a:r>
              <a:rPr sz="3600" spc="-6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đổi</a:t>
            </a:r>
            <a:r>
              <a:rPr sz="3600" spc="-6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tương</a:t>
            </a:r>
            <a:r>
              <a:rPr sz="3600" spc="-5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đương</a:t>
            </a:r>
            <a:r>
              <a:rPr sz="3600" spc="-6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có</a:t>
            </a:r>
            <a:r>
              <a:rPr sz="3600" spc="-6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thể</a:t>
            </a:r>
            <a:r>
              <a:rPr sz="3600" spc="-6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được</a:t>
            </a:r>
            <a:r>
              <a:rPr sz="3600" spc="-6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làm</a:t>
            </a:r>
            <a:r>
              <a:rPr sz="3600" spc="-70" dirty="0">
                <a:latin typeface="Palatino Linotype"/>
                <a:cs typeface="Palatino Linotype"/>
              </a:rPr>
              <a:t> </a:t>
            </a:r>
            <a:r>
              <a:rPr sz="3600" spc="-25" dirty="0">
                <a:latin typeface="Palatino Linotype"/>
                <a:cs typeface="Palatino Linotype"/>
              </a:rPr>
              <a:t>tự </a:t>
            </a:r>
            <a:r>
              <a:rPr sz="3600" dirty="0">
                <a:latin typeface="Palatino Linotype"/>
                <a:cs typeface="Palatino Linotype"/>
              </a:rPr>
              <a:t>động</a:t>
            </a:r>
            <a:r>
              <a:rPr sz="3600" spc="-6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trên</a:t>
            </a:r>
            <a:r>
              <a:rPr sz="3600" spc="-6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máy</a:t>
            </a:r>
            <a:r>
              <a:rPr sz="3600" spc="-60" dirty="0">
                <a:latin typeface="Palatino Linotype"/>
                <a:cs typeface="Palatino Linotype"/>
              </a:rPr>
              <a:t> </a:t>
            </a:r>
            <a:r>
              <a:rPr sz="3600" spc="-20" dirty="0">
                <a:latin typeface="Palatino Linotype"/>
                <a:cs typeface="Palatino Linotype"/>
              </a:rPr>
              <a:t>tính</a:t>
            </a:r>
            <a:endParaRPr sz="3600">
              <a:latin typeface="Palatino Linotype"/>
              <a:cs typeface="Palatino Linotype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9646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455F51"/>
                </a:solidFill>
              </a:rPr>
              <a:t>Mệnh</a:t>
            </a:r>
            <a:r>
              <a:rPr sz="4400" spc="-25" dirty="0">
                <a:solidFill>
                  <a:srgbClr val="455F51"/>
                </a:solidFill>
              </a:rPr>
              <a:t> </a:t>
            </a:r>
            <a:r>
              <a:rPr sz="4400" dirty="0">
                <a:solidFill>
                  <a:srgbClr val="455F51"/>
                </a:solidFill>
              </a:rPr>
              <a:t>đề</a:t>
            </a:r>
            <a:r>
              <a:rPr sz="4400" spc="-25" dirty="0">
                <a:solidFill>
                  <a:srgbClr val="455F51"/>
                </a:solidFill>
              </a:rPr>
              <a:t> </a:t>
            </a:r>
            <a:r>
              <a:rPr sz="4400" dirty="0">
                <a:solidFill>
                  <a:srgbClr val="455F51"/>
                </a:solidFill>
              </a:rPr>
              <a:t>tương</a:t>
            </a:r>
            <a:r>
              <a:rPr sz="4400" spc="5" dirty="0">
                <a:solidFill>
                  <a:srgbClr val="455F51"/>
                </a:solidFill>
              </a:rPr>
              <a:t> </a:t>
            </a:r>
            <a:r>
              <a:rPr sz="4400" spc="-10" dirty="0">
                <a:solidFill>
                  <a:srgbClr val="455F51"/>
                </a:solidFill>
              </a:rPr>
              <a:t>đương</a:t>
            </a:r>
            <a:endParaRPr sz="44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35</a:t>
            </a:fld>
            <a:endParaRPr spc="-25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720214"/>
            <a:chOff x="0" y="0"/>
            <a:chExt cx="12192000" cy="172021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652" y="490727"/>
              <a:ext cx="2032254" cy="122910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6879" y="490727"/>
              <a:ext cx="1255014" cy="122910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72867" y="490727"/>
              <a:ext cx="2041398" cy="122910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26764" y="490727"/>
              <a:ext cx="2166366" cy="122910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88340" y="1859278"/>
            <a:ext cx="10084435" cy="1904364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440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dirty="0">
                <a:latin typeface="Palatino Linotype"/>
                <a:cs typeface="Palatino Linotype"/>
              </a:rPr>
              <a:t>Cho</a:t>
            </a:r>
            <a:r>
              <a:rPr sz="2800" spc="-1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A,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B,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</a:t>
            </a:r>
            <a:r>
              <a:rPr sz="2800" spc="-5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là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các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mệnh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đề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bất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kỳ.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spc="-65" dirty="0">
                <a:latin typeface="Palatino Linotype"/>
                <a:cs typeface="Palatino Linotype"/>
              </a:rPr>
              <a:t>Ta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có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các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tương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đương</a:t>
            </a:r>
            <a:r>
              <a:rPr sz="2800" spc="-15" dirty="0">
                <a:latin typeface="Palatino Linotype"/>
                <a:cs typeface="Palatino Linotype"/>
              </a:rPr>
              <a:t> </a:t>
            </a:r>
            <a:r>
              <a:rPr sz="2800" spc="-20" dirty="0">
                <a:latin typeface="Palatino Linotype"/>
                <a:cs typeface="Palatino Linotype"/>
              </a:rPr>
              <a:t>sau:</a:t>
            </a:r>
            <a:endParaRPr sz="28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340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b="1" dirty="0">
                <a:solidFill>
                  <a:srgbClr val="FF0000"/>
                </a:solidFill>
                <a:latin typeface="Palatino Linotype"/>
                <a:cs typeface="Palatino Linotype"/>
              </a:rPr>
              <a:t>Dạng</a:t>
            </a:r>
            <a:r>
              <a:rPr sz="2800" b="1" spc="-6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800" b="1" dirty="0">
                <a:solidFill>
                  <a:srgbClr val="FF0000"/>
                </a:solidFill>
                <a:latin typeface="Palatino Linotype"/>
                <a:cs typeface="Palatino Linotype"/>
              </a:rPr>
              <a:t>phủ</a:t>
            </a:r>
            <a:r>
              <a:rPr sz="2800" b="1" spc="-5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800" b="1" dirty="0">
                <a:solidFill>
                  <a:srgbClr val="FF0000"/>
                </a:solidFill>
                <a:latin typeface="Palatino Linotype"/>
                <a:cs typeface="Palatino Linotype"/>
              </a:rPr>
              <a:t>định</a:t>
            </a:r>
            <a:r>
              <a:rPr sz="2800" b="1" spc="-3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Palatino Linotype"/>
                <a:cs typeface="Palatino Linotype"/>
              </a:rPr>
              <a:t>kép</a:t>
            </a:r>
            <a:endParaRPr sz="2800">
              <a:latin typeface="Palatino Linotype"/>
              <a:cs typeface="Palatino Linotype"/>
            </a:endParaRPr>
          </a:p>
          <a:p>
            <a:pPr marL="405765">
              <a:lnSpc>
                <a:spcPct val="100000"/>
              </a:lnSpc>
              <a:spcBef>
                <a:spcPts val="360"/>
              </a:spcBef>
              <a:tabLst>
                <a:tab pos="1841500" algn="l"/>
                <a:tab pos="2755900" algn="l"/>
              </a:tabLst>
            </a:pPr>
            <a:r>
              <a:rPr sz="2800" dirty="0">
                <a:latin typeface="Symbol"/>
                <a:cs typeface="Symbol"/>
              </a:rPr>
              <a:t>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b="1" spc="-50" dirty="0">
                <a:latin typeface="Palatino Linotype"/>
                <a:cs typeface="Palatino Linotype"/>
              </a:rPr>
              <a:t>A</a:t>
            </a:r>
            <a:r>
              <a:rPr sz="2800" b="1" dirty="0">
                <a:latin typeface="Palatino Linotype"/>
                <a:cs typeface="Palatino Linotype"/>
              </a:rPr>
              <a:t>	</a:t>
            </a:r>
            <a:r>
              <a:rPr sz="2800" spc="-50" dirty="0">
                <a:latin typeface="Wingdings"/>
                <a:cs typeface="Wingdings"/>
              </a:rPr>
              <a:t>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b="1" spc="-50" dirty="0">
                <a:latin typeface="Palatino Linotype"/>
                <a:cs typeface="Palatino Linotype"/>
              </a:rPr>
              <a:t>A</a:t>
            </a:r>
            <a:endParaRPr sz="28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310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b="1" dirty="0">
                <a:solidFill>
                  <a:srgbClr val="FF0000"/>
                </a:solidFill>
                <a:latin typeface="Palatino Linotype"/>
                <a:cs typeface="Palatino Linotype"/>
              </a:rPr>
              <a:t>Dạng </a:t>
            </a:r>
            <a:r>
              <a:rPr sz="2800" b="1" spc="-10" dirty="0">
                <a:solidFill>
                  <a:srgbClr val="FF0000"/>
                </a:solidFill>
                <a:latin typeface="Palatino Linotype"/>
                <a:cs typeface="Palatino Linotype"/>
              </a:rPr>
              <a:t>tuyển</a:t>
            </a:r>
            <a:endParaRPr sz="2800">
              <a:latin typeface="Palatino Linotype"/>
              <a:cs typeface="Palatino Linotyp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9646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455F51"/>
                </a:solidFill>
              </a:rPr>
              <a:t>Mệnh</a:t>
            </a:r>
            <a:r>
              <a:rPr sz="4400" spc="-25" dirty="0">
                <a:solidFill>
                  <a:srgbClr val="455F51"/>
                </a:solidFill>
              </a:rPr>
              <a:t> </a:t>
            </a:r>
            <a:r>
              <a:rPr sz="4400" dirty="0">
                <a:solidFill>
                  <a:srgbClr val="455F51"/>
                </a:solidFill>
              </a:rPr>
              <a:t>đề</a:t>
            </a:r>
            <a:r>
              <a:rPr sz="4400" spc="-25" dirty="0">
                <a:solidFill>
                  <a:srgbClr val="455F51"/>
                </a:solidFill>
              </a:rPr>
              <a:t> </a:t>
            </a:r>
            <a:r>
              <a:rPr sz="4400" dirty="0">
                <a:solidFill>
                  <a:srgbClr val="455F51"/>
                </a:solidFill>
              </a:rPr>
              <a:t>tương</a:t>
            </a:r>
            <a:r>
              <a:rPr sz="4400" spc="5" dirty="0">
                <a:solidFill>
                  <a:srgbClr val="455F51"/>
                </a:solidFill>
              </a:rPr>
              <a:t> </a:t>
            </a:r>
            <a:r>
              <a:rPr sz="4400" spc="-10" dirty="0">
                <a:solidFill>
                  <a:srgbClr val="455F51"/>
                </a:solidFill>
              </a:rPr>
              <a:t>đương</a:t>
            </a:r>
            <a:endParaRPr sz="440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36</a:t>
            </a:fld>
            <a:endParaRPr spc="-25" dirty="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062482" y="3795265"/>
          <a:ext cx="4310378" cy="1864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7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2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800" spc="-25" dirty="0">
                          <a:latin typeface="Palatino Linotype"/>
                          <a:cs typeface="Palatino Linotype"/>
                        </a:rPr>
                        <a:t>A</a:t>
                      </a:r>
                      <a:r>
                        <a:rPr sz="2800" spc="-17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800" dirty="0">
                          <a:latin typeface="Symbol"/>
                          <a:cs typeface="Symbol"/>
                        </a:rPr>
                        <a:t>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0" dirty="0">
                          <a:latin typeface="Palatino Linotype"/>
                          <a:cs typeface="Palatino Linotype"/>
                        </a:rPr>
                        <a:t>TRUE</a:t>
                      </a:r>
                      <a:endParaRPr sz="2800">
                        <a:latin typeface="Palatino Linotype"/>
                        <a:cs typeface="Palatino Linotype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800" spc="-50" dirty="0">
                          <a:latin typeface="Wingdings"/>
                          <a:cs typeface="Wingdings"/>
                        </a:rPr>
                        <a:t></a:t>
                      </a:r>
                      <a:endParaRPr sz="2800">
                        <a:latin typeface="Wingdings"/>
                        <a:cs typeface="Wingdings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800" b="1" spc="-20" dirty="0">
                          <a:latin typeface="Palatino Linotype"/>
                          <a:cs typeface="Palatino Linotype"/>
                        </a:rPr>
                        <a:t>TRUE</a:t>
                      </a:r>
                      <a:endParaRPr sz="2800">
                        <a:latin typeface="Palatino Linotype"/>
                        <a:cs typeface="Palatino Linotype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800" b="1" dirty="0">
                          <a:latin typeface="Palatino Linotype"/>
                          <a:cs typeface="Palatino Linotype"/>
                        </a:rPr>
                        <a:t>A</a:t>
                      </a:r>
                      <a:r>
                        <a:rPr sz="2800" b="1" spc="-2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800" dirty="0">
                          <a:latin typeface="Symbol"/>
                          <a:cs typeface="Symbol"/>
                        </a:rPr>
                        <a:t>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Palatino Linotype"/>
                          <a:cs typeface="Palatino Linotype"/>
                        </a:rPr>
                        <a:t>FALSE</a:t>
                      </a:r>
                      <a:endParaRPr sz="2800">
                        <a:latin typeface="Palatino Linotype"/>
                        <a:cs typeface="Palatino Linotype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800" spc="-50" dirty="0">
                          <a:latin typeface="Wingdings"/>
                          <a:cs typeface="Wingdings"/>
                        </a:rPr>
                        <a:t></a:t>
                      </a:r>
                      <a:endParaRPr sz="2800">
                        <a:latin typeface="Wingdings"/>
                        <a:cs typeface="Wingding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800" b="1" spc="-50" dirty="0">
                          <a:latin typeface="Palatino Linotype"/>
                          <a:cs typeface="Palatino Linotype"/>
                        </a:rPr>
                        <a:t>A</a:t>
                      </a:r>
                      <a:endParaRPr sz="2800">
                        <a:latin typeface="Palatino Linotype"/>
                        <a:cs typeface="Palatino Linotype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2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800" b="1" dirty="0">
                          <a:latin typeface="Palatino Linotype"/>
                          <a:cs typeface="Palatino Linotype"/>
                        </a:rPr>
                        <a:t>A</a:t>
                      </a:r>
                      <a:r>
                        <a:rPr sz="2800" b="1" spc="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800" dirty="0">
                          <a:latin typeface="Symbol"/>
                          <a:cs typeface="Symbol"/>
                        </a:rPr>
                        <a:t></a:t>
                      </a:r>
                      <a:r>
                        <a:rPr sz="2800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0" dirty="0">
                          <a:latin typeface="Palatino Linotype"/>
                          <a:cs typeface="Palatino Linotype"/>
                        </a:rPr>
                        <a:t>A</a:t>
                      </a:r>
                      <a:endParaRPr sz="2800">
                        <a:latin typeface="Palatino Linotype"/>
                        <a:cs typeface="Palatino Linotype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800" spc="-50" dirty="0">
                          <a:latin typeface="Wingdings"/>
                          <a:cs typeface="Wingdings"/>
                        </a:rPr>
                        <a:t></a:t>
                      </a:r>
                      <a:endParaRPr sz="2800">
                        <a:latin typeface="Wingdings"/>
                        <a:cs typeface="Wingding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800" b="1" spc="-50" dirty="0">
                          <a:latin typeface="Palatino Linotype"/>
                          <a:cs typeface="Palatino Linotype"/>
                        </a:rPr>
                        <a:t>A</a:t>
                      </a:r>
                      <a:endParaRPr sz="2800">
                        <a:latin typeface="Palatino Linotype"/>
                        <a:cs typeface="Palatino Linotype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800" b="1" dirty="0">
                          <a:latin typeface="Palatino Linotype"/>
                          <a:cs typeface="Palatino Linotype"/>
                        </a:rPr>
                        <a:t>A</a:t>
                      </a:r>
                      <a:r>
                        <a:rPr sz="2800" b="1" spc="-2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800" dirty="0">
                          <a:latin typeface="Symbol"/>
                          <a:cs typeface="Symbol"/>
                        </a:rPr>
                        <a:t>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Symbol"/>
                          <a:cs typeface="Symbol"/>
                        </a:rPr>
                        <a:t>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0" dirty="0">
                          <a:latin typeface="Palatino Linotype"/>
                          <a:cs typeface="Palatino Linotype"/>
                        </a:rPr>
                        <a:t>A</a:t>
                      </a:r>
                      <a:endParaRPr sz="2800">
                        <a:latin typeface="Palatino Linotype"/>
                        <a:cs typeface="Palatino Linotype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800" spc="-50" dirty="0">
                          <a:latin typeface="Wingdings"/>
                          <a:cs typeface="Wingdings"/>
                        </a:rPr>
                        <a:t></a:t>
                      </a:r>
                      <a:endParaRPr sz="2800">
                        <a:latin typeface="Wingdings"/>
                        <a:cs typeface="Wingding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800" b="1" spc="-20" dirty="0">
                          <a:latin typeface="Palatino Linotype"/>
                          <a:cs typeface="Palatino Linotype"/>
                        </a:rPr>
                        <a:t>TRUE</a:t>
                      </a:r>
                      <a:endParaRPr sz="2800">
                        <a:latin typeface="Palatino Linotype"/>
                        <a:cs typeface="Palatino Linotype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668017"/>
            <a:ext cx="18097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95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b="1" dirty="0">
                <a:solidFill>
                  <a:srgbClr val="FF0000"/>
                </a:solidFill>
                <a:latin typeface="Palatino Linotype"/>
                <a:cs typeface="Palatino Linotype"/>
              </a:rPr>
              <a:t>Dạng</a:t>
            </a:r>
            <a:r>
              <a:rPr sz="2800" b="1" spc="-6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Palatino Linotype"/>
                <a:cs typeface="Palatino Linotype"/>
              </a:rPr>
              <a:t>hội</a:t>
            </a:r>
            <a:endParaRPr sz="2800">
              <a:latin typeface="Palatino Linotype"/>
              <a:cs typeface="Palatino Linotype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62482" y="2148472"/>
          <a:ext cx="4276724" cy="1599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4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5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latin typeface="Palatino Linotype"/>
                          <a:cs typeface="Palatino Linotype"/>
                        </a:rPr>
                        <a:t>A</a:t>
                      </a:r>
                      <a:r>
                        <a:rPr sz="240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Symbol"/>
                          <a:cs typeface="Symbol"/>
                        </a:rPr>
                        <a:t>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0" dirty="0">
                          <a:latin typeface="Palatino Linotype"/>
                          <a:cs typeface="Palatino Linotype"/>
                        </a:rPr>
                        <a:t>TRUE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28829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spc="-50" dirty="0">
                          <a:latin typeface="Wingdings"/>
                          <a:cs typeface="Wingdings"/>
                        </a:rPr>
                        <a:t></a:t>
                      </a:r>
                      <a:endParaRPr sz="2400">
                        <a:latin typeface="Wingdings"/>
                        <a:cs typeface="Wingdings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b="1" spc="-50" dirty="0">
                          <a:latin typeface="Palatino Linotype"/>
                          <a:cs typeface="Palatino Linotype"/>
                        </a:rPr>
                        <a:t>A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b="1" dirty="0">
                          <a:latin typeface="Palatino Linotype"/>
                          <a:cs typeface="Palatino Linotype"/>
                        </a:rPr>
                        <a:t>A</a:t>
                      </a:r>
                      <a:r>
                        <a:rPr sz="2400" b="1" spc="-2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Symbol"/>
                          <a:cs typeface="Symbol"/>
                        </a:rPr>
                        <a:t>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Palatino Linotype"/>
                          <a:cs typeface="Palatino Linotype"/>
                        </a:rPr>
                        <a:t>FALSE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R="287655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0" dirty="0">
                          <a:latin typeface="Wingdings"/>
                          <a:cs typeface="Wingdings"/>
                        </a:rPr>
                        <a:t></a:t>
                      </a:r>
                      <a:endParaRPr sz="2400">
                        <a:latin typeface="Wingdings"/>
                        <a:cs typeface="Wingdings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b="1" spc="-10" dirty="0">
                          <a:latin typeface="Palatino Linotype"/>
                          <a:cs typeface="Palatino Linotype"/>
                        </a:rPr>
                        <a:t>FALSE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635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b="1" dirty="0">
                          <a:latin typeface="Palatino Linotype"/>
                          <a:cs typeface="Palatino Linotype"/>
                        </a:rPr>
                        <a:t>A</a:t>
                      </a:r>
                      <a:r>
                        <a:rPr sz="2400" b="1" spc="-1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Symbol"/>
                          <a:cs typeface="Symbol"/>
                        </a:rPr>
                        <a:t></a:t>
                      </a:r>
                      <a:r>
                        <a:rPr sz="24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60" dirty="0">
                          <a:latin typeface="Palatino Linotype"/>
                          <a:cs typeface="Palatino Linotype"/>
                        </a:rPr>
                        <a:t>A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R="288290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0" dirty="0">
                          <a:latin typeface="Wingdings"/>
                          <a:cs typeface="Wingdings"/>
                        </a:rPr>
                        <a:t></a:t>
                      </a:r>
                      <a:endParaRPr sz="2400">
                        <a:latin typeface="Wingdings"/>
                        <a:cs typeface="Wingdings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b="1" spc="-50" dirty="0">
                          <a:latin typeface="Palatino Linotype"/>
                          <a:cs typeface="Palatino Linotype"/>
                        </a:rPr>
                        <a:t>A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635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5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b="1" dirty="0">
                          <a:latin typeface="Palatino Linotype"/>
                          <a:cs typeface="Palatino Linotype"/>
                        </a:rPr>
                        <a:t>A</a:t>
                      </a:r>
                      <a:r>
                        <a:rPr sz="2400" b="1" spc="-2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Symbol"/>
                          <a:cs typeface="Symbol"/>
                        </a:rPr>
                        <a:t>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Symbol"/>
                          <a:cs typeface="Symbol"/>
                        </a:rPr>
                        <a:t>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50" dirty="0">
                          <a:latin typeface="Palatino Linotype"/>
                          <a:cs typeface="Palatino Linotype"/>
                        </a:rPr>
                        <a:t>A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R="288290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0" dirty="0">
                          <a:latin typeface="Wingdings"/>
                          <a:cs typeface="Wingdings"/>
                        </a:rPr>
                        <a:t></a:t>
                      </a:r>
                      <a:endParaRPr sz="2400">
                        <a:latin typeface="Wingdings"/>
                        <a:cs typeface="Wingdings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b="1" spc="-10" dirty="0">
                          <a:latin typeface="Palatino Linotype"/>
                          <a:cs typeface="Palatino Linotype"/>
                        </a:rPr>
                        <a:t>FALSE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635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88340" y="3743959"/>
            <a:ext cx="34499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2400" b="1" dirty="0">
                <a:solidFill>
                  <a:srgbClr val="FF0000"/>
                </a:solidFill>
                <a:latin typeface="Palatino Linotype"/>
                <a:cs typeface="Palatino Linotype"/>
              </a:rPr>
              <a:t>Dạng</a:t>
            </a:r>
            <a:r>
              <a:rPr sz="2400" b="1" spc="-2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400" b="1" dirty="0">
                <a:solidFill>
                  <a:srgbClr val="FF0000"/>
                </a:solidFill>
                <a:latin typeface="Palatino Linotype"/>
                <a:cs typeface="Palatino Linotype"/>
              </a:rPr>
              <a:t>kéo</a:t>
            </a:r>
            <a:r>
              <a:rPr sz="2400" b="1" spc="-3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400" b="1" dirty="0">
                <a:solidFill>
                  <a:srgbClr val="FF0000"/>
                </a:solidFill>
                <a:latin typeface="Palatino Linotype"/>
                <a:cs typeface="Palatino Linotype"/>
              </a:rPr>
              <a:t>theo</a:t>
            </a:r>
            <a:r>
              <a:rPr sz="2400" b="1" spc="-2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400" b="1" dirty="0">
                <a:solidFill>
                  <a:srgbClr val="FF0000"/>
                </a:solidFill>
                <a:latin typeface="Palatino Linotype"/>
                <a:cs typeface="Palatino Linotype"/>
              </a:rPr>
              <a:t>(suy</a:t>
            </a:r>
            <a:r>
              <a:rPr sz="2400" b="1" spc="-25" dirty="0">
                <a:solidFill>
                  <a:srgbClr val="FF0000"/>
                </a:solidFill>
                <a:latin typeface="Palatino Linotype"/>
                <a:cs typeface="Palatino Linotype"/>
              </a:rPr>
              <a:t> ra)</a:t>
            </a:r>
            <a:endParaRPr sz="2400">
              <a:latin typeface="Palatino Linotype"/>
              <a:cs typeface="Palatino Linotype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62482" y="4160100"/>
          <a:ext cx="4171949" cy="200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1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400" dirty="0">
                          <a:latin typeface="Palatino Linotype"/>
                          <a:cs typeface="Palatino Linotype"/>
                        </a:rPr>
                        <a:t>A</a:t>
                      </a:r>
                      <a:r>
                        <a:rPr sz="2400" spc="-14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Symbol"/>
                          <a:cs typeface="Symbol"/>
                        </a:rPr>
                        <a:t>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0" dirty="0">
                          <a:latin typeface="Palatino Linotype"/>
                          <a:cs typeface="Palatino Linotype"/>
                        </a:rPr>
                        <a:t>TRUE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400" spc="-50" dirty="0">
                          <a:latin typeface="Wingdings"/>
                          <a:cs typeface="Wingdings"/>
                        </a:rPr>
                        <a:t></a:t>
                      </a:r>
                      <a:endParaRPr sz="2400">
                        <a:latin typeface="Wingdings"/>
                        <a:cs typeface="Wingdings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400" b="1" spc="-20" dirty="0">
                          <a:latin typeface="Palatino Linotype"/>
                          <a:cs typeface="Palatino Linotype"/>
                        </a:rPr>
                        <a:t>TRUE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b="1" dirty="0">
                          <a:latin typeface="Palatino Linotype"/>
                          <a:cs typeface="Palatino Linotype"/>
                        </a:rPr>
                        <a:t>A</a:t>
                      </a:r>
                      <a:r>
                        <a:rPr sz="2400" b="1" spc="-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Symbol"/>
                          <a:cs typeface="Symbol"/>
                        </a:rPr>
                        <a:t>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Palatino Linotype"/>
                          <a:cs typeface="Palatino Linotype"/>
                        </a:rPr>
                        <a:t>FALSE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0" dirty="0">
                          <a:latin typeface="Wingdings"/>
                          <a:cs typeface="Wingdings"/>
                        </a:rPr>
                        <a:t></a:t>
                      </a:r>
                      <a:endParaRPr sz="2400">
                        <a:latin typeface="Wingdings"/>
                        <a:cs typeface="Wingdings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25" dirty="0">
                          <a:latin typeface="Symbol"/>
                          <a:cs typeface="Symbol"/>
                        </a:rPr>
                        <a:t></a:t>
                      </a:r>
                      <a:r>
                        <a:rPr sz="2400" b="1" spc="-25" dirty="0">
                          <a:latin typeface="Palatino Linotype"/>
                          <a:cs typeface="Palatino Linotype"/>
                        </a:rPr>
                        <a:t>A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635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dirty="0">
                          <a:latin typeface="Palatino Linotype"/>
                          <a:cs typeface="Palatino Linotype"/>
                        </a:rPr>
                        <a:t>TRUE</a:t>
                      </a:r>
                      <a:r>
                        <a:rPr sz="2400" spc="-3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Symbol"/>
                          <a:cs typeface="Symbol"/>
                        </a:rPr>
                        <a:t></a:t>
                      </a:r>
                      <a:r>
                        <a:rPr sz="24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latin typeface="Palatino Linotype"/>
                          <a:cs typeface="Palatino Linotype"/>
                        </a:rPr>
                        <a:t>A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0" dirty="0">
                          <a:latin typeface="Wingdings"/>
                          <a:cs typeface="Wingdings"/>
                        </a:rPr>
                        <a:t></a:t>
                      </a:r>
                      <a:endParaRPr sz="2400">
                        <a:latin typeface="Wingdings"/>
                        <a:cs typeface="Wingdings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b="1" spc="-50" dirty="0">
                          <a:latin typeface="Palatino Linotype"/>
                          <a:cs typeface="Palatino Linotype"/>
                        </a:rPr>
                        <a:t>A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635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10" dirty="0">
                          <a:latin typeface="Palatino Linotype"/>
                          <a:cs typeface="Palatino Linotype"/>
                        </a:rPr>
                        <a:t>FALSE</a:t>
                      </a:r>
                      <a:r>
                        <a:rPr sz="2400" spc="-7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Symbol"/>
                          <a:cs typeface="Symbol"/>
                        </a:rPr>
                        <a:t></a:t>
                      </a:r>
                      <a:r>
                        <a:rPr sz="2400" spc="-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latin typeface="Palatino Linotype"/>
                          <a:cs typeface="Palatino Linotype"/>
                        </a:rPr>
                        <a:t>A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0" dirty="0">
                          <a:latin typeface="Wingdings"/>
                          <a:cs typeface="Wingdings"/>
                        </a:rPr>
                        <a:t></a:t>
                      </a:r>
                      <a:endParaRPr sz="2400">
                        <a:latin typeface="Wingdings"/>
                        <a:cs typeface="Wingdings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b="1" spc="-20" dirty="0">
                          <a:latin typeface="Palatino Linotype"/>
                          <a:cs typeface="Palatino Linotype"/>
                        </a:rPr>
                        <a:t>TRUE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635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5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0"/>
                        </a:spcBef>
                        <a:tabLst>
                          <a:tab pos="420370" algn="l"/>
                        </a:tabLst>
                      </a:pPr>
                      <a:r>
                        <a:rPr sz="2400" b="1" spc="-50" dirty="0">
                          <a:latin typeface="Palatino Linotype"/>
                          <a:cs typeface="Palatino Linotype"/>
                        </a:rPr>
                        <a:t>A</a:t>
                      </a:r>
                      <a:r>
                        <a:rPr sz="2400" b="1" dirty="0">
                          <a:latin typeface="Palatino Linotype"/>
                          <a:cs typeface="Palatino Linotype"/>
                        </a:rPr>
                        <a:t>	</a:t>
                      </a:r>
                      <a:r>
                        <a:rPr sz="2400" dirty="0">
                          <a:latin typeface="Symbol"/>
                          <a:cs typeface="Symbol"/>
                        </a:rPr>
                        <a:t>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50" dirty="0">
                          <a:latin typeface="Palatino Linotype"/>
                          <a:cs typeface="Palatino Linotype"/>
                        </a:rPr>
                        <a:t>A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spc="-50" dirty="0">
                          <a:latin typeface="Wingdings"/>
                          <a:cs typeface="Wingdings"/>
                        </a:rPr>
                        <a:t></a:t>
                      </a:r>
                      <a:endParaRPr sz="2400">
                        <a:latin typeface="Wingdings"/>
                        <a:cs typeface="Wingdings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400" b="1" spc="-20" dirty="0">
                          <a:latin typeface="Palatino Linotype"/>
                          <a:cs typeface="Palatino Linotype"/>
                        </a:rPr>
                        <a:t>TRUE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635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63652" y="490727"/>
            <a:ext cx="5729605" cy="1229360"/>
            <a:chOff x="263652" y="490727"/>
            <a:chExt cx="5729605" cy="122936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652" y="490727"/>
              <a:ext cx="2032254" cy="122910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6879" y="490727"/>
              <a:ext cx="1255014" cy="122910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72868" y="490727"/>
              <a:ext cx="2041398" cy="122910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26763" y="490727"/>
              <a:ext cx="2166366" cy="1229106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96900" y="636219"/>
            <a:ext cx="50279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455F51"/>
                </a:solidFill>
              </a:rPr>
              <a:t>Mệnh</a:t>
            </a:r>
            <a:r>
              <a:rPr sz="4400" spc="-25" dirty="0">
                <a:solidFill>
                  <a:srgbClr val="455F51"/>
                </a:solidFill>
              </a:rPr>
              <a:t> </a:t>
            </a:r>
            <a:r>
              <a:rPr sz="4400" dirty="0">
                <a:solidFill>
                  <a:srgbClr val="455F51"/>
                </a:solidFill>
              </a:rPr>
              <a:t>đề</a:t>
            </a:r>
            <a:r>
              <a:rPr sz="4400" spc="-25" dirty="0">
                <a:solidFill>
                  <a:srgbClr val="455F51"/>
                </a:solidFill>
              </a:rPr>
              <a:t> </a:t>
            </a:r>
            <a:r>
              <a:rPr sz="4400" dirty="0">
                <a:solidFill>
                  <a:srgbClr val="455F51"/>
                </a:solidFill>
              </a:rPr>
              <a:t>tương</a:t>
            </a:r>
            <a:r>
              <a:rPr sz="4400" spc="5" dirty="0">
                <a:solidFill>
                  <a:srgbClr val="455F51"/>
                </a:solidFill>
              </a:rPr>
              <a:t> </a:t>
            </a:r>
            <a:r>
              <a:rPr sz="4400" spc="-10" dirty="0">
                <a:solidFill>
                  <a:srgbClr val="455F51"/>
                </a:solidFill>
              </a:rPr>
              <a:t>đương</a:t>
            </a:r>
            <a:endParaRPr sz="440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37</a:t>
            </a:fld>
            <a:endParaRPr spc="-25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720214"/>
            <a:chOff x="0" y="0"/>
            <a:chExt cx="12192000" cy="172021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652" y="490727"/>
              <a:ext cx="2032254" cy="122910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6879" y="490727"/>
              <a:ext cx="1255014" cy="122910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72867" y="490727"/>
              <a:ext cx="2041398" cy="122910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26764" y="490727"/>
              <a:ext cx="2166366" cy="122910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88340" y="1946274"/>
            <a:ext cx="25304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95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b="1" dirty="0">
                <a:solidFill>
                  <a:srgbClr val="FF0000"/>
                </a:solidFill>
                <a:latin typeface="Palatino Linotype"/>
                <a:cs typeface="Palatino Linotype"/>
              </a:rPr>
              <a:t>Dạng</a:t>
            </a:r>
            <a:r>
              <a:rPr sz="2800" b="1" spc="-6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800" b="1" dirty="0">
                <a:solidFill>
                  <a:srgbClr val="FF0000"/>
                </a:solidFill>
                <a:latin typeface="Palatino Linotype"/>
                <a:cs typeface="Palatino Linotype"/>
              </a:rPr>
              <a:t>hấp</a:t>
            </a:r>
            <a:r>
              <a:rPr sz="2800" b="1" spc="-5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Palatino Linotype"/>
                <a:cs typeface="Palatino Linotype"/>
              </a:rPr>
              <a:t>thu</a:t>
            </a:r>
            <a:endParaRPr sz="2800">
              <a:latin typeface="Palatino Linotype"/>
              <a:cs typeface="Palatino Linotyp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9646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455F51"/>
                </a:solidFill>
              </a:rPr>
              <a:t>Mệnh</a:t>
            </a:r>
            <a:r>
              <a:rPr sz="4400" spc="-25" dirty="0">
                <a:solidFill>
                  <a:srgbClr val="455F51"/>
                </a:solidFill>
              </a:rPr>
              <a:t> </a:t>
            </a:r>
            <a:r>
              <a:rPr sz="4400" dirty="0">
                <a:solidFill>
                  <a:srgbClr val="455F51"/>
                </a:solidFill>
              </a:rPr>
              <a:t>đề</a:t>
            </a:r>
            <a:r>
              <a:rPr sz="4400" spc="-25" dirty="0">
                <a:solidFill>
                  <a:srgbClr val="455F51"/>
                </a:solidFill>
              </a:rPr>
              <a:t> </a:t>
            </a:r>
            <a:r>
              <a:rPr sz="4400" dirty="0">
                <a:solidFill>
                  <a:srgbClr val="455F51"/>
                </a:solidFill>
              </a:rPr>
              <a:t>tương</a:t>
            </a:r>
            <a:r>
              <a:rPr sz="4400" spc="5" dirty="0">
                <a:solidFill>
                  <a:srgbClr val="455F51"/>
                </a:solidFill>
              </a:rPr>
              <a:t> </a:t>
            </a:r>
            <a:r>
              <a:rPr sz="4400" spc="-10" dirty="0">
                <a:solidFill>
                  <a:srgbClr val="455F51"/>
                </a:solidFill>
              </a:rPr>
              <a:t>đương</a:t>
            </a:r>
            <a:endParaRPr sz="440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38</a:t>
            </a:fld>
            <a:endParaRPr spc="-25" dirty="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062482" y="2463305"/>
          <a:ext cx="3937634" cy="17087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6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5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9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latin typeface="Palatino Linotype"/>
                          <a:cs typeface="Palatino Linotype"/>
                        </a:rPr>
                        <a:t>A</a:t>
                      </a:r>
                      <a:r>
                        <a:rPr sz="240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Symbol"/>
                          <a:cs typeface="Symbol"/>
                        </a:rPr>
                        <a:t></a:t>
                      </a: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Palatino Linotype"/>
                          <a:cs typeface="Palatino Linotype"/>
                        </a:rPr>
                        <a:t>(A</a:t>
                      </a:r>
                      <a:r>
                        <a:rPr sz="240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Symbol"/>
                          <a:cs typeface="Symbol"/>
                        </a:rPr>
                        <a:t>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5" dirty="0">
                          <a:latin typeface="Palatino Linotype"/>
                          <a:cs typeface="Palatino Linotype"/>
                        </a:rPr>
                        <a:t>B)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spc="-50" dirty="0">
                          <a:latin typeface="Wingdings"/>
                          <a:cs typeface="Wingdings"/>
                        </a:rPr>
                        <a:t></a:t>
                      </a:r>
                      <a:endParaRPr sz="2400">
                        <a:latin typeface="Wingdings"/>
                        <a:cs typeface="Wingdings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b="1" spc="-50" dirty="0">
                          <a:latin typeface="Palatino Linotype"/>
                          <a:cs typeface="Palatino Linotype"/>
                        </a:rPr>
                        <a:t>A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dirty="0">
                          <a:latin typeface="Palatino Linotype"/>
                          <a:cs typeface="Palatino Linotype"/>
                        </a:rPr>
                        <a:t>A</a:t>
                      </a:r>
                      <a:r>
                        <a:rPr sz="2400" spc="-1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Symbol"/>
                          <a:cs typeface="Symbol"/>
                        </a:rPr>
                        <a:t>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Palatino Linotype"/>
                          <a:cs typeface="Palatino Linotype"/>
                        </a:rPr>
                        <a:t>(A</a:t>
                      </a:r>
                      <a:r>
                        <a:rPr sz="2400" spc="-14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Symbol"/>
                          <a:cs typeface="Symbol"/>
                        </a:rPr>
                        <a:t></a:t>
                      </a: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5" dirty="0">
                          <a:latin typeface="Palatino Linotype"/>
                          <a:cs typeface="Palatino Linotype"/>
                        </a:rPr>
                        <a:t>B)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spc="-50" dirty="0">
                          <a:latin typeface="Wingdings"/>
                          <a:cs typeface="Wingdings"/>
                        </a:rPr>
                        <a:t></a:t>
                      </a:r>
                      <a:endParaRPr sz="2400">
                        <a:latin typeface="Wingdings"/>
                        <a:cs typeface="Wingdings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spc="-50" dirty="0">
                          <a:latin typeface="Palatino Linotype"/>
                          <a:cs typeface="Palatino Linotype"/>
                        </a:rPr>
                        <a:t>A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2413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78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dirty="0">
                          <a:latin typeface="Palatino Linotype"/>
                          <a:cs typeface="Palatino Linotype"/>
                        </a:rPr>
                        <a:t>A</a:t>
                      </a:r>
                      <a:r>
                        <a:rPr sz="240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Symbol"/>
                          <a:cs typeface="Symbol"/>
                        </a:rPr>
                        <a:t>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Palatino Linotype"/>
                          <a:cs typeface="Palatino Linotype"/>
                        </a:rPr>
                        <a:t>(</a:t>
                      </a:r>
                      <a:r>
                        <a:rPr sz="2400" dirty="0">
                          <a:latin typeface="Symbol"/>
                          <a:cs typeface="Symbol"/>
                        </a:rPr>
                        <a:t></a:t>
                      </a:r>
                      <a:r>
                        <a:rPr sz="2400" dirty="0">
                          <a:latin typeface="Palatino Linotype"/>
                          <a:cs typeface="Palatino Linotype"/>
                        </a:rPr>
                        <a:t>A</a:t>
                      </a:r>
                      <a:r>
                        <a:rPr sz="2400" spc="-16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Symbol"/>
                          <a:cs typeface="Symbol"/>
                        </a:rPr>
                        <a:t>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5" dirty="0">
                          <a:latin typeface="Palatino Linotype"/>
                          <a:cs typeface="Palatino Linotype"/>
                        </a:rPr>
                        <a:t>B)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spc="-50" dirty="0">
                          <a:latin typeface="Wingdings"/>
                          <a:cs typeface="Wingdings"/>
                        </a:rPr>
                        <a:t></a:t>
                      </a:r>
                      <a:endParaRPr sz="2400">
                        <a:latin typeface="Wingdings"/>
                        <a:cs typeface="Wingdings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spc="-25" dirty="0">
                          <a:latin typeface="Palatino Linotype"/>
                          <a:cs typeface="Palatino Linotype"/>
                        </a:rPr>
                        <a:t>A</a:t>
                      </a:r>
                      <a:r>
                        <a:rPr sz="2400" spc="-25" dirty="0">
                          <a:latin typeface="Symbol"/>
                          <a:cs typeface="Symbol"/>
                        </a:rPr>
                        <a:t></a:t>
                      </a:r>
                      <a:r>
                        <a:rPr sz="2400" spc="-25" dirty="0">
                          <a:latin typeface="Palatino Linotype"/>
                          <a:cs typeface="Palatino Linotype"/>
                        </a:rPr>
                        <a:t>B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2476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dirty="0">
                          <a:latin typeface="Palatino Linotype"/>
                          <a:cs typeface="Palatino Linotype"/>
                        </a:rPr>
                        <a:t>A</a:t>
                      </a:r>
                      <a:r>
                        <a:rPr sz="2400" spc="-14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Symbol"/>
                          <a:cs typeface="Symbol"/>
                        </a:rPr>
                        <a:t>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Palatino Linotype"/>
                          <a:cs typeface="Palatino Linotype"/>
                        </a:rPr>
                        <a:t>(</a:t>
                      </a:r>
                      <a:r>
                        <a:rPr sz="2400" spc="-10" dirty="0">
                          <a:latin typeface="Symbol"/>
                          <a:cs typeface="Symbol"/>
                        </a:rPr>
                        <a:t></a:t>
                      </a:r>
                      <a:r>
                        <a:rPr sz="2400" spc="-10" dirty="0">
                          <a:latin typeface="Palatino Linotype"/>
                          <a:cs typeface="Palatino Linotype"/>
                        </a:rPr>
                        <a:t>A</a:t>
                      </a:r>
                      <a:r>
                        <a:rPr sz="2400" spc="-16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Symbol"/>
                          <a:cs typeface="Symbol"/>
                        </a:rPr>
                        <a:t>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5" dirty="0">
                          <a:latin typeface="Palatino Linotype"/>
                          <a:cs typeface="Palatino Linotype"/>
                        </a:rPr>
                        <a:t>B)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spc="-50" dirty="0">
                          <a:latin typeface="Wingdings"/>
                          <a:cs typeface="Wingdings"/>
                        </a:rPr>
                        <a:t></a:t>
                      </a:r>
                      <a:endParaRPr sz="2400">
                        <a:latin typeface="Wingdings"/>
                        <a:cs typeface="Wingdings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spc="-25" dirty="0">
                          <a:latin typeface="Palatino Linotype"/>
                          <a:cs typeface="Palatino Linotype"/>
                        </a:rPr>
                        <a:t>A</a:t>
                      </a:r>
                      <a:r>
                        <a:rPr sz="2400" spc="-25" dirty="0">
                          <a:latin typeface="Symbol"/>
                          <a:cs typeface="Symbol"/>
                        </a:rPr>
                        <a:t></a:t>
                      </a:r>
                      <a:r>
                        <a:rPr sz="2400" spc="-25" dirty="0">
                          <a:latin typeface="Palatino Linotype"/>
                          <a:cs typeface="Palatino Linotype"/>
                        </a:rPr>
                        <a:t>B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2476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688340" y="4214240"/>
            <a:ext cx="31210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95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b="1" dirty="0">
                <a:solidFill>
                  <a:srgbClr val="FF0000"/>
                </a:solidFill>
                <a:latin typeface="Palatino Linotype"/>
                <a:cs typeface="Palatino Linotype"/>
              </a:rPr>
              <a:t>Dạng</a:t>
            </a:r>
            <a:r>
              <a:rPr sz="2800" b="1" spc="-5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800" b="1" dirty="0">
                <a:solidFill>
                  <a:srgbClr val="FF0000"/>
                </a:solidFill>
                <a:latin typeface="Palatino Linotype"/>
                <a:cs typeface="Palatino Linotype"/>
              </a:rPr>
              <a:t>De</a:t>
            </a:r>
            <a:r>
              <a:rPr sz="2800" b="1" spc="-6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Palatino Linotype"/>
                <a:cs typeface="Palatino Linotype"/>
              </a:rPr>
              <a:t>Morgan</a:t>
            </a:r>
            <a:endParaRPr sz="2800">
              <a:latin typeface="Palatino Linotype"/>
              <a:cs typeface="Palatino Linotype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062482" y="4731272"/>
          <a:ext cx="3626485" cy="831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9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925">
                <a:tc>
                  <a:txBody>
                    <a:bodyPr/>
                    <a:lstStyle/>
                    <a:p>
                      <a:pPr marR="59055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latin typeface="Symbol"/>
                          <a:cs typeface="Symbol"/>
                        </a:rPr>
                        <a:t>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Palatino Linotype"/>
                          <a:cs typeface="Palatino Linotype"/>
                        </a:rPr>
                        <a:t>(A</a:t>
                      </a:r>
                      <a:r>
                        <a:rPr sz="240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Symbol"/>
                          <a:cs typeface="Symbol"/>
                        </a:rPr>
                        <a:t>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5" dirty="0">
                          <a:latin typeface="Palatino Linotype"/>
                          <a:cs typeface="Palatino Linotype"/>
                        </a:rPr>
                        <a:t>B)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spc="-50" dirty="0">
                          <a:latin typeface="Wingdings"/>
                          <a:cs typeface="Wingdings"/>
                        </a:rPr>
                        <a:t></a:t>
                      </a:r>
                      <a:endParaRPr sz="2400">
                        <a:latin typeface="Wingdings"/>
                        <a:cs typeface="Wingdings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latin typeface="Symbol"/>
                          <a:cs typeface="Symbol"/>
                        </a:rPr>
                        <a:t></a:t>
                      </a:r>
                      <a:r>
                        <a:rPr sz="2400" b="1" dirty="0">
                          <a:latin typeface="Palatino Linotype"/>
                          <a:cs typeface="Palatino Linotype"/>
                        </a:rPr>
                        <a:t>A</a:t>
                      </a:r>
                      <a:r>
                        <a:rPr sz="2400" b="1" spc="-3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Symbol"/>
                          <a:cs typeface="Symbol"/>
                        </a:rPr>
                        <a:t>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5" dirty="0">
                          <a:latin typeface="Symbol"/>
                          <a:cs typeface="Symbol"/>
                        </a:rPr>
                        <a:t></a:t>
                      </a:r>
                      <a:r>
                        <a:rPr sz="2400" b="1" spc="-25" dirty="0">
                          <a:latin typeface="Palatino Linotype"/>
                          <a:cs typeface="Palatino Linotype"/>
                        </a:rPr>
                        <a:t>B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marR="5905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dirty="0">
                          <a:latin typeface="Symbol"/>
                          <a:cs typeface="Symbol"/>
                        </a:rPr>
                        <a:t>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Palatino Linotype"/>
                          <a:cs typeface="Palatino Linotype"/>
                        </a:rPr>
                        <a:t>(A</a:t>
                      </a:r>
                      <a:r>
                        <a:rPr sz="240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Symbol"/>
                          <a:cs typeface="Symbol"/>
                        </a:rPr>
                        <a:t>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5" dirty="0">
                          <a:latin typeface="Palatino Linotype"/>
                          <a:cs typeface="Palatino Linotype"/>
                        </a:rPr>
                        <a:t>B)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spc="-50" dirty="0">
                          <a:latin typeface="Wingdings"/>
                          <a:cs typeface="Wingdings"/>
                        </a:rPr>
                        <a:t></a:t>
                      </a:r>
                      <a:endParaRPr sz="2400">
                        <a:latin typeface="Wingdings"/>
                        <a:cs typeface="Wingdings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400" dirty="0">
                          <a:latin typeface="Symbol"/>
                          <a:cs typeface="Symbol"/>
                        </a:rPr>
                        <a:t></a:t>
                      </a:r>
                      <a:r>
                        <a:rPr sz="2400" b="1" dirty="0">
                          <a:latin typeface="Palatino Linotype"/>
                          <a:cs typeface="Palatino Linotype"/>
                        </a:rPr>
                        <a:t>A</a:t>
                      </a:r>
                      <a:r>
                        <a:rPr sz="2400" b="1" spc="-3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Symbol"/>
                          <a:cs typeface="Symbol"/>
                        </a:rPr>
                        <a:t>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5" dirty="0">
                          <a:latin typeface="Symbol"/>
                          <a:cs typeface="Symbol"/>
                        </a:rPr>
                        <a:t></a:t>
                      </a:r>
                      <a:r>
                        <a:rPr sz="2400" b="1" spc="-25" dirty="0">
                          <a:latin typeface="Palatino Linotype"/>
                          <a:cs typeface="Palatino Linotype"/>
                        </a:rPr>
                        <a:t>B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2476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549400"/>
            <a:chOff x="0" y="0"/>
            <a:chExt cx="12192000" cy="1549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932" y="156971"/>
              <a:ext cx="2305050" cy="13921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59279" y="156971"/>
              <a:ext cx="1421130" cy="13921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18232" y="156971"/>
              <a:ext cx="2315718" cy="13921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68723" y="156971"/>
              <a:ext cx="2457450" cy="139217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88340" y="1896821"/>
            <a:ext cx="361378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5"/>
              </a:spcBef>
              <a:buClr>
                <a:srgbClr val="C0CF39"/>
              </a:buClr>
              <a:buSzPct val="95000"/>
              <a:buFont typeface="Wingdings 2"/>
              <a:buChar char=""/>
              <a:tabLst>
                <a:tab pos="286385" algn="l"/>
              </a:tabLst>
            </a:pP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Dạng</a:t>
            </a:r>
            <a:r>
              <a:rPr sz="2000" b="1" spc="-3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biến</a:t>
            </a:r>
            <a:r>
              <a:rPr sz="2000" b="1" spc="-1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đổi</a:t>
            </a:r>
            <a:r>
              <a:rPr sz="2000" b="1" spc="-2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dirty="0">
                <a:solidFill>
                  <a:srgbClr val="FF0000"/>
                </a:solidFill>
                <a:latin typeface="Palatino Linotype"/>
                <a:cs typeface="Palatino Linotype"/>
              </a:rPr>
              <a:t>tương</a:t>
            </a:r>
            <a:r>
              <a:rPr sz="2000" b="1" spc="-1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Palatino Linotype"/>
                <a:cs typeface="Palatino Linotype"/>
              </a:rPr>
              <a:t>đương:</a:t>
            </a:r>
            <a:endParaRPr sz="2000">
              <a:latin typeface="Palatino Linotype"/>
              <a:cs typeface="Palatino Linotyp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591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105"/>
              </a:spcBef>
            </a:pPr>
            <a:r>
              <a:rPr sz="5000" dirty="0">
                <a:solidFill>
                  <a:srgbClr val="455F51"/>
                </a:solidFill>
              </a:rPr>
              <a:t>Mệnh</a:t>
            </a:r>
            <a:r>
              <a:rPr sz="5000" spc="-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đề</a:t>
            </a:r>
            <a:r>
              <a:rPr sz="5000" spc="-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tương</a:t>
            </a:r>
            <a:r>
              <a:rPr sz="5000" spc="-5" dirty="0">
                <a:solidFill>
                  <a:srgbClr val="455F51"/>
                </a:solidFill>
              </a:rPr>
              <a:t> </a:t>
            </a:r>
            <a:r>
              <a:rPr sz="5000" spc="-10" dirty="0">
                <a:solidFill>
                  <a:srgbClr val="455F51"/>
                </a:solidFill>
              </a:rPr>
              <a:t>đương</a:t>
            </a:r>
            <a:endParaRPr sz="500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39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1532" y="2202307"/>
            <a:ext cx="1767839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11935" algn="l"/>
              </a:tabLst>
            </a:pPr>
            <a:r>
              <a:rPr sz="2000" dirty="0">
                <a:latin typeface="Palatino Linotype"/>
                <a:cs typeface="Palatino Linotype"/>
              </a:rPr>
              <a:t>A</a:t>
            </a:r>
            <a:r>
              <a:rPr sz="2000" spc="-12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Palatino Linotype"/>
                <a:cs typeface="Palatino Linotype"/>
              </a:rPr>
              <a:t>B</a:t>
            </a:r>
            <a:r>
              <a:rPr sz="2000" dirty="0">
                <a:latin typeface="Palatino Linotype"/>
                <a:cs typeface="Palatino Linotype"/>
              </a:rPr>
              <a:t>	</a:t>
            </a:r>
            <a:r>
              <a:rPr sz="1800" spc="-50" dirty="0">
                <a:latin typeface="Wingdings"/>
                <a:cs typeface="Wingdings"/>
              </a:rPr>
              <a:t></a:t>
            </a:r>
            <a:endParaRPr sz="18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tabLst>
                <a:tab pos="1511935" algn="l"/>
              </a:tabLst>
            </a:pPr>
            <a:r>
              <a:rPr sz="2000" dirty="0">
                <a:latin typeface="Symbol"/>
                <a:cs typeface="Symbol"/>
              </a:rPr>
              <a:t>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(A</a:t>
            </a:r>
            <a:r>
              <a:rPr sz="2000" spc="-12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Palatino Linotype"/>
                <a:cs typeface="Palatino Linotype"/>
              </a:rPr>
              <a:t>B)</a:t>
            </a:r>
            <a:r>
              <a:rPr sz="2000" dirty="0">
                <a:latin typeface="Palatino Linotype"/>
                <a:cs typeface="Palatino Linotype"/>
              </a:rPr>
              <a:t>	</a:t>
            </a:r>
            <a:r>
              <a:rPr sz="1800" spc="-50" dirty="0">
                <a:latin typeface="Wingdings"/>
                <a:cs typeface="Wingdings"/>
              </a:rPr>
              <a:t></a:t>
            </a:r>
            <a:endParaRPr sz="18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tabLst>
                <a:tab pos="1511935" algn="l"/>
              </a:tabLst>
            </a:pPr>
            <a:r>
              <a:rPr sz="2000" dirty="0">
                <a:latin typeface="Symbol"/>
                <a:cs typeface="Symbol"/>
              </a:rPr>
              <a:t></a:t>
            </a:r>
            <a:r>
              <a:rPr sz="2000" dirty="0">
                <a:latin typeface="Palatino Linotype"/>
                <a:cs typeface="Palatino Linotype"/>
              </a:rPr>
              <a:t>(A</a:t>
            </a:r>
            <a:r>
              <a:rPr sz="2000" spc="-15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Palatino Linotype"/>
                <a:cs typeface="Palatino Linotype"/>
              </a:rPr>
              <a:t>A)</a:t>
            </a:r>
            <a:r>
              <a:rPr sz="2000" dirty="0">
                <a:latin typeface="Palatino Linotype"/>
                <a:cs typeface="Palatino Linotype"/>
              </a:rPr>
              <a:t>	</a:t>
            </a:r>
            <a:r>
              <a:rPr sz="1800" spc="-50" dirty="0">
                <a:latin typeface="Wingdings"/>
                <a:cs typeface="Wingdings"/>
              </a:rPr>
              <a:t></a:t>
            </a:r>
            <a:endParaRPr sz="1800">
              <a:latin typeface="Wingdings"/>
              <a:cs typeface="Wingding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31794" y="2202307"/>
            <a:ext cx="948055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Symbol"/>
                <a:cs typeface="Symbol"/>
              </a:rPr>
              <a:t></a:t>
            </a:r>
            <a:r>
              <a:rPr sz="2000" b="1" dirty="0">
                <a:latin typeface="Palatino Linotype"/>
                <a:cs typeface="Palatino Linotype"/>
              </a:rPr>
              <a:t>A</a:t>
            </a:r>
            <a:r>
              <a:rPr sz="2000" b="1" spc="-2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Symbol"/>
                <a:cs typeface="Symbol"/>
              </a:rPr>
              <a:t>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Palatino Linotype"/>
                <a:cs typeface="Palatino Linotype"/>
              </a:rPr>
              <a:t>B </a:t>
            </a:r>
            <a:r>
              <a:rPr sz="2000" b="1" dirty="0">
                <a:latin typeface="Palatino Linotype"/>
                <a:cs typeface="Palatino Linotype"/>
              </a:rPr>
              <a:t>A  </a:t>
            </a:r>
            <a:r>
              <a:rPr sz="2000" dirty="0">
                <a:latin typeface="Symbol"/>
                <a:cs typeface="Symbol"/>
              </a:rPr>
              <a:t>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Symbol"/>
                <a:cs typeface="Symbol"/>
              </a:rPr>
              <a:t></a:t>
            </a:r>
            <a:r>
              <a:rPr sz="2000" b="1" spc="-25" dirty="0">
                <a:latin typeface="Palatino Linotype"/>
                <a:cs typeface="Palatino Linotype"/>
              </a:rPr>
              <a:t>B </a:t>
            </a:r>
            <a:r>
              <a:rPr sz="2000" b="1" dirty="0">
                <a:latin typeface="Palatino Linotype"/>
                <a:cs typeface="Palatino Linotype"/>
              </a:rPr>
              <a:t>A  </a:t>
            </a:r>
            <a:r>
              <a:rPr sz="2000" dirty="0">
                <a:latin typeface="Symbol"/>
                <a:cs typeface="Symbol"/>
              </a:rPr>
              <a:t>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Symbol"/>
                <a:cs typeface="Symbol"/>
              </a:rPr>
              <a:t></a:t>
            </a:r>
            <a:r>
              <a:rPr sz="2000" b="1" spc="-25" dirty="0">
                <a:latin typeface="Palatino Linotype"/>
                <a:cs typeface="Palatino Linotype"/>
              </a:rPr>
              <a:t>A</a:t>
            </a:r>
            <a:endParaRPr sz="2000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39636" y="2837815"/>
            <a:ext cx="267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Wingdings"/>
                <a:cs typeface="Wingdings"/>
              </a:rPr>
              <a:t></a:t>
            </a:r>
            <a:endParaRPr sz="1800">
              <a:latin typeface="Wingdings"/>
              <a:cs typeface="Wingding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90029" y="2811907"/>
            <a:ext cx="7950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latin typeface="Palatino Linotype"/>
                <a:cs typeface="Palatino Linotype"/>
              </a:rPr>
              <a:t>FALSE</a:t>
            </a:r>
            <a:endParaRPr sz="2000">
              <a:latin typeface="Palatino Linotype"/>
              <a:cs typeface="Palatino Linotyp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8340" y="3116707"/>
            <a:ext cx="7502525" cy="2891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0065">
              <a:lnSpc>
                <a:spcPct val="100000"/>
              </a:lnSpc>
              <a:spcBef>
                <a:spcPts val="105"/>
              </a:spcBef>
              <a:tabLst>
                <a:tab pos="1905635" algn="l"/>
                <a:tab pos="2755900" algn="l"/>
                <a:tab pos="5499735" algn="l"/>
              </a:tabLst>
            </a:pPr>
            <a:r>
              <a:rPr sz="2000" dirty="0">
                <a:latin typeface="Palatino Linotype"/>
                <a:cs typeface="Palatino Linotype"/>
              </a:rPr>
              <a:t>(P</a:t>
            </a:r>
            <a:r>
              <a:rPr sz="2000" spc="-4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Palatino Linotype"/>
                <a:cs typeface="Palatino Linotype"/>
              </a:rPr>
              <a:t>Q)</a:t>
            </a:r>
            <a:r>
              <a:rPr sz="2000" dirty="0">
                <a:latin typeface="Palatino Linotype"/>
                <a:cs typeface="Palatino Linotype"/>
              </a:rPr>
              <a:t>	</a:t>
            </a:r>
            <a:r>
              <a:rPr sz="2000" spc="-50" dirty="0">
                <a:latin typeface="Wingdings"/>
                <a:cs typeface="Wingdings"/>
              </a:rPr>
              <a:t>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b="1" dirty="0">
                <a:latin typeface="Palatino Linotype"/>
                <a:cs typeface="Palatino Linotype"/>
              </a:rPr>
              <a:t>(</a:t>
            </a:r>
            <a:r>
              <a:rPr sz="2000" dirty="0">
                <a:latin typeface="Symbol"/>
                <a:cs typeface="Symbol"/>
              </a:rPr>
              <a:t></a:t>
            </a:r>
            <a:r>
              <a:rPr sz="2000" b="1" dirty="0">
                <a:latin typeface="Palatino Linotype"/>
                <a:cs typeface="Palatino Linotype"/>
              </a:rPr>
              <a:t>Q</a:t>
            </a:r>
            <a:r>
              <a:rPr sz="2000" b="1" spc="-4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Symbol"/>
                <a:cs typeface="Symbol"/>
              </a:rPr>
              <a:t></a:t>
            </a:r>
            <a:r>
              <a:rPr sz="2000" b="1" spc="-25" dirty="0">
                <a:latin typeface="Palatino Linotype"/>
                <a:cs typeface="Palatino Linotype"/>
              </a:rPr>
              <a:t>P)</a:t>
            </a:r>
            <a:r>
              <a:rPr sz="2000" b="1" dirty="0">
                <a:latin typeface="Palatino Linotype"/>
                <a:cs typeface="Palatino Linotype"/>
              </a:rPr>
              <a:t>	</a:t>
            </a:r>
            <a:r>
              <a:rPr sz="2000" dirty="0">
                <a:latin typeface="Palatino Linotype"/>
                <a:cs typeface="Palatino Linotype"/>
              </a:rPr>
              <a:t>(luật</a:t>
            </a:r>
            <a:r>
              <a:rPr sz="2000" spc="-5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tương</a:t>
            </a:r>
            <a:r>
              <a:rPr sz="2000" spc="-15" dirty="0">
                <a:latin typeface="Palatino Linotype"/>
                <a:cs typeface="Palatino Linotype"/>
              </a:rPr>
              <a:t> </a:t>
            </a:r>
            <a:r>
              <a:rPr sz="2000" spc="-10" dirty="0">
                <a:latin typeface="Palatino Linotype"/>
                <a:cs typeface="Palatino Linotype"/>
              </a:rPr>
              <a:t>phản)</a:t>
            </a:r>
            <a:endParaRPr sz="20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buClr>
                <a:srgbClr val="C0CF39"/>
              </a:buClr>
              <a:buSzPct val="95000"/>
              <a:buFont typeface="Wingdings 2"/>
              <a:buChar char=""/>
              <a:tabLst>
                <a:tab pos="286385" algn="l"/>
              </a:tabLst>
            </a:pPr>
            <a:r>
              <a:rPr sz="2000" dirty="0">
                <a:solidFill>
                  <a:srgbClr val="FF0000"/>
                </a:solidFill>
                <a:latin typeface="Palatino Linotype"/>
                <a:cs typeface="Palatino Linotype"/>
              </a:rPr>
              <a:t>Phép</a:t>
            </a:r>
            <a:r>
              <a:rPr sz="2000" spc="-2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dirty="0">
                <a:solidFill>
                  <a:srgbClr val="FF0000"/>
                </a:solidFill>
                <a:latin typeface="Symbol"/>
                <a:cs typeface="Symbol"/>
              </a:rPr>
              <a:t></a:t>
            </a:r>
            <a:r>
              <a:rPr sz="2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Palatino Linotype"/>
                <a:cs typeface="Palatino Linotype"/>
              </a:rPr>
              <a:t>và</a:t>
            </a:r>
            <a:r>
              <a:rPr sz="2000" spc="-1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dirty="0">
                <a:solidFill>
                  <a:srgbClr val="FF0000"/>
                </a:solidFill>
                <a:latin typeface="Symbol"/>
                <a:cs typeface="Symbol"/>
              </a:rPr>
              <a:t>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Palatino Linotype"/>
                <a:cs typeface="Palatino Linotype"/>
              </a:rPr>
              <a:t>có</a:t>
            </a:r>
            <a:r>
              <a:rPr sz="2000" spc="-2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dirty="0">
                <a:solidFill>
                  <a:srgbClr val="FF0000"/>
                </a:solidFill>
                <a:latin typeface="Palatino Linotype"/>
                <a:cs typeface="Palatino Linotype"/>
              </a:rPr>
              <a:t>khả</a:t>
            </a:r>
            <a:r>
              <a:rPr sz="2000" spc="-2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dirty="0">
                <a:solidFill>
                  <a:srgbClr val="FF0000"/>
                </a:solidFill>
                <a:latin typeface="Palatino Linotype"/>
                <a:cs typeface="Palatino Linotype"/>
              </a:rPr>
              <a:t>năng</a:t>
            </a:r>
            <a:r>
              <a:rPr sz="2000" spc="-2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dirty="0">
                <a:solidFill>
                  <a:srgbClr val="FF0000"/>
                </a:solidFill>
                <a:latin typeface="Palatino Linotype"/>
                <a:cs typeface="Palatino Linotype"/>
              </a:rPr>
              <a:t>kết</a:t>
            </a:r>
            <a:r>
              <a:rPr sz="2000" spc="-1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Palatino Linotype"/>
                <a:cs typeface="Palatino Linotype"/>
              </a:rPr>
              <a:t>hợp.</a:t>
            </a:r>
            <a:endParaRPr sz="2000">
              <a:latin typeface="Palatino Linotype"/>
              <a:cs typeface="Palatino Linotype"/>
            </a:endParaRPr>
          </a:p>
          <a:p>
            <a:pPr marL="286385">
              <a:lnSpc>
                <a:spcPts val="2865"/>
              </a:lnSpc>
              <a:spcBef>
                <a:spcPts val="30"/>
              </a:spcBef>
            </a:pPr>
            <a:r>
              <a:rPr sz="2000" dirty="0">
                <a:latin typeface="Palatino Linotype"/>
                <a:cs typeface="Palatino Linotype"/>
              </a:rPr>
              <a:t>A^(B^C)</a:t>
            </a:r>
            <a:r>
              <a:rPr sz="2000" spc="-4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=</a:t>
            </a:r>
            <a:r>
              <a:rPr sz="2000" spc="-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(A^B)^C</a:t>
            </a:r>
            <a:r>
              <a:rPr sz="2000" spc="-5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hay</a:t>
            </a:r>
            <a:r>
              <a:rPr sz="2000" spc="-8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A</a:t>
            </a:r>
            <a:r>
              <a:rPr sz="2000" spc="-15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Symbol"/>
                <a:cs typeface="Symbol"/>
              </a:rPr>
              <a:t>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(B</a:t>
            </a:r>
            <a:r>
              <a:rPr sz="2000" spc="-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Symbol"/>
                <a:cs typeface="Symbol"/>
              </a:rPr>
              <a:t>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C)</a:t>
            </a:r>
            <a:r>
              <a:rPr sz="2000" spc="-1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= (A</a:t>
            </a:r>
            <a:r>
              <a:rPr sz="2000" spc="-1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Symbol"/>
                <a:cs typeface="Symbol"/>
              </a:rPr>
              <a:t>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B)</a:t>
            </a:r>
            <a:r>
              <a:rPr sz="2000" spc="-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Symbol"/>
                <a:cs typeface="Symbol"/>
              </a:rPr>
              <a:t>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Palatino Linotype"/>
                <a:cs typeface="Palatino Linotype"/>
              </a:rPr>
              <a:t>C</a:t>
            </a:r>
            <a:endParaRPr sz="2000">
              <a:latin typeface="Palatino Linotype"/>
              <a:cs typeface="Palatino Linotype"/>
            </a:endParaRPr>
          </a:p>
          <a:p>
            <a:pPr marL="286385" indent="-273685">
              <a:lnSpc>
                <a:spcPts val="2385"/>
              </a:lnSpc>
              <a:buClr>
                <a:srgbClr val="C0CF39"/>
              </a:buClr>
              <a:buSzPct val="95000"/>
              <a:buFont typeface="Wingdings 2"/>
              <a:buChar char=""/>
              <a:tabLst>
                <a:tab pos="286385" algn="l"/>
              </a:tabLst>
            </a:pPr>
            <a:r>
              <a:rPr sz="2000" dirty="0">
                <a:solidFill>
                  <a:srgbClr val="FF0000"/>
                </a:solidFill>
                <a:latin typeface="Palatino Linotype"/>
                <a:cs typeface="Palatino Linotype"/>
              </a:rPr>
              <a:t>Phép</a:t>
            </a:r>
            <a:r>
              <a:rPr sz="2000" spc="-1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dirty="0">
                <a:solidFill>
                  <a:srgbClr val="FF0000"/>
                </a:solidFill>
                <a:latin typeface="Symbol"/>
                <a:cs typeface="Symbol"/>
              </a:rPr>
              <a:t></a:t>
            </a:r>
            <a:r>
              <a:rPr sz="2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Palatino Linotype"/>
                <a:cs typeface="Palatino Linotype"/>
              </a:rPr>
              <a:t>và</a:t>
            </a:r>
            <a:r>
              <a:rPr sz="2000" spc="-1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dirty="0">
                <a:solidFill>
                  <a:srgbClr val="FF0000"/>
                </a:solidFill>
                <a:latin typeface="Symbol"/>
                <a:cs typeface="Symbol"/>
              </a:rPr>
              <a:t>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Palatino Linotype"/>
                <a:cs typeface="Palatino Linotype"/>
              </a:rPr>
              <a:t>có</a:t>
            </a:r>
            <a:r>
              <a:rPr sz="2000" spc="-2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dirty="0">
                <a:solidFill>
                  <a:srgbClr val="FF0000"/>
                </a:solidFill>
                <a:latin typeface="Palatino Linotype"/>
                <a:cs typeface="Palatino Linotype"/>
              </a:rPr>
              <a:t>khả</a:t>
            </a:r>
            <a:r>
              <a:rPr sz="2000" spc="-1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dirty="0">
                <a:solidFill>
                  <a:srgbClr val="FF0000"/>
                </a:solidFill>
                <a:latin typeface="Palatino Linotype"/>
                <a:cs typeface="Palatino Linotype"/>
              </a:rPr>
              <a:t>năng</a:t>
            </a:r>
            <a:r>
              <a:rPr sz="2000" spc="-2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dirty="0">
                <a:solidFill>
                  <a:srgbClr val="FF0000"/>
                </a:solidFill>
                <a:latin typeface="Palatino Linotype"/>
                <a:cs typeface="Palatino Linotype"/>
              </a:rPr>
              <a:t>giao</a:t>
            </a:r>
            <a:r>
              <a:rPr sz="2000" spc="-1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Palatino Linotype"/>
                <a:cs typeface="Palatino Linotype"/>
              </a:rPr>
              <a:t>hoán.</a:t>
            </a:r>
            <a:endParaRPr sz="2000">
              <a:latin typeface="Palatino Linotype"/>
              <a:cs typeface="Palatino Linotype"/>
            </a:endParaRPr>
          </a:p>
          <a:p>
            <a:pPr marL="286385">
              <a:lnSpc>
                <a:spcPts val="2865"/>
              </a:lnSpc>
              <a:spcBef>
                <a:spcPts val="35"/>
              </a:spcBef>
            </a:pPr>
            <a:r>
              <a:rPr sz="2000" dirty="0">
                <a:latin typeface="Palatino Linotype"/>
                <a:cs typeface="Palatino Linotype"/>
              </a:rPr>
              <a:t>A^B</a:t>
            </a:r>
            <a:r>
              <a:rPr sz="2000" spc="-3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=</a:t>
            </a:r>
            <a:r>
              <a:rPr sz="2000" spc="-1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B^A</a:t>
            </a:r>
            <a:r>
              <a:rPr sz="2000" spc="-12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hay</a:t>
            </a:r>
            <a:r>
              <a:rPr sz="2000" spc="-8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A</a:t>
            </a:r>
            <a:r>
              <a:rPr sz="2000" spc="-1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Symbol"/>
                <a:cs typeface="Symbol"/>
              </a:rPr>
              <a:t>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B</a:t>
            </a:r>
            <a:r>
              <a:rPr sz="2000" spc="-1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= B</a:t>
            </a:r>
            <a:r>
              <a:rPr sz="2000" spc="-5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Symbol"/>
                <a:cs typeface="Symbol"/>
              </a:rPr>
              <a:t>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Palatino Linotype"/>
                <a:cs typeface="Palatino Linotype"/>
              </a:rPr>
              <a:t>A</a:t>
            </a:r>
            <a:endParaRPr sz="2000">
              <a:latin typeface="Palatino Linotype"/>
              <a:cs typeface="Palatino Linotype"/>
            </a:endParaRPr>
          </a:p>
          <a:p>
            <a:pPr marL="286385" indent="-273685">
              <a:lnSpc>
                <a:spcPts val="2385"/>
              </a:lnSpc>
              <a:buClr>
                <a:srgbClr val="C0CF39"/>
              </a:buClr>
              <a:buSzPct val="95000"/>
              <a:buFont typeface="Wingdings 2"/>
              <a:buChar char=""/>
              <a:tabLst>
                <a:tab pos="286385" algn="l"/>
              </a:tabLst>
            </a:pPr>
            <a:r>
              <a:rPr sz="2000" dirty="0">
                <a:solidFill>
                  <a:srgbClr val="FF0000"/>
                </a:solidFill>
                <a:latin typeface="Palatino Linotype"/>
                <a:cs typeface="Palatino Linotype"/>
              </a:rPr>
              <a:t>Phép</a:t>
            </a:r>
            <a:r>
              <a:rPr sz="2000" spc="-2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dirty="0">
                <a:solidFill>
                  <a:srgbClr val="FF0000"/>
                </a:solidFill>
                <a:latin typeface="Symbol"/>
                <a:cs typeface="Symbol"/>
              </a:rPr>
              <a:t>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Palatino Linotype"/>
                <a:cs typeface="Palatino Linotype"/>
              </a:rPr>
              <a:t>có</a:t>
            </a:r>
            <a:r>
              <a:rPr sz="2000" spc="-1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dirty="0">
                <a:solidFill>
                  <a:srgbClr val="FF0000"/>
                </a:solidFill>
                <a:latin typeface="Palatino Linotype"/>
                <a:cs typeface="Palatino Linotype"/>
              </a:rPr>
              <a:t>khả</a:t>
            </a:r>
            <a:r>
              <a:rPr sz="2000" spc="-3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dirty="0">
                <a:solidFill>
                  <a:srgbClr val="FF0000"/>
                </a:solidFill>
                <a:latin typeface="Palatino Linotype"/>
                <a:cs typeface="Palatino Linotype"/>
              </a:rPr>
              <a:t>năng</a:t>
            </a:r>
            <a:r>
              <a:rPr sz="2000" spc="-1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dirty="0">
                <a:solidFill>
                  <a:srgbClr val="FF0000"/>
                </a:solidFill>
                <a:latin typeface="Palatino Linotype"/>
                <a:cs typeface="Palatino Linotype"/>
              </a:rPr>
              <a:t>phân</a:t>
            </a:r>
            <a:r>
              <a:rPr sz="2000" spc="-2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dirty="0">
                <a:solidFill>
                  <a:srgbClr val="FF0000"/>
                </a:solidFill>
                <a:latin typeface="Palatino Linotype"/>
                <a:cs typeface="Palatino Linotype"/>
              </a:rPr>
              <a:t>phối</a:t>
            </a:r>
            <a:r>
              <a:rPr sz="2000" spc="-2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dirty="0">
                <a:solidFill>
                  <a:srgbClr val="FF0000"/>
                </a:solidFill>
                <a:latin typeface="Palatino Linotype"/>
                <a:cs typeface="Palatino Linotype"/>
              </a:rPr>
              <a:t>trên</a:t>
            </a:r>
            <a:r>
              <a:rPr sz="2000" spc="-3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Symbol"/>
                <a:cs typeface="Symbol"/>
              </a:rPr>
              <a:t></a:t>
            </a:r>
            <a:endParaRPr sz="2000">
              <a:latin typeface="Symbol"/>
              <a:cs typeface="Symbol"/>
            </a:endParaRPr>
          </a:p>
          <a:p>
            <a:pPr marL="3984625">
              <a:lnSpc>
                <a:spcPct val="100000"/>
              </a:lnSpc>
            </a:pPr>
            <a:r>
              <a:rPr sz="2000" dirty="0">
                <a:latin typeface="Palatino Linotype"/>
                <a:cs typeface="Palatino Linotype"/>
              </a:rPr>
              <a:t>A</a:t>
            </a:r>
            <a:r>
              <a:rPr sz="2000" spc="-13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Symbol"/>
                <a:cs typeface="Symbol"/>
              </a:rPr>
              <a:t>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(B</a:t>
            </a:r>
            <a:r>
              <a:rPr sz="2000" dirty="0">
                <a:latin typeface="Symbol"/>
                <a:cs typeface="Symbol"/>
              </a:rPr>
              <a:t></a:t>
            </a:r>
            <a:r>
              <a:rPr sz="2000" dirty="0">
                <a:latin typeface="Palatino Linotype"/>
                <a:cs typeface="Palatino Linotype"/>
              </a:rPr>
              <a:t>C)</a:t>
            </a:r>
            <a:r>
              <a:rPr sz="2000" spc="-5" dirty="0">
                <a:latin typeface="Palatino Linotype"/>
                <a:cs typeface="Palatino Linotype"/>
              </a:rPr>
              <a:t> </a:t>
            </a:r>
            <a:r>
              <a:rPr sz="2000" spc="-10" dirty="0">
                <a:latin typeface="Palatino Linotype"/>
                <a:cs typeface="Palatino Linotype"/>
              </a:rPr>
              <a:t>=(A</a:t>
            </a:r>
            <a:r>
              <a:rPr sz="2000" spc="-10" dirty="0">
                <a:latin typeface="Symbol"/>
                <a:cs typeface="Symbol"/>
              </a:rPr>
              <a:t></a:t>
            </a:r>
            <a:r>
              <a:rPr sz="2000" spc="-10" dirty="0">
                <a:latin typeface="Palatino Linotype"/>
                <a:cs typeface="Palatino Linotype"/>
              </a:rPr>
              <a:t>B)</a:t>
            </a:r>
            <a:r>
              <a:rPr sz="2000" spc="-10" dirty="0">
                <a:latin typeface="Symbol"/>
                <a:cs typeface="Symbol"/>
              </a:rPr>
              <a:t></a:t>
            </a:r>
            <a:r>
              <a:rPr sz="2000" spc="-10" dirty="0">
                <a:latin typeface="Palatino Linotype"/>
                <a:cs typeface="Palatino Linotype"/>
              </a:rPr>
              <a:t>(A</a:t>
            </a:r>
            <a:r>
              <a:rPr sz="2000" spc="-10" dirty="0">
                <a:latin typeface="Symbol"/>
                <a:cs typeface="Symbol"/>
              </a:rPr>
              <a:t></a:t>
            </a:r>
            <a:r>
              <a:rPr sz="2000" spc="-10" dirty="0">
                <a:latin typeface="Palatino Linotype"/>
                <a:cs typeface="Palatino Linotype"/>
              </a:rPr>
              <a:t>C)</a:t>
            </a:r>
            <a:endParaRPr sz="20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buClr>
                <a:srgbClr val="C0CF39"/>
              </a:buClr>
              <a:buSzPct val="95000"/>
              <a:buFont typeface="Wingdings 2"/>
              <a:buChar char=""/>
              <a:tabLst>
                <a:tab pos="286385" algn="l"/>
              </a:tabLst>
            </a:pPr>
            <a:r>
              <a:rPr sz="2000" dirty="0">
                <a:solidFill>
                  <a:srgbClr val="FF0000"/>
                </a:solidFill>
                <a:latin typeface="Palatino Linotype"/>
                <a:cs typeface="Palatino Linotype"/>
              </a:rPr>
              <a:t>Phép</a:t>
            </a:r>
            <a:r>
              <a:rPr sz="2000" spc="-2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dirty="0">
                <a:solidFill>
                  <a:srgbClr val="FF0000"/>
                </a:solidFill>
                <a:latin typeface="Symbol"/>
                <a:cs typeface="Symbol"/>
              </a:rPr>
              <a:t>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Palatino Linotype"/>
                <a:cs typeface="Palatino Linotype"/>
              </a:rPr>
              <a:t>có</a:t>
            </a:r>
            <a:r>
              <a:rPr sz="2000" spc="-1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dirty="0">
                <a:solidFill>
                  <a:srgbClr val="FF0000"/>
                </a:solidFill>
                <a:latin typeface="Palatino Linotype"/>
                <a:cs typeface="Palatino Linotype"/>
              </a:rPr>
              <a:t>khả</a:t>
            </a:r>
            <a:r>
              <a:rPr sz="2000" spc="-3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dirty="0">
                <a:solidFill>
                  <a:srgbClr val="FF0000"/>
                </a:solidFill>
                <a:latin typeface="Palatino Linotype"/>
                <a:cs typeface="Palatino Linotype"/>
              </a:rPr>
              <a:t>năng</a:t>
            </a:r>
            <a:r>
              <a:rPr sz="2000" spc="-1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dirty="0">
                <a:solidFill>
                  <a:srgbClr val="FF0000"/>
                </a:solidFill>
                <a:latin typeface="Palatino Linotype"/>
                <a:cs typeface="Palatino Linotype"/>
              </a:rPr>
              <a:t>phân</a:t>
            </a:r>
            <a:r>
              <a:rPr sz="2000" spc="-2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dirty="0">
                <a:solidFill>
                  <a:srgbClr val="FF0000"/>
                </a:solidFill>
                <a:latin typeface="Palatino Linotype"/>
                <a:cs typeface="Palatino Linotype"/>
              </a:rPr>
              <a:t>phối</a:t>
            </a:r>
            <a:r>
              <a:rPr sz="2000" spc="-2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dirty="0">
                <a:solidFill>
                  <a:srgbClr val="FF0000"/>
                </a:solidFill>
                <a:latin typeface="Palatino Linotype"/>
                <a:cs typeface="Palatino Linotype"/>
              </a:rPr>
              <a:t>trên</a:t>
            </a:r>
            <a:r>
              <a:rPr sz="2000" spc="-3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Symbol"/>
                <a:cs typeface="Symbol"/>
              </a:rPr>
              <a:t></a:t>
            </a:r>
            <a:endParaRPr sz="2000">
              <a:latin typeface="Symbol"/>
              <a:cs typeface="Symbol"/>
            </a:endParaRPr>
          </a:p>
          <a:p>
            <a:pPr marL="3984625">
              <a:lnSpc>
                <a:spcPct val="100000"/>
              </a:lnSpc>
            </a:pPr>
            <a:r>
              <a:rPr sz="2000" dirty="0">
                <a:latin typeface="Palatino Linotype"/>
                <a:cs typeface="Palatino Linotype"/>
              </a:rPr>
              <a:t>A</a:t>
            </a:r>
            <a:r>
              <a:rPr sz="2000" spc="-13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Symbol"/>
                <a:cs typeface="Symbol"/>
              </a:rPr>
              <a:t>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(B</a:t>
            </a:r>
            <a:r>
              <a:rPr sz="2000" dirty="0">
                <a:latin typeface="Symbol"/>
                <a:cs typeface="Symbol"/>
              </a:rPr>
              <a:t></a:t>
            </a:r>
            <a:r>
              <a:rPr sz="2000" dirty="0">
                <a:latin typeface="Palatino Linotype"/>
                <a:cs typeface="Palatino Linotype"/>
              </a:rPr>
              <a:t>C)</a:t>
            </a:r>
            <a:r>
              <a:rPr sz="2000" spc="-25" dirty="0">
                <a:latin typeface="Palatino Linotype"/>
                <a:cs typeface="Palatino Linotype"/>
              </a:rPr>
              <a:t> </a:t>
            </a:r>
            <a:r>
              <a:rPr sz="2000" spc="-10" dirty="0">
                <a:latin typeface="Palatino Linotype"/>
                <a:cs typeface="Palatino Linotype"/>
              </a:rPr>
              <a:t>=(A</a:t>
            </a:r>
            <a:r>
              <a:rPr sz="2000" spc="-10" dirty="0">
                <a:latin typeface="Symbol"/>
                <a:cs typeface="Symbol"/>
              </a:rPr>
              <a:t></a:t>
            </a:r>
            <a:r>
              <a:rPr sz="2000" spc="-10" dirty="0">
                <a:latin typeface="Palatino Linotype"/>
                <a:cs typeface="Palatino Linotype"/>
              </a:rPr>
              <a:t>B)</a:t>
            </a:r>
            <a:r>
              <a:rPr sz="2000" spc="-10" dirty="0">
                <a:latin typeface="Symbol"/>
                <a:cs typeface="Symbol"/>
              </a:rPr>
              <a:t></a:t>
            </a:r>
            <a:r>
              <a:rPr sz="2000" spc="-10" dirty="0">
                <a:latin typeface="Palatino Linotype"/>
                <a:cs typeface="Palatino Linotype"/>
              </a:rPr>
              <a:t>(A</a:t>
            </a:r>
            <a:r>
              <a:rPr sz="2000" spc="-10" dirty="0">
                <a:latin typeface="Symbol"/>
                <a:cs typeface="Symbol"/>
              </a:rPr>
              <a:t></a:t>
            </a:r>
            <a:r>
              <a:rPr sz="2000" spc="-10" dirty="0">
                <a:latin typeface="Palatino Linotype"/>
                <a:cs typeface="Palatino Linotype"/>
              </a:rPr>
              <a:t>C)</a:t>
            </a:r>
            <a:endParaRPr sz="20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607566"/>
            <a:ext cx="10601325" cy="4303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95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dirty="0">
                <a:latin typeface="Palatino Linotype"/>
                <a:cs typeface="Palatino Linotype"/>
              </a:rPr>
              <a:t>Vị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từ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là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một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phát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biểu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nói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lên</a:t>
            </a:r>
            <a:r>
              <a:rPr sz="2800" spc="-5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quan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hệ</a:t>
            </a:r>
            <a:r>
              <a:rPr sz="2800" spc="-5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giữa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một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đối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tượng</a:t>
            </a:r>
            <a:r>
              <a:rPr sz="2800" spc="-1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với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spc="-25" dirty="0">
                <a:latin typeface="Palatino Linotype"/>
                <a:cs typeface="Palatino Linotype"/>
              </a:rPr>
              <a:t>các</a:t>
            </a:r>
            <a:endParaRPr sz="2800">
              <a:latin typeface="Palatino Linotype"/>
              <a:cs typeface="Palatino Linotype"/>
            </a:endParaRPr>
          </a:p>
          <a:p>
            <a:pPr marL="286385">
              <a:lnSpc>
                <a:spcPct val="100000"/>
              </a:lnSpc>
            </a:pPr>
            <a:r>
              <a:rPr sz="2800" dirty="0">
                <a:latin typeface="Palatino Linotype"/>
                <a:cs typeface="Palatino Linotype"/>
              </a:rPr>
              <a:t>thuộc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tính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của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nó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hoặc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quan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hệ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giữa</a:t>
            </a:r>
            <a:r>
              <a:rPr sz="2800" spc="-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các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đối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tượng với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spc="-10" dirty="0">
                <a:latin typeface="Palatino Linotype"/>
                <a:cs typeface="Palatino Linotype"/>
              </a:rPr>
              <a:t>nhau.</a:t>
            </a:r>
            <a:endParaRPr sz="2800">
              <a:latin typeface="Palatino Linotype"/>
              <a:cs typeface="Palatino Linotype"/>
            </a:endParaRPr>
          </a:p>
          <a:p>
            <a:pPr marL="286385" marR="307975" indent="-274320">
              <a:lnSpc>
                <a:spcPct val="100000"/>
              </a:lnSpc>
              <a:spcBef>
                <a:spcPts val="670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dirty="0">
                <a:latin typeface="Palatino Linotype"/>
                <a:cs typeface="Palatino Linotype"/>
              </a:rPr>
              <a:t>Vị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từ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được biểu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diễn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bởi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tên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vị</a:t>
            </a:r>
            <a:r>
              <a:rPr sz="2800" spc="-1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từ,</a:t>
            </a:r>
            <a:r>
              <a:rPr sz="2800" spc="-1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theo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sau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nó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là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một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danh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spc="-20" dirty="0">
                <a:latin typeface="Palatino Linotype"/>
                <a:cs typeface="Palatino Linotype"/>
              </a:rPr>
              <a:t>sách </a:t>
            </a:r>
            <a:r>
              <a:rPr sz="2800" dirty="0">
                <a:latin typeface="Palatino Linotype"/>
                <a:cs typeface="Palatino Linotype"/>
              </a:rPr>
              <a:t>các</a:t>
            </a:r>
            <a:r>
              <a:rPr sz="2800" spc="-6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thông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spc="-25" dirty="0">
                <a:latin typeface="Palatino Linotype"/>
                <a:cs typeface="Palatino Linotype"/>
              </a:rPr>
              <a:t>số.</a:t>
            </a:r>
            <a:endParaRPr sz="28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760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dirty="0">
                <a:latin typeface="Times New Roman"/>
                <a:cs typeface="Times New Roman"/>
              </a:rPr>
              <a:t>Ví</a:t>
            </a:r>
            <a:r>
              <a:rPr sz="2800" spc="-25" dirty="0">
                <a:latin typeface="Times New Roman"/>
                <a:cs typeface="Times New Roman"/>
              </a:rPr>
              <a:t> dụ:</a:t>
            </a:r>
            <a:endParaRPr sz="2800">
              <a:latin typeface="Times New Roman"/>
              <a:cs typeface="Times New Roman"/>
            </a:endParaRPr>
          </a:p>
          <a:p>
            <a:pPr marL="652145" lvl="1" indent="-246379">
              <a:lnSpc>
                <a:spcPct val="100000"/>
              </a:lnSpc>
              <a:spcBef>
                <a:spcPts val="670"/>
              </a:spcBef>
              <a:buClr>
                <a:srgbClr val="539E39"/>
              </a:buClr>
              <a:buSzPct val="83928"/>
              <a:buFont typeface="Wingdings 2"/>
              <a:buChar char=""/>
              <a:tabLst>
                <a:tab pos="652145" algn="l"/>
              </a:tabLst>
            </a:pPr>
            <a:r>
              <a:rPr sz="2800" i="1" dirty="0">
                <a:latin typeface="Times New Roman"/>
                <a:cs typeface="Times New Roman"/>
              </a:rPr>
              <a:t>“Lan</a:t>
            </a:r>
            <a:r>
              <a:rPr sz="2800" i="1" spc="-3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là</a:t>
            </a:r>
            <a:r>
              <a:rPr sz="2800" i="1" spc="-4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sinh</a:t>
            </a:r>
            <a:r>
              <a:rPr sz="2800" i="1" spc="-4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viên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trường</a:t>
            </a:r>
            <a:r>
              <a:rPr sz="2800" i="1" spc="-35" dirty="0">
                <a:latin typeface="Times New Roman"/>
                <a:cs typeface="Times New Roman"/>
              </a:rPr>
              <a:t> </a:t>
            </a:r>
            <a:r>
              <a:rPr sz="2800" i="1" spc="-10" dirty="0">
                <a:latin typeface="Times New Roman"/>
                <a:cs typeface="Times New Roman"/>
              </a:rPr>
              <a:t>ĐHCT”.</a:t>
            </a:r>
            <a:endParaRPr sz="2800">
              <a:latin typeface="Times New Roman"/>
              <a:cs typeface="Times New Roman"/>
            </a:endParaRPr>
          </a:p>
          <a:p>
            <a:pPr marL="652145" lvl="1" indent="-246379">
              <a:lnSpc>
                <a:spcPct val="100000"/>
              </a:lnSpc>
              <a:spcBef>
                <a:spcPts val="675"/>
              </a:spcBef>
              <a:buClr>
                <a:srgbClr val="539E39"/>
              </a:buClr>
              <a:buSzPct val="83928"/>
              <a:buFont typeface="Wingdings 2"/>
              <a:buChar char=""/>
              <a:tabLst>
                <a:tab pos="652145" algn="l"/>
              </a:tabLst>
            </a:pPr>
            <a:r>
              <a:rPr sz="2800" dirty="0">
                <a:latin typeface="Times New Roman"/>
                <a:cs typeface="Times New Roman"/>
              </a:rPr>
              <a:t>Biểu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diễn: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i="1" spc="-10" dirty="0">
                <a:latin typeface="Times New Roman"/>
                <a:cs typeface="Times New Roman"/>
              </a:rPr>
              <a:t>sv_dhct(“Lan”).</a:t>
            </a:r>
            <a:endParaRPr sz="2800">
              <a:latin typeface="Times New Roman"/>
              <a:cs typeface="Times New Roman"/>
            </a:endParaRPr>
          </a:p>
          <a:p>
            <a:pPr marL="651510" marR="816610" lvl="1" indent="-246379">
              <a:lnSpc>
                <a:spcPct val="100000"/>
              </a:lnSpc>
              <a:spcBef>
                <a:spcPts val="675"/>
              </a:spcBef>
              <a:buClr>
                <a:srgbClr val="539E39"/>
              </a:buClr>
              <a:buSzPct val="83928"/>
              <a:buFont typeface="Wingdings 2"/>
              <a:buChar char=""/>
              <a:tabLst>
                <a:tab pos="652780" algn="l"/>
              </a:tabLst>
            </a:pPr>
            <a:r>
              <a:rPr sz="2800" dirty="0">
                <a:latin typeface="Times New Roman"/>
                <a:cs typeface="Times New Roman"/>
              </a:rPr>
              <a:t>Ý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nghĩa: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Đối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tượng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tên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“Lan”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có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thuộc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tính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là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“sinh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viên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trường 	ĐHCT”.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3877" y="345694"/>
            <a:ext cx="4199255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dirty="0">
                <a:solidFill>
                  <a:srgbClr val="455F51"/>
                </a:solidFill>
              </a:rPr>
              <a:t>Định</a:t>
            </a:r>
            <a:r>
              <a:rPr sz="5000" spc="-2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nghĩa</a:t>
            </a:r>
            <a:r>
              <a:rPr sz="5000" spc="-20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vị</a:t>
            </a:r>
            <a:r>
              <a:rPr sz="5000" spc="-20" dirty="0">
                <a:solidFill>
                  <a:srgbClr val="455F51"/>
                </a:solidFill>
              </a:rPr>
              <a:t> </a:t>
            </a:r>
            <a:r>
              <a:rPr sz="5000" spc="-25" dirty="0">
                <a:solidFill>
                  <a:srgbClr val="455F51"/>
                </a:solidFill>
              </a:rPr>
              <a:t>từ</a:t>
            </a:r>
            <a:endParaRPr sz="5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40</a:t>
            </a:fld>
            <a:endParaRPr spc="-25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483382"/>
            <a:ext cx="10723245" cy="439039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770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dirty="0">
                <a:latin typeface="Palatino Linotype"/>
                <a:cs typeface="Palatino Linotype"/>
              </a:rPr>
              <a:t>Có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bao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nhiêu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cách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biểu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diễn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đúng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cú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pháp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cho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phát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biểu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nói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spc="-10" dirty="0">
                <a:latin typeface="Palatino Linotype"/>
                <a:cs typeface="Palatino Linotype"/>
              </a:rPr>
              <a:t>trên?</a:t>
            </a:r>
            <a:endParaRPr sz="2800">
              <a:latin typeface="Palatino Linotype"/>
              <a:cs typeface="Palatino Linotype"/>
            </a:endParaRPr>
          </a:p>
          <a:p>
            <a:pPr marL="286385" marR="607695" indent="-274320">
              <a:lnSpc>
                <a:spcPct val="100000"/>
              </a:lnSpc>
              <a:spcBef>
                <a:spcPts val="670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dirty="0">
                <a:latin typeface="Palatino Linotype"/>
                <a:cs typeface="Palatino Linotype"/>
              </a:rPr>
              <a:t>Ví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dụ: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chúng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ta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có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thể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thay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đổi</a:t>
            </a:r>
            <a:r>
              <a:rPr sz="2800" spc="-1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các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tên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vị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từ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thành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các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tên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spc="-20" dirty="0">
                <a:latin typeface="Palatino Linotype"/>
                <a:cs typeface="Palatino Linotype"/>
              </a:rPr>
              <a:t>khác </a:t>
            </a:r>
            <a:r>
              <a:rPr sz="2800" dirty="0">
                <a:latin typeface="Palatino Linotype"/>
                <a:cs typeface="Palatino Linotype"/>
              </a:rPr>
              <a:t>nhau</a:t>
            </a:r>
            <a:r>
              <a:rPr sz="2800" spc="-8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như:</a:t>
            </a:r>
            <a:r>
              <a:rPr sz="2800" spc="-5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sinhvien_dhct,</a:t>
            </a:r>
            <a:r>
              <a:rPr sz="2800" spc="-9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sinhvien_cantho,</a:t>
            </a:r>
            <a:r>
              <a:rPr sz="2800" spc="-105" dirty="0">
                <a:latin typeface="Palatino Linotype"/>
                <a:cs typeface="Palatino Linotype"/>
              </a:rPr>
              <a:t> </a:t>
            </a:r>
            <a:r>
              <a:rPr sz="2800" spc="-50" dirty="0">
                <a:latin typeface="Palatino Linotype"/>
                <a:cs typeface="Palatino Linotype"/>
              </a:rPr>
              <a:t>…</a:t>
            </a:r>
            <a:endParaRPr sz="28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620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Wingdings"/>
                <a:cs typeface="Wingdings"/>
              </a:rPr>
              <a:t>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Tất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cả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đều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đúng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cú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pháp.</a:t>
            </a:r>
            <a:endParaRPr sz="2400">
              <a:latin typeface="Palatino Linotype"/>
              <a:cs typeface="Palatino Linotype"/>
            </a:endParaRPr>
          </a:p>
          <a:p>
            <a:pPr marL="286385" marR="170815" indent="-274320">
              <a:lnSpc>
                <a:spcPts val="3030"/>
              </a:lnSpc>
              <a:spcBef>
                <a:spcPts val="695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dirty="0">
                <a:latin typeface="Palatino Linotype"/>
                <a:cs typeface="Palatino Linotype"/>
              </a:rPr>
              <a:t>Tên</a:t>
            </a:r>
            <a:r>
              <a:rPr sz="2800" spc="-10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vị</a:t>
            </a:r>
            <a:r>
              <a:rPr sz="2800" spc="-9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từ</a:t>
            </a:r>
            <a:r>
              <a:rPr sz="2800" spc="-8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phải</a:t>
            </a:r>
            <a:r>
              <a:rPr sz="2800" spc="-8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</a:t>
            </a:r>
            <a:r>
              <a:rPr sz="2800" dirty="0">
                <a:latin typeface="Times New Roman"/>
                <a:cs typeface="Times New Roman"/>
              </a:rPr>
              <a:t>ó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í</a:t>
            </a:r>
            <a:r>
              <a:rPr sz="2800" dirty="0">
                <a:latin typeface="Palatino Linotype"/>
                <a:cs typeface="Palatino Linotype"/>
              </a:rPr>
              <a:t>nh</a:t>
            </a:r>
            <a:r>
              <a:rPr sz="2800" spc="-10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gợi</a:t>
            </a:r>
            <a:r>
              <a:rPr sz="2800" spc="-8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nhớ</a:t>
            </a:r>
            <a:r>
              <a:rPr sz="2800" dirty="0">
                <a:latin typeface="Calibri"/>
                <a:cs typeface="Calibri"/>
              </a:rPr>
              <a:t>.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Cụ</a:t>
            </a:r>
            <a:r>
              <a:rPr sz="2800" spc="-7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thể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trong</a:t>
            </a:r>
            <a:r>
              <a:rPr sz="2800" spc="-9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v</a:t>
            </a:r>
            <a:r>
              <a:rPr sz="2800" dirty="0">
                <a:latin typeface="Times New Roman"/>
                <a:cs typeface="Times New Roman"/>
              </a:rPr>
              <a:t>í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dụ</a:t>
            </a:r>
            <a:r>
              <a:rPr sz="2800" spc="-7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trên</a:t>
            </a:r>
            <a:r>
              <a:rPr sz="2800" spc="-9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ch</a:t>
            </a:r>
            <a:r>
              <a:rPr sz="2800" dirty="0">
                <a:latin typeface="Times New Roman"/>
                <a:cs typeface="Times New Roman"/>
              </a:rPr>
              <a:t>ú</a:t>
            </a:r>
            <a:r>
              <a:rPr sz="2800" dirty="0">
                <a:latin typeface="Palatino Linotype"/>
                <a:cs typeface="Palatino Linotype"/>
              </a:rPr>
              <a:t>ng</a:t>
            </a:r>
            <a:r>
              <a:rPr sz="2800" spc="-9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ta</a:t>
            </a:r>
            <a:r>
              <a:rPr sz="2800" spc="-100" dirty="0">
                <a:latin typeface="Palatino Linotype"/>
                <a:cs typeface="Palatino Linotype"/>
              </a:rPr>
              <a:t> </a:t>
            </a:r>
            <a:r>
              <a:rPr sz="2800" spc="-25" dirty="0">
                <a:latin typeface="Palatino Linotype"/>
                <a:cs typeface="Palatino Linotype"/>
              </a:rPr>
              <a:t>c</a:t>
            </a:r>
            <a:r>
              <a:rPr sz="2800" spc="-25" dirty="0">
                <a:latin typeface="Times New Roman"/>
                <a:cs typeface="Times New Roman"/>
              </a:rPr>
              <a:t>ó </a:t>
            </a:r>
            <a:r>
              <a:rPr sz="2800" dirty="0">
                <a:latin typeface="Palatino Linotype"/>
                <a:cs typeface="Palatino Linotype"/>
              </a:rPr>
              <a:t>thể</a:t>
            </a:r>
            <a:r>
              <a:rPr sz="2800" spc="-114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biểu</a:t>
            </a:r>
            <a:r>
              <a:rPr sz="2800" spc="-11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diễn</a:t>
            </a:r>
            <a:r>
              <a:rPr sz="2800" spc="-10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bởi</a:t>
            </a:r>
            <a:r>
              <a:rPr sz="2800" spc="-105" dirty="0">
                <a:latin typeface="Palatino Linotype"/>
                <a:cs typeface="Palatino Linotype"/>
              </a:rPr>
              <a:t> </a:t>
            </a:r>
            <a:r>
              <a:rPr sz="2800" b="1" i="1" dirty="0">
                <a:latin typeface="Palatino Linotype"/>
                <a:cs typeface="Palatino Linotype"/>
              </a:rPr>
              <a:t>q</a:t>
            </a:r>
            <a:r>
              <a:rPr sz="2800" b="1" i="1" dirty="0">
                <a:latin typeface="Calibri"/>
                <a:cs typeface="Calibri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“</a:t>
            </a:r>
            <a:r>
              <a:rPr sz="2800" b="1" i="1" dirty="0">
                <a:latin typeface="Palatino Linotype"/>
                <a:cs typeface="Palatino Linotype"/>
              </a:rPr>
              <a:t>Lan</a:t>
            </a:r>
            <a:r>
              <a:rPr sz="2800" b="1" i="1" dirty="0">
                <a:latin typeface="Times New Roman"/>
                <a:cs typeface="Times New Roman"/>
              </a:rPr>
              <a:t>”</a:t>
            </a:r>
            <a:r>
              <a:rPr sz="2800" b="1" i="1" dirty="0">
                <a:latin typeface="Calibri"/>
                <a:cs typeface="Calibri"/>
              </a:rPr>
              <a:t>)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nhưng</a:t>
            </a:r>
            <a:r>
              <a:rPr sz="2800" spc="-10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rõ</a:t>
            </a:r>
            <a:r>
              <a:rPr sz="2800" spc="-11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à</a:t>
            </a:r>
            <a:r>
              <a:rPr sz="2800" dirty="0">
                <a:latin typeface="Palatino Linotype"/>
                <a:cs typeface="Palatino Linotype"/>
              </a:rPr>
              <a:t>ng</a:t>
            </a:r>
            <a:r>
              <a:rPr sz="2800" spc="-10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</a:t>
            </a:r>
            <a:r>
              <a:rPr sz="2800" dirty="0">
                <a:latin typeface="Times New Roman"/>
                <a:cs typeface="Times New Roman"/>
              </a:rPr>
              <a:t>á</a:t>
            </a:r>
            <a:r>
              <a:rPr sz="2800" dirty="0">
                <a:latin typeface="Palatino Linotype"/>
                <a:cs typeface="Palatino Linotype"/>
              </a:rPr>
              <a:t>ch</a:t>
            </a:r>
            <a:r>
              <a:rPr sz="2800" spc="-10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à</a:t>
            </a:r>
            <a:r>
              <a:rPr sz="2800" dirty="0">
                <a:latin typeface="Palatino Linotype"/>
                <a:cs typeface="Palatino Linotype"/>
              </a:rPr>
              <a:t>y</a:t>
            </a:r>
            <a:r>
              <a:rPr sz="2800" spc="-114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không</a:t>
            </a:r>
            <a:r>
              <a:rPr sz="2800" spc="-95" dirty="0">
                <a:latin typeface="Palatino Linotype"/>
                <a:cs typeface="Palatino Linotype"/>
              </a:rPr>
              <a:t> </a:t>
            </a:r>
            <a:r>
              <a:rPr sz="2800" spc="-25" dirty="0">
                <a:latin typeface="Palatino Linotype"/>
                <a:cs typeface="Palatino Linotype"/>
              </a:rPr>
              <a:t>mấy </a:t>
            </a:r>
            <a:r>
              <a:rPr sz="2800" dirty="0">
                <a:solidFill>
                  <a:srgbClr val="FF0000"/>
                </a:solidFill>
                <a:latin typeface="Palatino Linotype"/>
                <a:cs typeface="Palatino Linotype"/>
              </a:rPr>
              <a:t>thân</a:t>
            </a:r>
            <a:r>
              <a:rPr sz="2800" spc="-9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800" dirty="0">
                <a:solidFill>
                  <a:srgbClr val="FF0000"/>
                </a:solidFill>
                <a:latin typeface="Palatino Linotype"/>
                <a:cs typeface="Palatino Linotype"/>
              </a:rPr>
              <a:t>thiện</a:t>
            </a:r>
            <a:r>
              <a:rPr sz="2800" spc="-9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800" dirty="0">
                <a:solidFill>
                  <a:srgbClr val="FF0000"/>
                </a:solidFill>
                <a:latin typeface="Palatino Linotype"/>
                <a:cs typeface="Palatino Linotype"/>
              </a:rPr>
              <a:t>v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à</a:t>
            </a:r>
            <a:r>
              <a:rPr sz="28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Palatino Linotype"/>
                <a:cs typeface="Palatino Linotype"/>
              </a:rPr>
              <a:t>dễ</a:t>
            </a:r>
            <a:r>
              <a:rPr sz="2800" spc="-6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800" spc="-20" dirty="0">
                <a:solidFill>
                  <a:srgbClr val="FF0000"/>
                </a:solidFill>
                <a:latin typeface="Palatino Linotype"/>
                <a:cs typeface="Palatino Linotype"/>
              </a:rPr>
              <a:t>nhớ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86385" marR="141605" indent="-274320" algn="just">
              <a:lnSpc>
                <a:spcPct val="90000"/>
              </a:lnSpc>
              <a:spcBef>
                <a:spcPts val="590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dirty="0">
                <a:latin typeface="Palatino Linotype"/>
                <a:cs typeface="Palatino Linotype"/>
              </a:rPr>
              <a:t>Không</a:t>
            </a:r>
            <a:r>
              <a:rPr sz="2800" spc="-10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mô</a:t>
            </a:r>
            <a:r>
              <a:rPr sz="2800" spc="-9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tả</a:t>
            </a:r>
            <a:r>
              <a:rPr sz="2800" spc="-11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những</a:t>
            </a:r>
            <a:r>
              <a:rPr sz="2800" spc="-9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vị</a:t>
            </a:r>
            <a:r>
              <a:rPr sz="2800" spc="-10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từ</a:t>
            </a:r>
            <a:r>
              <a:rPr sz="2800" spc="-9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thừa</a:t>
            </a:r>
            <a:r>
              <a:rPr sz="2800" spc="-10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dirty="0">
                <a:latin typeface="Palatino Linotype"/>
                <a:cs typeface="Palatino Linotype"/>
              </a:rPr>
              <a:t>là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những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vị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từ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được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suy</a:t>
            </a:r>
            <a:r>
              <a:rPr sz="2800" spc="-8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ra</a:t>
            </a:r>
            <a:r>
              <a:rPr sz="2800" spc="-114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từ</a:t>
            </a:r>
            <a:r>
              <a:rPr sz="2800" spc="-80" dirty="0">
                <a:latin typeface="Palatino Linotype"/>
                <a:cs typeface="Palatino Linotype"/>
              </a:rPr>
              <a:t> </a:t>
            </a:r>
            <a:r>
              <a:rPr sz="2800" spc="-25" dirty="0">
                <a:latin typeface="Palatino Linotype"/>
                <a:cs typeface="Palatino Linotype"/>
              </a:rPr>
              <a:t>một </a:t>
            </a:r>
            <a:r>
              <a:rPr sz="2800" dirty="0">
                <a:latin typeface="Palatino Linotype"/>
                <a:cs typeface="Palatino Linotype"/>
              </a:rPr>
              <a:t>tập</a:t>
            </a:r>
            <a:r>
              <a:rPr sz="2800" spc="-11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</a:t>
            </a:r>
            <a:r>
              <a:rPr sz="2800" dirty="0">
                <a:latin typeface="Times New Roman"/>
                <a:cs typeface="Times New Roman"/>
              </a:rPr>
              <a:t>á</a:t>
            </a:r>
            <a:r>
              <a:rPr sz="2800" dirty="0">
                <a:latin typeface="Palatino Linotype"/>
                <a:cs typeface="Palatino Linotype"/>
              </a:rPr>
              <a:t>c</a:t>
            </a:r>
            <a:r>
              <a:rPr sz="2800" spc="-10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vị</a:t>
            </a:r>
            <a:r>
              <a:rPr sz="2800" spc="-10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từ</a:t>
            </a:r>
            <a:r>
              <a:rPr sz="2800" spc="-10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kh</a:t>
            </a:r>
            <a:r>
              <a:rPr sz="2800" dirty="0">
                <a:latin typeface="Times New Roman"/>
                <a:cs typeface="Times New Roman"/>
              </a:rPr>
              <a:t>á</a:t>
            </a:r>
            <a:r>
              <a:rPr sz="2800" dirty="0">
                <a:latin typeface="Palatino Linotype"/>
                <a:cs typeface="Palatino Linotype"/>
              </a:rPr>
              <a:t>c)</a:t>
            </a:r>
            <a:r>
              <a:rPr sz="2800" dirty="0">
                <a:latin typeface="Calibri"/>
                <a:cs typeface="Calibri"/>
              </a:rPr>
              <a:t>.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H</a:t>
            </a:r>
            <a:r>
              <a:rPr sz="2800" dirty="0">
                <a:latin typeface="Times New Roman"/>
                <a:cs typeface="Times New Roman"/>
              </a:rPr>
              <a:t>ì</a:t>
            </a:r>
            <a:r>
              <a:rPr sz="2800" dirty="0">
                <a:latin typeface="Palatino Linotype"/>
                <a:cs typeface="Palatino Linotype"/>
              </a:rPr>
              <a:t>nh</a:t>
            </a:r>
            <a:r>
              <a:rPr sz="2800" spc="-1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thức</a:t>
            </a:r>
            <a:r>
              <a:rPr sz="2800" spc="-10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thừa</a:t>
            </a:r>
            <a:r>
              <a:rPr sz="2800" spc="-10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cũng</a:t>
            </a:r>
            <a:r>
              <a:rPr sz="2800" spc="-10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tương</a:t>
            </a:r>
            <a:r>
              <a:rPr sz="2800" spc="-8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tự</a:t>
            </a:r>
            <a:r>
              <a:rPr sz="2800" spc="-10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dư</a:t>
            </a:r>
            <a:r>
              <a:rPr sz="2800" spc="-9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thừa</a:t>
            </a:r>
            <a:r>
              <a:rPr sz="2800" spc="-10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dữ</a:t>
            </a:r>
            <a:r>
              <a:rPr sz="2800" spc="-90" dirty="0">
                <a:latin typeface="Palatino Linotype"/>
                <a:cs typeface="Palatino Linotype"/>
              </a:rPr>
              <a:t> </a:t>
            </a:r>
            <a:r>
              <a:rPr sz="2800" spc="-20" dirty="0">
                <a:latin typeface="Palatino Linotype"/>
                <a:cs typeface="Palatino Linotype"/>
              </a:rPr>
              <a:t>liệu </a:t>
            </a:r>
            <a:r>
              <a:rPr sz="2800" dirty="0">
                <a:latin typeface="Palatino Linotype"/>
                <a:cs typeface="Palatino Linotype"/>
              </a:rPr>
              <a:t>khi</a:t>
            </a:r>
            <a:r>
              <a:rPr sz="2800" spc="-11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thiết</a:t>
            </a:r>
            <a:r>
              <a:rPr sz="2800" spc="-9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kế</a:t>
            </a:r>
            <a:r>
              <a:rPr sz="2800" spc="-90" dirty="0">
                <a:latin typeface="Palatino Linotype"/>
                <a:cs typeface="Palatino Linotype"/>
              </a:rPr>
              <a:t> </a:t>
            </a:r>
            <a:r>
              <a:rPr sz="2800" spc="-20" dirty="0">
                <a:latin typeface="Palatino Linotype"/>
                <a:cs typeface="Palatino Linotype"/>
              </a:rPr>
              <a:t>CSDL.</a:t>
            </a:r>
            <a:endParaRPr sz="28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3877" y="345694"/>
            <a:ext cx="5999480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dirty="0">
                <a:solidFill>
                  <a:srgbClr val="455F51"/>
                </a:solidFill>
              </a:rPr>
              <a:t>Cú</a:t>
            </a:r>
            <a:r>
              <a:rPr sz="5000" spc="-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pháp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biểu diễn</a:t>
            </a:r>
            <a:r>
              <a:rPr sz="5000" spc="-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vị</a:t>
            </a:r>
            <a:r>
              <a:rPr sz="5000" spc="-15" dirty="0">
                <a:solidFill>
                  <a:srgbClr val="455F51"/>
                </a:solidFill>
              </a:rPr>
              <a:t> </a:t>
            </a:r>
            <a:r>
              <a:rPr sz="5000" spc="-25" dirty="0">
                <a:solidFill>
                  <a:srgbClr val="455F51"/>
                </a:solidFill>
              </a:rPr>
              <a:t>từ</a:t>
            </a:r>
            <a:endParaRPr sz="5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41</a:t>
            </a:fld>
            <a:endParaRPr spc="-25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5640" y="1481552"/>
            <a:ext cx="10615930" cy="451294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99085" indent="-273685">
              <a:lnSpc>
                <a:spcPct val="100000"/>
              </a:lnSpc>
              <a:spcBef>
                <a:spcPts val="865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99085" algn="l"/>
              </a:tabLst>
            </a:pPr>
            <a:r>
              <a:rPr sz="3200" b="1" dirty="0">
                <a:latin typeface="Times New Roman"/>
                <a:cs typeface="Times New Roman"/>
              </a:rPr>
              <a:t>Cú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pháp</a:t>
            </a:r>
            <a:r>
              <a:rPr sz="3200" dirty="0">
                <a:latin typeface="Times New Roman"/>
                <a:cs typeface="Times New Roman"/>
              </a:rPr>
              <a:t>: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tên_vị_từ</a:t>
            </a:r>
            <a:r>
              <a:rPr sz="3200" b="1" i="1" spc="-2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(term</a:t>
            </a:r>
            <a:r>
              <a:rPr sz="3150" b="1" i="1" baseline="-25132" dirty="0">
                <a:latin typeface="Times New Roman"/>
                <a:cs typeface="Times New Roman"/>
              </a:rPr>
              <a:t>1</a:t>
            </a:r>
            <a:r>
              <a:rPr sz="3200" b="1" i="1" dirty="0">
                <a:latin typeface="Times New Roman"/>
                <a:cs typeface="Times New Roman"/>
              </a:rPr>
              <a:t>,</a:t>
            </a:r>
            <a:r>
              <a:rPr sz="3200" b="1" i="1" spc="-1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term</a:t>
            </a:r>
            <a:r>
              <a:rPr sz="3150" b="1" i="1" baseline="-25132" dirty="0">
                <a:latin typeface="Times New Roman"/>
                <a:cs typeface="Times New Roman"/>
              </a:rPr>
              <a:t>2</a:t>
            </a:r>
            <a:r>
              <a:rPr sz="3200" b="1" i="1" dirty="0">
                <a:latin typeface="Times New Roman"/>
                <a:cs typeface="Times New Roman"/>
              </a:rPr>
              <a:t>,</a:t>
            </a:r>
            <a:r>
              <a:rPr sz="3200" b="1" i="1" spc="-15" dirty="0">
                <a:latin typeface="Times New Roman"/>
                <a:cs typeface="Times New Roman"/>
              </a:rPr>
              <a:t> </a:t>
            </a:r>
            <a:r>
              <a:rPr sz="3200" b="1" i="1" dirty="0">
                <a:latin typeface="Times New Roman"/>
                <a:cs typeface="Times New Roman"/>
              </a:rPr>
              <a:t>…, </a:t>
            </a:r>
            <a:r>
              <a:rPr sz="3200" b="1" i="1" spc="-10" dirty="0">
                <a:latin typeface="Times New Roman"/>
                <a:cs typeface="Times New Roman"/>
              </a:rPr>
              <a:t>term</a:t>
            </a:r>
            <a:r>
              <a:rPr sz="3150" b="1" i="1" spc="-15" baseline="-21164" dirty="0">
                <a:latin typeface="Times New Roman"/>
                <a:cs typeface="Times New Roman"/>
              </a:rPr>
              <a:t>n</a:t>
            </a:r>
            <a:r>
              <a:rPr sz="3200" b="1" i="1" spc="-10" dirty="0">
                <a:latin typeface="Times New Roman"/>
                <a:cs typeface="Times New Roman"/>
              </a:rPr>
              <a:t>).</a:t>
            </a:r>
            <a:endParaRPr sz="3200">
              <a:latin typeface="Times New Roman"/>
              <a:cs typeface="Times New Roman"/>
            </a:endParaRPr>
          </a:p>
          <a:p>
            <a:pPr marL="299085" marR="17780" indent="-274320">
              <a:lnSpc>
                <a:spcPct val="100000"/>
              </a:lnSpc>
              <a:spcBef>
                <a:spcPts val="765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99085" algn="l"/>
                <a:tab pos="6055360" algn="l"/>
              </a:tabLst>
            </a:pPr>
            <a:r>
              <a:rPr sz="3200" dirty="0">
                <a:latin typeface="Times New Roman"/>
                <a:cs typeface="Times New Roman"/>
              </a:rPr>
              <a:t>Tên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vị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từ: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[a..z](a..z|</a:t>
            </a:r>
            <a:r>
              <a:rPr sz="3200" spc="-2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A..Z|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0..9|_)*</a:t>
            </a:r>
            <a:r>
              <a:rPr sz="3200" dirty="0">
                <a:latin typeface="Times New Roman"/>
                <a:cs typeface="Times New Roman"/>
              </a:rPr>
              <a:t>	(là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chuỗi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gồm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chữ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cái,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chữ </a:t>
            </a:r>
            <a:r>
              <a:rPr sz="3200" dirty="0">
                <a:latin typeface="Times New Roman"/>
                <a:cs typeface="Times New Roman"/>
              </a:rPr>
              <a:t>số,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ký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hiệu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“_”,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được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bắt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đầu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bởi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một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ký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tự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chữ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thường).Ví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dụ: </a:t>
            </a:r>
            <a:r>
              <a:rPr sz="3200" dirty="0">
                <a:latin typeface="Times New Roman"/>
                <a:cs typeface="Times New Roman"/>
              </a:rPr>
              <a:t>ban_than,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banThan,bAN_THAN,…</a:t>
            </a:r>
            <a:endParaRPr sz="3200">
              <a:latin typeface="Times New Roman"/>
              <a:cs typeface="Times New Roman"/>
            </a:endParaRPr>
          </a:p>
          <a:p>
            <a:pPr marL="299085" indent="-273685">
              <a:lnSpc>
                <a:spcPct val="100000"/>
              </a:lnSpc>
              <a:spcBef>
                <a:spcPts val="280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99085" algn="l"/>
              </a:tabLst>
            </a:pPr>
            <a:r>
              <a:rPr sz="3200" dirty="0">
                <a:latin typeface="Palatino Linotype"/>
                <a:cs typeface="Palatino Linotype"/>
              </a:rPr>
              <a:t>Ký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hiệu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vị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từ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có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thể</a:t>
            </a:r>
            <a:r>
              <a:rPr sz="3200" spc="-25" dirty="0">
                <a:latin typeface="Palatino Linotype"/>
                <a:cs typeface="Palatino Linotype"/>
              </a:rPr>
              <a:t> là:</a:t>
            </a:r>
            <a:endParaRPr sz="3200">
              <a:latin typeface="Palatino Linotype"/>
              <a:cs typeface="Palatino Linotype"/>
            </a:endParaRPr>
          </a:p>
          <a:p>
            <a:pPr marL="664845" lvl="1" indent="-246379">
              <a:lnSpc>
                <a:spcPct val="100000"/>
              </a:lnSpc>
              <a:spcBef>
                <a:spcPts val="770"/>
              </a:spcBef>
              <a:buClr>
                <a:srgbClr val="539E39"/>
              </a:buClr>
              <a:buSzPct val="84375"/>
              <a:buFont typeface="Wingdings 2"/>
              <a:buChar char=""/>
              <a:tabLst>
                <a:tab pos="664845" algn="l"/>
              </a:tabLst>
            </a:pPr>
            <a:r>
              <a:rPr sz="3200" i="1" dirty="0">
                <a:latin typeface="Palatino Linotype"/>
                <a:cs typeface="Palatino Linotype"/>
              </a:rPr>
              <a:t>Ký</a:t>
            </a:r>
            <a:r>
              <a:rPr sz="3200" i="1" spc="-20" dirty="0">
                <a:latin typeface="Palatino Linotype"/>
                <a:cs typeface="Palatino Linotype"/>
              </a:rPr>
              <a:t> </a:t>
            </a:r>
            <a:r>
              <a:rPr sz="3200" i="1" dirty="0">
                <a:latin typeface="Palatino Linotype"/>
                <a:cs typeface="Palatino Linotype"/>
              </a:rPr>
              <a:t>hiệu</a:t>
            </a:r>
            <a:r>
              <a:rPr sz="3200" i="1" spc="-15" dirty="0">
                <a:latin typeface="Palatino Linotype"/>
                <a:cs typeface="Palatino Linotype"/>
              </a:rPr>
              <a:t> </a:t>
            </a:r>
            <a:r>
              <a:rPr sz="3200" i="1" dirty="0">
                <a:latin typeface="Palatino Linotype"/>
                <a:cs typeface="Palatino Linotype"/>
              </a:rPr>
              <a:t>chân</a:t>
            </a:r>
            <a:r>
              <a:rPr sz="3200" i="1" spc="-20" dirty="0">
                <a:latin typeface="Palatino Linotype"/>
                <a:cs typeface="Palatino Linotype"/>
              </a:rPr>
              <a:t> </a:t>
            </a:r>
            <a:r>
              <a:rPr sz="3200" i="1" dirty="0">
                <a:latin typeface="Palatino Linotype"/>
                <a:cs typeface="Palatino Linotype"/>
              </a:rPr>
              <a:t>trị:</a:t>
            </a:r>
            <a:r>
              <a:rPr sz="3200" i="1" spc="-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true,</a:t>
            </a:r>
            <a:r>
              <a:rPr sz="3200" spc="-5" dirty="0">
                <a:latin typeface="Palatino Linotype"/>
                <a:cs typeface="Palatino Linotype"/>
              </a:rPr>
              <a:t> </a:t>
            </a:r>
            <a:r>
              <a:rPr sz="3200" spc="-10" dirty="0">
                <a:latin typeface="Palatino Linotype"/>
                <a:cs typeface="Palatino Linotype"/>
              </a:rPr>
              <a:t>false</a:t>
            </a:r>
            <a:endParaRPr sz="3200">
              <a:latin typeface="Palatino Linotype"/>
              <a:cs typeface="Palatino Linotype"/>
            </a:endParaRPr>
          </a:p>
          <a:p>
            <a:pPr marL="664845" lvl="1" indent="-246379">
              <a:lnSpc>
                <a:spcPct val="100000"/>
              </a:lnSpc>
              <a:spcBef>
                <a:spcPts val="790"/>
              </a:spcBef>
              <a:buClr>
                <a:srgbClr val="539E39"/>
              </a:buClr>
              <a:buSzPct val="84375"/>
              <a:buFont typeface="Wingdings 2"/>
              <a:buChar char=""/>
              <a:tabLst>
                <a:tab pos="664845" algn="l"/>
              </a:tabLst>
            </a:pPr>
            <a:r>
              <a:rPr sz="3200" i="1" dirty="0">
                <a:latin typeface="Palatino Linotype"/>
                <a:cs typeface="Palatino Linotype"/>
              </a:rPr>
              <a:t>Hằng,</a:t>
            </a:r>
            <a:r>
              <a:rPr sz="3200" i="1" spc="-30" dirty="0">
                <a:latin typeface="Palatino Linotype"/>
                <a:cs typeface="Palatino Linotype"/>
              </a:rPr>
              <a:t> </a:t>
            </a:r>
            <a:r>
              <a:rPr sz="3200" i="1" dirty="0">
                <a:latin typeface="Palatino Linotype"/>
                <a:cs typeface="Palatino Linotype"/>
              </a:rPr>
              <a:t>Biến,</a:t>
            </a:r>
            <a:r>
              <a:rPr sz="3200" i="1" spc="-15" dirty="0">
                <a:latin typeface="Palatino Linotype"/>
                <a:cs typeface="Palatino Linotype"/>
              </a:rPr>
              <a:t> </a:t>
            </a:r>
            <a:r>
              <a:rPr sz="3200" i="1" spc="-25" dirty="0">
                <a:latin typeface="Palatino Linotype"/>
                <a:cs typeface="Palatino Linotype"/>
              </a:rPr>
              <a:t>Hàm</a:t>
            </a:r>
            <a:endParaRPr sz="3200">
              <a:latin typeface="Palatino Linotype"/>
              <a:cs typeface="Palatino Linotype"/>
            </a:endParaRPr>
          </a:p>
          <a:p>
            <a:pPr marL="299085" indent="-273685">
              <a:lnSpc>
                <a:spcPct val="100000"/>
              </a:lnSpc>
              <a:spcBef>
                <a:spcPts val="1240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99085" algn="l"/>
              </a:tabLst>
            </a:pPr>
            <a:r>
              <a:rPr sz="3200" spc="-20" dirty="0">
                <a:latin typeface="Times New Roman"/>
                <a:cs typeface="Times New Roman"/>
              </a:rPr>
              <a:t>Term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có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thể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là: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Hằng,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Biến,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Biểu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thức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hàm.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3877" y="345694"/>
            <a:ext cx="5999480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dirty="0">
                <a:solidFill>
                  <a:srgbClr val="455F51"/>
                </a:solidFill>
              </a:rPr>
              <a:t>Cú</a:t>
            </a:r>
            <a:r>
              <a:rPr sz="5000" spc="-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pháp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biểu diễn</a:t>
            </a:r>
            <a:r>
              <a:rPr sz="5000" spc="-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vị</a:t>
            </a:r>
            <a:r>
              <a:rPr sz="5000" spc="-15" dirty="0">
                <a:solidFill>
                  <a:srgbClr val="455F51"/>
                </a:solidFill>
              </a:rPr>
              <a:t> </a:t>
            </a:r>
            <a:r>
              <a:rPr sz="5000" spc="-25" dirty="0">
                <a:solidFill>
                  <a:srgbClr val="455F51"/>
                </a:solidFill>
              </a:rPr>
              <a:t>từ</a:t>
            </a:r>
            <a:endParaRPr sz="5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42</a:t>
            </a:fld>
            <a:endParaRPr spc="-25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5640" y="1572005"/>
            <a:ext cx="10495280" cy="471995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07340" marR="17780" indent="-281940">
              <a:lnSpc>
                <a:spcPct val="100899"/>
              </a:lnSpc>
              <a:spcBef>
                <a:spcPts val="65"/>
              </a:spcBef>
              <a:buClr>
                <a:srgbClr val="539E39"/>
              </a:buClr>
              <a:buSzPct val="83928"/>
              <a:buFont typeface="Wingdings 2"/>
              <a:buChar char=""/>
              <a:tabLst>
                <a:tab pos="307340" algn="l"/>
              </a:tabLst>
            </a:pPr>
            <a:r>
              <a:rPr sz="2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Hằng: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dùng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chỉ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một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đối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tượng/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thuộc</a:t>
            </a:r>
            <a:r>
              <a:rPr sz="2800" spc="-5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tính</a:t>
            </a:r>
            <a:r>
              <a:rPr sz="2800" spc="-6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trong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thế</a:t>
            </a:r>
            <a:r>
              <a:rPr sz="2800" spc="-5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giới.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Ký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spc="-20" dirty="0">
                <a:latin typeface="Palatino Linotype"/>
                <a:cs typeface="Palatino Linotype"/>
              </a:rPr>
              <a:t>hiệu </a:t>
            </a:r>
            <a:r>
              <a:rPr sz="2800" dirty="0">
                <a:latin typeface="Palatino Linotype"/>
                <a:cs typeface="Palatino Linotype"/>
              </a:rPr>
              <a:t>bắt</a:t>
            </a:r>
            <a:r>
              <a:rPr sz="2800" spc="-7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đầu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bằng</a:t>
            </a:r>
            <a:r>
              <a:rPr sz="2800" spc="-65" dirty="0">
                <a:latin typeface="Palatino Linotype"/>
                <a:cs typeface="Palatino Linotype"/>
              </a:rPr>
              <a:t> </a:t>
            </a:r>
            <a:r>
              <a:rPr sz="2800" dirty="0">
                <a:solidFill>
                  <a:srgbClr val="FF0000"/>
                </a:solidFill>
                <a:latin typeface="Palatino Linotype"/>
                <a:cs typeface="Palatino Linotype"/>
              </a:rPr>
              <a:t>chữ</a:t>
            </a:r>
            <a:r>
              <a:rPr sz="2800" spc="-5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800" dirty="0">
                <a:solidFill>
                  <a:srgbClr val="FF0000"/>
                </a:solidFill>
                <a:latin typeface="Palatino Linotype"/>
                <a:cs typeface="Palatino Linotype"/>
              </a:rPr>
              <a:t>thường</a:t>
            </a:r>
            <a:r>
              <a:rPr sz="2800" dirty="0">
                <a:latin typeface="Palatino Linotype"/>
                <a:cs typeface="Palatino Linotype"/>
              </a:rPr>
              <a:t>:</a:t>
            </a:r>
            <a:r>
              <a:rPr sz="2800" spc="-50" dirty="0">
                <a:latin typeface="Palatino Linotype"/>
                <a:cs typeface="Palatino Linotype"/>
              </a:rPr>
              <a:t> </a:t>
            </a:r>
            <a:r>
              <a:rPr sz="2800" i="1" dirty="0">
                <a:latin typeface="Palatino Linotype"/>
                <a:cs typeface="Palatino Linotype"/>
              </a:rPr>
              <a:t>lan,</a:t>
            </a:r>
            <a:r>
              <a:rPr sz="2800" i="1" spc="-65" dirty="0">
                <a:latin typeface="Palatino Linotype"/>
                <a:cs typeface="Palatino Linotype"/>
              </a:rPr>
              <a:t> </a:t>
            </a:r>
            <a:r>
              <a:rPr sz="2800" i="1" spc="-10" dirty="0">
                <a:latin typeface="Palatino Linotype"/>
                <a:cs typeface="Palatino Linotype"/>
              </a:rPr>
              <a:t>yellow,</a:t>
            </a:r>
            <a:r>
              <a:rPr sz="2800" i="1" spc="-60" dirty="0">
                <a:latin typeface="Palatino Linotype"/>
                <a:cs typeface="Palatino Linotype"/>
              </a:rPr>
              <a:t> </a:t>
            </a:r>
            <a:r>
              <a:rPr sz="2800" i="1" dirty="0">
                <a:latin typeface="Palatino Linotype"/>
                <a:cs typeface="Palatino Linotype"/>
              </a:rPr>
              <a:t>rain,...</a:t>
            </a:r>
            <a:r>
              <a:rPr sz="2800" i="1" spc="-5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có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thể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hằng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chuỗi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hay </a:t>
            </a:r>
            <a:r>
              <a:rPr sz="2800" dirty="0">
                <a:latin typeface="Times New Roman"/>
                <a:cs typeface="Times New Roman"/>
              </a:rPr>
              <a:t>hằng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số.</a:t>
            </a:r>
            <a:endParaRPr sz="2800">
              <a:latin typeface="Times New Roman"/>
              <a:cs typeface="Times New Roman"/>
            </a:endParaRPr>
          </a:p>
          <a:p>
            <a:pPr marL="664845" lvl="1" indent="-246379">
              <a:lnSpc>
                <a:spcPct val="100000"/>
              </a:lnSpc>
              <a:spcBef>
                <a:spcPts val="670"/>
              </a:spcBef>
              <a:buClr>
                <a:srgbClr val="539E39"/>
              </a:buClr>
              <a:buSzPct val="83928"/>
              <a:buFont typeface="Wingdings 2"/>
              <a:buChar char=""/>
              <a:tabLst>
                <a:tab pos="664845" algn="l"/>
              </a:tabLst>
            </a:pPr>
            <a:r>
              <a:rPr sz="2800" dirty="0">
                <a:latin typeface="Times New Roman"/>
                <a:cs typeface="Times New Roman"/>
              </a:rPr>
              <a:t>Hằng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chuỗi: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[“](a..z|</a:t>
            </a:r>
            <a:r>
              <a:rPr sz="2800" b="1" spc="-1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A..Z|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0..9|_)*[”]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hay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[a..z](a..z|</a:t>
            </a:r>
            <a:r>
              <a:rPr sz="2800" b="1" spc="-1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A..Z|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0..9|_)*</a:t>
            </a:r>
            <a:endParaRPr sz="2800">
              <a:latin typeface="Times New Roman"/>
              <a:cs typeface="Times New Roman"/>
            </a:endParaRPr>
          </a:p>
          <a:p>
            <a:pPr marL="939165" lvl="2" indent="-246379">
              <a:lnSpc>
                <a:spcPct val="100000"/>
              </a:lnSpc>
              <a:spcBef>
                <a:spcPts val="675"/>
              </a:spcBef>
              <a:buClr>
                <a:srgbClr val="89B833"/>
              </a:buClr>
              <a:buSzPct val="69642"/>
              <a:buFont typeface="Wingdings 2"/>
              <a:buChar char=""/>
              <a:tabLst>
                <a:tab pos="939165" algn="l"/>
                <a:tab pos="4193540" algn="l"/>
              </a:tabLst>
            </a:pPr>
            <a:r>
              <a:rPr sz="2800" dirty="0">
                <a:latin typeface="Times New Roman"/>
                <a:cs typeface="Times New Roman"/>
              </a:rPr>
              <a:t>Ví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dụ:</a:t>
            </a:r>
            <a:r>
              <a:rPr sz="2800" i="1" spc="-5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“Lan”,</a:t>
            </a:r>
            <a:r>
              <a:rPr sz="2800" i="1" spc="-25" dirty="0">
                <a:latin typeface="Times New Roman"/>
                <a:cs typeface="Times New Roman"/>
              </a:rPr>
              <a:t> </a:t>
            </a:r>
            <a:r>
              <a:rPr sz="2800" i="1" spc="-10" dirty="0">
                <a:latin typeface="Times New Roman"/>
                <a:cs typeface="Times New Roman"/>
              </a:rPr>
              <a:t>“lan”,</a:t>
            </a:r>
            <a:r>
              <a:rPr sz="2800" i="1" dirty="0">
                <a:latin typeface="Times New Roman"/>
                <a:cs typeface="Times New Roman"/>
              </a:rPr>
              <a:t>	</a:t>
            </a:r>
            <a:r>
              <a:rPr sz="2800" dirty="0">
                <a:latin typeface="Times New Roman"/>
                <a:cs typeface="Times New Roman"/>
              </a:rPr>
              <a:t>lan,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chuoi,…</a:t>
            </a:r>
            <a:endParaRPr sz="2800">
              <a:latin typeface="Times New Roman"/>
              <a:cs typeface="Times New Roman"/>
            </a:endParaRPr>
          </a:p>
          <a:p>
            <a:pPr marL="665480" lvl="1" indent="-247015">
              <a:lnSpc>
                <a:spcPct val="100000"/>
              </a:lnSpc>
              <a:spcBef>
                <a:spcPts val="670"/>
              </a:spcBef>
              <a:buClr>
                <a:srgbClr val="539E39"/>
              </a:buClr>
              <a:buSzPct val="83928"/>
              <a:buFont typeface="Wingdings 2"/>
              <a:buChar char=""/>
              <a:tabLst>
                <a:tab pos="665480" algn="l"/>
              </a:tabLst>
            </a:pPr>
            <a:r>
              <a:rPr sz="2800" dirty="0">
                <a:latin typeface="Times New Roman"/>
                <a:cs typeface="Times New Roman"/>
              </a:rPr>
              <a:t>Hằng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số: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(0..9)</a:t>
            </a:r>
            <a:r>
              <a:rPr sz="2775" b="1" spc="-15" baseline="25525" dirty="0">
                <a:latin typeface="Times New Roman"/>
                <a:cs typeface="Times New Roman"/>
              </a:rPr>
              <a:t>*</a:t>
            </a:r>
            <a:endParaRPr sz="2775" baseline="25525">
              <a:latin typeface="Times New Roman"/>
              <a:cs typeface="Times New Roman"/>
            </a:endParaRPr>
          </a:p>
          <a:p>
            <a:pPr marL="939165" lvl="2" indent="-246379">
              <a:lnSpc>
                <a:spcPct val="100000"/>
              </a:lnSpc>
              <a:spcBef>
                <a:spcPts val="675"/>
              </a:spcBef>
              <a:buClr>
                <a:srgbClr val="89B833"/>
              </a:buClr>
              <a:buSzPct val="69642"/>
              <a:buFont typeface="Wingdings 2"/>
              <a:buChar char=""/>
              <a:tabLst>
                <a:tab pos="939165" algn="l"/>
              </a:tabLst>
            </a:pPr>
            <a:r>
              <a:rPr sz="2800" dirty="0">
                <a:latin typeface="Times New Roman"/>
                <a:cs typeface="Times New Roman"/>
              </a:rPr>
              <a:t>Ví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dụ: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10,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32,..</a:t>
            </a:r>
            <a:endParaRPr sz="2800">
              <a:latin typeface="Times New Roman"/>
              <a:cs typeface="Times New Roman"/>
            </a:endParaRPr>
          </a:p>
          <a:p>
            <a:pPr marL="299085" indent="-273685">
              <a:lnSpc>
                <a:spcPct val="100000"/>
              </a:lnSpc>
              <a:spcBef>
                <a:spcPts val="670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99085" algn="l"/>
              </a:tabLst>
            </a:pPr>
            <a:r>
              <a:rPr sz="2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Biến: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[A..Z](a..z|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A..Z|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0..9|_)*</a:t>
            </a:r>
            <a:endParaRPr sz="2800">
              <a:latin typeface="Times New Roman"/>
              <a:cs typeface="Times New Roman"/>
            </a:endParaRPr>
          </a:p>
          <a:p>
            <a:pPr marL="665480" marR="47625" lvl="1" indent="-247650">
              <a:lnSpc>
                <a:spcPts val="3050"/>
              </a:lnSpc>
              <a:spcBef>
                <a:spcPts val="615"/>
              </a:spcBef>
              <a:buClr>
                <a:srgbClr val="539E39"/>
              </a:buClr>
              <a:buSzPct val="83928"/>
              <a:buFont typeface="Wingdings 2"/>
              <a:buChar char=""/>
              <a:tabLst>
                <a:tab pos="665480" algn="l"/>
              </a:tabLst>
            </a:pPr>
            <a:r>
              <a:rPr sz="2800" dirty="0">
                <a:latin typeface="Palatino Linotype"/>
                <a:cs typeface="Palatino Linotype"/>
              </a:rPr>
              <a:t>dùng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chỉ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một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lớp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tổng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quát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các</a:t>
            </a:r>
            <a:r>
              <a:rPr sz="2800" spc="-5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đối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tượng/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thuộc</a:t>
            </a:r>
            <a:r>
              <a:rPr sz="2800" spc="-5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tính.</a:t>
            </a:r>
            <a:r>
              <a:rPr sz="2800" spc="-5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Ký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spc="-20" dirty="0">
                <a:latin typeface="Palatino Linotype"/>
                <a:cs typeface="Palatino Linotype"/>
              </a:rPr>
              <a:t>hiệu </a:t>
            </a:r>
            <a:r>
              <a:rPr sz="2800" dirty="0">
                <a:latin typeface="Palatino Linotype"/>
                <a:cs typeface="Palatino Linotype"/>
              </a:rPr>
              <a:t>bắt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đầu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bằng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solidFill>
                  <a:srgbClr val="FF0000"/>
                </a:solidFill>
                <a:latin typeface="Palatino Linotype"/>
                <a:cs typeface="Palatino Linotype"/>
              </a:rPr>
              <a:t>chữ</a:t>
            </a:r>
            <a:r>
              <a:rPr sz="2800" spc="-4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800" dirty="0">
                <a:solidFill>
                  <a:srgbClr val="FF0000"/>
                </a:solidFill>
                <a:latin typeface="Palatino Linotype"/>
                <a:cs typeface="Palatino Linotype"/>
              </a:rPr>
              <a:t>hoa</a:t>
            </a:r>
            <a:r>
              <a:rPr sz="2800" dirty="0">
                <a:latin typeface="Palatino Linotype"/>
                <a:cs typeface="Palatino Linotype"/>
              </a:rPr>
              <a:t>:</a:t>
            </a:r>
            <a:r>
              <a:rPr sz="2800" spc="-50" dirty="0">
                <a:latin typeface="Palatino Linotype"/>
                <a:cs typeface="Palatino Linotype"/>
              </a:rPr>
              <a:t> </a:t>
            </a:r>
            <a:r>
              <a:rPr sz="2800" i="1" dirty="0">
                <a:latin typeface="Palatino Linotype"/>
                <a:cs typeface="Palatino Linotype"/>
              </a:rPr>
              <a:t>X,</a:t>
            </a:r>
            <a:r>
              <a:rPr sz="2800" i="1" spc="-45" dirty="0">
                <a:latin typeface="Palatino Linotype"/>
                <a:cs typeface="Palatino Linotype"/>
              </a:rPr>
              <a:t> </a:t>
            </a:r>
            <a:r>
              <a:rPr sz="2800" i="1" dirty="0">
                <a:latin typeface="Palatino Linotype"/>
                <a:cs typeface="Palatino Linotype"/>
              </a:rPr>
              <a:t>People,</a:t>
            </a:r>
            <a:r>
              <a:rPr sz="2800" i="1" spc="-45" dirty="0">
                <a:latin typeface="Palatino Linotype"/>
                <a:cs typeface="Palatino Linotype"/>
              </a:rPr>
              <a:t> </a:t>
            </a:r>
            <a:r>
              <a:rPr sz="2800" i="1" spc="-10" dirty="0">
                <a:latin typeface="Palatino Linotype"/>
                <a:cs typeface="Palatino Linotype"/>
              </a:rPr>
              <a:t>Students,...</a:t>
            </a:r>
            <a:endParaRPr sz="28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3877" y="345694"/>
            <a:ext cx="5999480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dirty="0">
                <a:solidFill>
                  <a:srgbClr val="455F51"/>
                </a:solidFill>
              </a:rPr>
              <a:t>Cú</a:t>
            </a:r>
            <a:r>
              <a:rPr sz="5000" spc="-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pháp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biểu diễn</a:t>
            </a:r>
            <a:r>
              <a:rPr sz="5000" spc="-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vị</a:t>
            </a:r>
            <a:r>
              <a:rPr sz="5000" spc="-15" dirty="0">
                <a:solidFill>
                  <a:srgbClr val="455F51"/>
                </a:solidFill>
              </a:rPr>
              <a:t> </a:t>
            </a:r>
            <a:r>
              <a:rPr sz="5000" spc="-25" dirty="0">
                <a:solidFill>
                  <a:srgbClr val="455F51"/>
                </a:solidFill>
              </a:rPr>
              <a:t>từ</a:t>
            </a:r>
            <a:endParaRPr sz="5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43</a:t>
            </a:fld>
            <a:endParaRPr spc="-25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5640" y="1578102"/>
            <a:ext cx="10786745" cy="3952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73685">
              <a:lnSpc>
                <a:spcPts val="4040"/>
              </a:lnSpc>
              <a:spcBef>
                <a:spcPts val="95"/>
              </a:spcBef>
              <a:buClr>
                <a:srgbClr val="C0CF39"/>
              </a:buClr>
              <a:buSzPct val="94117"/>
              <a:buFont typeface="Wingdings 2"/>
              <a:buChar char=""/>
              <a:tabLst>
                <a:tab pos="299085" algn="l"/>
              </a:tabLst>
            </a:pPr>
            <a:r>
              <a:rPr sz="3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Biểu</a:t>
            </a:r>
            <a:r>
              <a:rPr sz="3400" u="sng" spc="-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thức</a:t>
            </a:r>
            <a:r>
              <a:rPr sz="3400" u="sng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hàm</a:t>
            </a:r>
            <a:r>
              <a:rPr sz="3400" u="sng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có</a:t>
            </a:r>
            <a:r>
              <a:rPr sz="3400" u="sng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dạng:</a:t>
            </a:r>
            <a:r>
              <a:rPr sz="3400" spc="-8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tên_hàm(term</a:t>
            </a:r>
            <a:r>
              <a:rPr sz="3375" b="1" baseline="-24691" dirty="0">
                <a:latin typeface="Times New Roman"/>
                <a:cs typeface="Times New Roman"/>
              </a:rPr>
              <a:t>1</a:t>
            </a:r>
            <a:r>
              <a:rPr sz="3400" b="1" dirty="0">
                <a:latin typeface="Times New Roman"/>
                <a:cs typeface="Times New Roman"/>
              </a:rPr>
              <a:t>,</a:t>
            </a:r>
            <a:r>
              <a:rPr sz="3400" b="1" spc="-3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term</a:t>
            </a:r>
            <a:r>
              <a:rPr sz="3375" b="1" baseline="-24691" dirty="0">
                <a:latin typeface="Times New Roman"/>
                <a:cs typeface="Times New Roman"/>
              </a:rPr>
              <a:t>2</a:t>
            </a:r>
            <a:r>
              <a:rPr sz="3400" b="1" dirty="0">
                <a:latin typeface="Times New Roman"/>
                <a:cs typeface="Times New Roman"/>
              </a:rPr>
              <a:t>,</a:t>
            </a:r>
            <a:r>
              <a:rPr sz="3400" b="1" spc="-6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…,</a:t>
            </a:r>
            <a:r>
              <a:rPr sz="3400" b="1" spc="-65" dirty="0">
                <a:latin typeface="Times New Roman"/>
                <a:cs typeface="Times New Roman"/>
              </a:rPr>
              <a:t> </a:t>
            </a:r>
            <a:r>
              <a:rPr sz="3400" b="1" spc="-10" dirty="0">
                <a:latin typeface="Times New Roman"/>
                <a:cs typeface="Times New Roman"/>
              </a:rPr>
              <a:t>term</a:t>
            </a:r>
            <a:r>
              <a:rPr sz="3375" b="1" spc="-15" baseline="-20987" dirty="0">
                <a:latin typeface="Times New Roman"/>
                <a:cs typeface="Times New Roman"/>
              </a:rPr>
              <a:t>n</a:t>
            </a:r>
            <a:r>
              <a:rPr sz="3400" b="1" spc="-10" dirty="0">
                <a:latin typeface="Times New Roman"/>
                <a:cs typeface="Times New Roman"/>
              </a:rPr>
              <a:t>),</a:t>
            </a:r>
            <a:endParaRPr sz="3400">
              <a:latin typeface="Times New Roman"/>
              <a:cs typeface="Times New Roman"/>
            </a:endParaRPr>
          </a:p>
          <a:p>
            <a:pPr marL="299085">
              <a:lnSpc>
                <a:spcPts val="4040"/>
              </a:lnSpc>
            </a:pPr>
            <a:r>
              <a:rPr sz="3400" dirty="0">
                <a:latin typeface="Palatino Linotype"/>
                <a:cs typeface="Palatino Linotype"/>
              </a:rPr>
              <a:t>dùng</a:t>
            </a:r>
            <a:r>
              <a:rPr sz="3400" spc="-60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chỉ</a:t>
            </a:r>
            <a:r>
              <a:rPr sz="3400" spc="-40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một</a:t>
            </a:r>
            <a:r>
              <a:rPr sz="3400" spc="-35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hàm</a:t>
            </a:r>
            <a:r>
              <a:rPr sz="3400" spc="-45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trên</a:t>
            </a:r>
            <a:r>
              <a:rPr sz="3400" spc="-45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các</a:t>
            </a:r>
            <a:r>
              <a:rPr sz="3400" spc="-25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đối</a:t>
            </a:r>
            <a:r>
              <a:rPr sz="3400" spc="-45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tượng.</a:t>
            </a:r>
            <a:r>
              <a:rPr sz="3400" spc="-25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Trong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đó:</a:t>
            </a:r>
            <a:endParaRPr sz="3400">
              <a:latin typeface="Times New Roman"/>
              <a:cs typeface="Times New Roman"/>
            </a:endParaRPr>
          </a:p>
          <a:p>
            <a:pPr marL="664210" marR="431165" lvl="1" indent="-246379">
              <a:lnSpc>
                <a:spcPct val="100000"/>
              </a:lnSpc>
              <a:spcBef>
                <a:spcPts val="820"/>
              </a:spcBef>
              <a:buClr>
                <a:srgbClr val="539E39"/>
              </a:buClr>
              <a:buSzPct val="85294"/>
              <a:buFont typeface="Wingdings 2"/>
              <a:buChar char=""/>
              <a:tabLst>
                <a:tab pos="665480" algn="l"/>
              </a:tabLst>
            </a:pPr>
            <a:r>
              <a:rPr sz="3400" b="1" dirty="0">
                <a:latin typeface="Times New Roman"/>
                <a:cs typeface="Times New Roman"/>
              </a:rPr>
              <a:t>Tên</a:t>
            </a:r>
            <a:r>
              <a:rPr sz="3400" b="1" spc="-4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hàm</a:t>
            </a:r>
            <a:r>
              <a:rPr sz="3400" b="1" spc="-3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=</a:t>
            </a:r>
            <a:r>
              <a:rPr sz="3400" b="1" spc="-4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[a..z</a:t>
            </a:r>
            <a:r>
              <a:rPr sz="3400" b="1" spc="-30" dirty="0">
                <a:latin typeface="Times New Roman"/>
                <a:cs typeface="Times New Roman"/>
              </a:rPr>
              <a:t> </a:t>
            </a:r>
            <a:r>
              <a:rPr sz="3400" b="1" spc="-10" dirty="0">
                <a:latin typeface="Times New Roman"/>
                <a:cs typeface="Times New Roman"/>
              </a:rPr>
              <a:t>](a..z|</a:t>
            </a:r>
            <a:r>
              <a:rPr sz="3400" b="1" spc="-204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A..Z|</a:t>
            </a:r>
            <a:r>
              <a:rPr sz="3400" b="1" spc="-4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0..9|_)*,</a:t>
            </a:r>
            <a:r>
              <a:rPr sz="3400" b="1" spc="-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Ký</a:t>
            </a:r>
            <a:r>
              <a:rPr sz="3400" spc="-40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hiệu</a:t>
            </a:r>
            <a:r>
              <a:rPr sz="3400" spc="-40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bắt</a:t>
            </a:r>
            <a:r>
              <a:rPr sz="3400" spc="-40" dirty="0">
                <a:latin typeface="Palatino Linotype"/>
                <a:cs typeface="Palatino Linotype"/>
              </a:rPr>
              <a:t> </a:t>
            </a:r>
            <a:r>
              <a:rPr sz="3400" spc="-25" dirty="0">
                <a:latin typeface="Palatino Linotype"/>
                <a:cs typeface="Palatino Linotype"/>
              </a:rPr>
              <a:t>đầu 	</a:t>
            </a:r>
            <a:r>
              <a:rPr sz="3400" dirty="0">
                <a:latin typeface="Palatino Linotype"/>
                <a:cs typeface="Palatino Linotype"/>
              </a:rPr>
              <a:t>bằng</a:t>
            </a:r>
            <a:r>
              <a:rPr sz="3400" spc="-100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chữ</a:t>
            </a:r>
            <a:r>
              <a:rPr sz="3400" spc="-100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thường:</a:t>
            </a:r>
            <a:r>
              <a:rPr sz="3400" spc="-75" dirty="0">
                <a:latin typeface="Palatino Linotype"/>
                <a:cs typeface="Palatino Linotype"/>
              </a:rPr>
              <a:t> </a:t>
            </a:r>
            <a:r>
              <a:rPr sz="3400" i="1" spc="-25" dirty="0">
                <a:latin typeface="Palatino Linotype"/>
                <a:cs typeface="Palatino Linotype"/>
              </a:rPr>
              <a:t>father,</a:t>
            </a:r>
            <a:r>
              <a:rPr sz="3400" i="1" spc="-75" dirty="0">
                <a:latin typeface="Palatino Linotype"/>
                <a:cs typeface="Palatino Linotype"/>
              </a:rPr>
              <a:t> </a:t>
            </a:r>
            <a:r>
              <a:rPr sz="3400" i="1" dirty="0">
                <a:latin typeface="Palatino Linotype"/>
                <a:cs typeface="Palatino Linotype"/>
              </a:rPr>
              <a:t>plus,</a:t>
            </a:r>
            <a:r>
              <a:rPr sz="3400" i="1" spc="-85" dirty="0">
                <a:latin typeface="Palatino Linotype"/>
                <a:cs typeface="Palatino Linotype"/>
              </a:rPr>
              <a:t> </a:t>
            </a:r>
            <a:r>
              <a:rPr sz="3400" i="1" spc="-10" dirty="0">
                <a:latin typeface="Palatino Linotype"/>
                <a:cs typeface="Palatino Linotype"/>
              </a:rPr>
              <a:t>multiply...</a:t>
            </a:r>
            <a:endParaRPr sz="3400">
              <a:latin typeface="Palatino Linotype"/>
              <a:cs typeface="Palatino Linotype"/>
            </a:endParaRPr>
          </a:p>
          <a:p>
            <a:pPr marL="664210" marR="130810" lvl="1" indent="-246379">
              <a:lnSpc>
                <a:spcPct val="100000"/>
              </a:lnSpc>
              <a:spcBef>
                <a:spcPts val="790"/>
              </a:spcBef>
              <a:buClr>
                <a:srgbClr val="539E39"/>
              </a:buClr>
              <a:buSzPct val="85294"/>
              <a:buFont typeface="Wingdings 2"/>
              <a:buChar char=""/>
              <a:tabLst>
                <a:tab pos="665480" algn="l"/>
              </a:tabLst>
            </a:pPr>
            <a:r>
              <a:rPr sz="3400" dirty="0">
                <a:latin typeface="Palatino Linotype"/>
                <a:cs typeface="Palatino Linotype"/>
              </a:rPr>
              <a:t>Mỗi</a:t>
            </a:r>
            <a:r>
              <a:rPr sz="3400" spc="-25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ký</a:t>
            </a:r>
            <a:r>
              <a:rPr sz="3400" spc="-15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hiệu</a:t>
            </a:r>
            <a:r>
              <a:rPr sz="3400" spc="-15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hàm</a:t>
            </a:r>
            <a:r>
              <a:rPr sz="3400" spc="-15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có</a:t>
            </a:r>
            <a:r>
              <a:rPr sz="3400" spc="-5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một</a:t>
            </a:r>
            <a:r>
              <a:rPr sz="3400" spc="-20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ngôi</a:t>
            </a:r>
            <a:r>
              <a:rPr sz="3400" spc="-15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n,</a:t>
            </a:r>
            <a:r>
              <a:rPr sz="3400" spc="-10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chỉ</a:t>
            </a:r>
            <a:r>
              <a:rPr sz="3400" spc="-30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số</a:t>
            </a:r>
            <a:r>
              <a:rPr sz="3400" spc="-15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lượng</a:t>
            </a:r>
            <a:r>
              <a:rPr sz="3400" spc="-5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các</a:t>
            </a:r>
            <a:r>
              <a:rPr sz="3400" spc="5" dirty="0">
                <a:latin typeface="Palatino Linotype"/>
                <a:cs typeface="Palatino Linotype"/>
              </a:rPr>
              <a:t> </a:t>
            </a:r>
            <a:r>
              <a:rPr sz="3400" spc="-25" dirty="0">
                <a:latin typeface="Palatino Linotype"/>
                <a:cs typeface="Palatino Linotype"/>
              </a:rPr>
              <a:t>đối 	</a:t>
            </a:r>
            <a:r>
              <a:rPr sz="3400" dirty="0">
                <a:latin typeface="Palatino Linotype"/>
                <a:cs typeface="Palatino Linotype"/>
              </a:rPr>
              <a:t>số</a:t>
            </a:r>
            <a:r>
              <a:rPr sz="3400" spc="-35" dirty="0">
                <a:latin typeface="Palatino Linotype"/>
                <a:cs typeface="Palatino Linotype"/>
              </a:rPr>
              <a:t> </a:t>
            </a:r>
            <a:r>
              <a:rPr sz="3400" dirty="0">
                <a:latin typeface="Palatino Linotype"/>
                <a:cs typeface="Palatino Linotype"/>
              </a:rPr>
              <a:t>của</a:t>
            </a:r>
            <a:r>
              <a:rPr sz="3400" spc="-30" dirty="0">
                <a:latin typeface="Palatino Linotype"/>
                <a:cs typeface="Palatino Linotype"/>
              </a:rPr>
              <a:t> </a:t>
            </a:r>
            <a:r>
              <a:rPr sz="3400" spc="-25" dirty="0">
                <a:latin typeface="Palatino Linotype"/>
                <a:cs typeface="Palatino Linotype"/>
              </a:rPr>
              <a:t>hàm</a:t>
            </a:r>
            <a:endParaRPr sz="3400">
              <a:latin typeface="Palatino Linotype"/>
              <a:cs typeface="Palatino Linotype"/>
            </a:endParaRPr>
          </a:p>
          <a:p>
            <a:pPr marL="664845" lvl="1" indent="-246379">
              <a:lnSpc>
                <a:spcPct val="100000"/>
              </a:lnSpc>
              <a:spcBef>
                <a:spcPts val="840"/>
              </a:spcBef>
              <a:buClr>
                <a:srgbClr val="539E39"/>
              </a:buClr>
              <a:buSzPct val="85294"/>
              <a:buFont typeface="Wingdings 2"/>
              <a:buChar char=""/>
              <a:tabLst>
                <a:tab pos="664845" algn="l"/>
                <a:tab pos="7341234" algn="l"/>
              </a:tabLst>
            </a:pPr>
            <a:r>
              <a:rPr sz="3400" dirty="0">
                <a:latin typeface="Times New Roman"/>
                <a:cs typeface="Times New Roman"/>
              </a:rPr>
              <a:t>Ví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dụ: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Palatino Linotype"/>
                <a:cs typeface="Palatino Linotype"/>
              </a:rPr>
              <a:t>price(bananas)</a:t>
            </a:r>
            <a:r>
              <a:rPr sz="3400" dirty="0">
                <a:latin typeface="Palatino Linotype"/>
                <a:cs typeface="Palatino Linotype"/>
              </a:rPr>
              <a:t>	like(tom,</a:t>
            </a:r>
            <a:r>
              <a:rPr sz="3400" spc="-100" dirty="0">
                <a:latin typeface="Palatino Linotype"/>
                <a:cs typeface="Palatino Linotype"/>
              </a:rPr>
              <a:t> </a:t>
            </a:r>
            <a:r>
              <a:rPr sz="3400" spc="-10" dirty="0">
                <a:latin typeface="Palatino Linotype"/>
                <a:cs typeface="Palatino Linotype"/>
              </a:rPr>
              <a:t>football)</a:t>
            </a:r>
            <a:endParaRPr sz="34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3877" y="345694"/>
            <a:ext cx="5999480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dirty="0">
                <a:solidFill>
                  <a:srgbClr val="455F51"/>
                </a:solidFill>
              </a:rPr>
              <a:t>Cú</a:t>
            </a:r>
            <a:r>
              <a:rPr sz="5000" spc="-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pháp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biểu diễn</a:t>
            </a:r>
            <a:r>
              <a:rPr sz="5000" spc="-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vị</a:t>
            </a:r>
            <a:r>
              <a:rPr sz="5000" spc="-15" dirty="0">
                <a:solidFill>
                  <a:srgbClr val="455F51"/>
                </a:solidFill>
              </a:rPr>
              <a:t> </a:t>
            </a:r>
            <a:r>
              <a:rPr sz="5000" spc="-25" dirty="0">
                <a:solidFill>
                  <a:srgbClr val="455F51"/>
                </a:solidFill>
              </a:rPr>
              <a:t>từ</a:t>
            </a:r>
            <a:endParaRPr sz="5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44</a:t>
            </a:fld>
            <a:endParaRPr spc="-25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515618"/>
            <a:ext cx="10704830" cy="290385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86385" marR="203835" indent="-274320">
              <a:lnSpc>
                <a:spcPts val="3460"/>
              </a:lnSpc>
              <a:spcBef>
                <a:spcPts val="535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b="1" dirty="0">
                <a:latin typeface="Palatino Linotype"/>
                <a:cs typeface="Palatino Linotype"/>
              </a:rPr>
              <a:t>Câu</a:t>
            </a:r>
            <a:r>
              <a:rPr sz="3200" b="1" spc="-45" dirty="0">
                <a:latin typeface="Palatino Linotype"/>
                <a:cs typeface="Palatino Linotype"/>
              </a:rPr>
              <a:t> </a:t>
            </a:r>
            <a:r>
              <a:rPr sz="3200" b="1" dirty="0">
                <a:latin typeface="Palatino Linotype"/>
                <a:cs typeface="Palatino Linotype"/>
              </a:rPr>
              <a:t>sơ</a:t>
            </a:r>
            <a:r>
              <a:rPr sz="3200" b="1" spc="-20" dirty="0">
                <a:latin typeface="Palatino Linotype"/>
                <a:cs typeface="Palatino Linotype"/>
              </a:rPr>
              <a:t> </a:t>
            </a:r>
            <a:r>
              <a:rPr sz="3200" b="1" dirty="0">
                <a:latin typeface="Palatino Linotype"/>
                <a:cs typeface="Palatino Linotype"/>
              </a:rPr>
              <a:t>cấp:</a:t>
            </a:r>
            <a:r>
              <a:rPr sz="3200" b="1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là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một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hằng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vị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từ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ngôi</a:t>
            </a:r>
            <a:r>
              <a:rPr sz="3200" spc="-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gồm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thành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spc="-20" dirty="0">
                <a:latin typeface="Palatino Linotype"/>
                <a:cs typeface="Palatino Linotype"/>
              </a:rPr>
              <a:t>phần </a:t>
            </a:r>
            <a:r>
              <a:rPr sz="3200" dirty="0">
                <a:latin typeface="Palatino Linotype"/>
                <a:cs typeface="Palatino Linotype"/>
              </a:rPr>
              <a:t>(mỗi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thành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phần</a:t>
            </a:r>
            <a:r>
              <a:rPr sz="3200" spc="-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là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một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term),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đặt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trong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cặp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dấu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(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),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spc="-20" dirty="0">
                <a:latin typeface="Palatino Linotype"/>
                <a:cs typeface="Palatino Linotype"/>
              </a:rPr>
              <a:t>cách </a:t>
            </a:r>
            <a:r>
              <a:rPr sz="3200" dirty="0">
                <a:latin typeface="Palatino Linotype"/>
                <a:cs typeface="Palatino Linotype"/>
              </a:rPr>
              <a:t>nhau</a:t>
            </a:r>
            <a:r>
              <a:rPr sz="3200" spc="-5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bởi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dấu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‘,’</a:t>
            </a:r>
            <a:r>
              <a:rPr sz="3200" spc="-2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và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kết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thúc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với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dấu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‘.’</a:t>
            </a:r>
            <a:endParaRPr sz="3200">
              <a:latin typeface="Palatino Linotype"/>
              <a:cs typeface="Palatino Linotype"/>
            </a:endParaRPr>
          </a:p>
          <a:p>
            <a:pPr marL="652145" lvl="1" indent="-246379">
              <a:lnSpc>
                <a:spcPct val="100000"/>
              </a:lnSpc>
              <a:spcBef>
                <a:spcPts val="325"/>
              </a:spcBef>
              <a:buClr>
                <a:srgbClr val="539E39"/>
              </a:buClr>
              <a:buSzPct val="84375"/>
              <a:buFont typeface="Wingdings 2"/>
              <a:buChar char=""/>
              <a:tabLst>
                <a:tab pos="652145" algn="l"/>
              </a:tabLst>
            </a:pPr>
            <a:r>
              <a:rPr sz="3200" dirty="0">
                <a:latin typeface="Palatino Linotype"/>
                <a:cs typeface="Palatino Linotype"/>
              </a:rPr>
              <a:t>Chân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trị</a:t>
            </a:r>
            <a:r>
              <a:rPr sz="3200" spc="-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true,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false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là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các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câu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sơ</a:t>
            </a:r>
            <a:r>
              <a:rPr sz="3200" spc="-5" dirty="0">
                <a:latin typeface="Palatino Linotype"/>
                <a:cs typeface="Palatino Linotype"/>
              </a:rPr>
              <a:t> </a:t>
            </a:r>
            <a:r>
              <a:rPr sz="3200" spc="-20" dirty="0">
                <a:latin typeface="Palatino Linotype"/>
                <a:cs typeface="Palatino Linotype"/>
              </a:rPr>
              <a:t>cấp.</a:t>
            </a:r>
            <a:endParaRPr sz="3200">
              <a:latin typeface="Palatino Linotype"/>
              <a:cs typeface="Palatino Linotype"/>
            </a:endParaRPr>
          </a:p>
          <a:p>
            <a:pPr marL="652145" lvl="1" indent="-246379">
              <a:lnSpc>
                <a:spcPts val="3650"/>
              </a:lnSpc>
              <a:spcBef>
                <a:spcPts val="385"/>
              </a:spcBef>
              <a:buClr>
                <a:srgbClr val="539E39"/>
              </a:buClr>
              <a:buSzPct val="84375"/>
              <a:buFont typeface="Wingdings 2"/>
              <a:buChar char=""/>
              <a:tabLst>
                <a:tab pos="652145" algn="l"/>
              </a:tabLst>
            </a:pPr>
            <a:r>
              <a:rPr sz="3200" dirty="0">
                <a:latin typeface="Palatino Linotype"/>
                <a:cs typeface="Palatino Linotype"/>
              </a:rPr>
              <a:t>Câu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sơ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cấp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còn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được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gọi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là: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biểu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thức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sơ</a:t>
            </a:r>
            <a:r>
              <a:rPr sz="3200" spc="-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cấp,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nguyên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tử</a:t>
            </a:r>
            <a:endParaRPr sz="3200">
              <a:latin typeface="Palatino Linotype"/>
              <a:cs typeface="Palatino Linotype"/>
            </a:endParaRPr>
          </a:p>
          <a:p>
            <a:pPr marL="652780">
              <a:lnSpc>
                <a:spcPts val="3650"/>
              </a:lnSpc>
            </a:pPr>
            <a:r>
              <a:rPr sz="3200" dirty="0">
                <a:latin typeface="Palatino Linotype"/>
                <a:cs typeface="Palatino Linotype"/>
              </a:rPr>
              <a:t>hay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mệnh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đề</a:t>
            </a:r>
            <a:endParaRPr sz="320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3877" y="345694"/>
            <a:ext cx="5999480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dirty="0">
                <a:solidFill>
                  <a:srgbClr val="455F51"/>
                </a:solidFill>
              </a:rPr>
              <a:t>Cú</a:t>
            </a:r>
            <a:r>
              <a:rPr sz="5000" spc="-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pháp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biểu diễn</a:t>
            </a:r>
            <a:r>
              <a:rPr sz="5000" spc="-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vị</a:t>
            </a:r>
            <a:r>
              <a:rPr sz="5000" spc="-15" dirty="0">
                <a:solidFill>
                  <a:srgbClr val="455F51"/>
                </a:solidFill>
              </a:rPr>
              <a:t> </a:t>
            </a:r>
            <a:r>
              <a:rPr sz="5000" spc="-25" dirty="0">
                <a:solidFill>
                  <a:srgbClr val="455F51"/>
                </a:solidFill>
              </a:rPr>
              <a:t>từ</a:t>
            </a:r>
            <a:endParaRPr sz="50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45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90029" y="4394047"/>
            <a:ext cx="3484879" cy="1098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3200" dirty="0">
                <a:latin typeface="Palatino Linotype"/>
                <a:cs typeface="Palatino Linotype"/>
              </a:rPr>
              <a:t>likes(hellen,</a:t>
            </a:r>
            <a:r>
              <a:rPr sz="3200" spc="-175" dirty="0">
                <a:latin typeface="Palatino Linotype"/>
                <a:cs typeface="Palatino Linotype"/>
              </a:rPr>
              <a:t> </a:t>
            </a:r>
            <a:r>
              <a:rPr sz="3200" spc="-10" dirty="0">
                <a:latin typeface="Palatino Linotype"/>
                <a:cs typeface="Palatino Linotype"/>
              </a:rPr>
              <a:t>mary). </a:t>
            </a:r>
            <a:r>
              <a:rPr sz="3200" dirty="0">
                <a:latin typeface="Palatino Linotype"/>
                <a:cs typeface="Palatino Linotype"/>
              </a:rPr>
              <a:t>likes(X,</a:t>
            </a:r>
            <a:r>
              <a:rPr sz="3200" spc="-90" dirty="0">
                <a:latin typeface="Palatino Linotype"/>
                <a:cs typeface="Palatino Linotype"/>
              </a:rPr>
              <a:t> </a:t>
            </a:r>
            <a:r>
              <a:rPr sz="3200" spc="-10" dirty="0">
                <a:latin typeface="Palatino Linotype"/>
                <a:cs typeface="Palatino Linotype"/>
              </a:rPr>
              <a:t>ice-cream).</a:t>
            </a:r>
            <a:endParaRPr sz="32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1532" y="4394047"/>
            <a:ext cx="5318125" cy="1635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4035" marR="211454" indent="-521970">
              <a:lnSpc>
                <a:spcPct val="110000"/>
              </a:lnSpc>
              <a:spcBef>
                <a:spcPts val="100"/>
              </a:spcBef>
            </a:pPr>
            <a:r>
              <a:rPr sz="32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VD:</a:t>
            </a:r>
            <a:r>
              <a:rPr sz="3200" spc="-7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friends(helen,</a:t>
            </a:r>
            <a:r>
              <a:rPr sz="3200" spc="-55" dirty="0">
                <a:latin typeface="Palatino Linotype"/>
                <a:cs typeface="Palatino Linotype"/>
              </a:rPr>
              <a:t> </a:t>
            </a:r>
            <a:r>
              <a:rPr sz="3200" spc="-10" dirty="0">
                <a:latin typeface="Palatino Linotype"/>
                <a:cs typeface="Palatino Linotype"/>
              </a:rPr>
              <a:t>marry). </a:t>
            </a:r>
            <a:r>
              <a:rPr sz="3200" dirty="0">
                <a:latin typeface="Palatino Linotype"/>
                <a:cs typeface="Palatino Linotype"/>
              </a:rPr>
              <a:t>likes(helen,</a:t>
            </a:r>
            <a:r>
              <a:rPr sz="3200" spc="-165" dirty="0">
                <a:latin typeface="Palatino Linotype"/>
                <a:cs typeface="Palatino Linotype"/>
              </a:rPr>
              <a:t> </a:t>
            </a:r>
            <a:r>
              <a:rPr sz="3200" spc="-10" dirty="0">
                <a:latin typeface="Palatino Linotype"/>
                <a:cs typeface="Palatino Linotype"/>
              </a:rPr>
              <a:t>sister(mary)).</a:t>
            </a:r>
            <a:endParaRPr sz="3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3200" dirty="0">
                <a:latin typeface="Palatino Linotype"/>
                <a:cs typeface="Palatino Linotype"/>
              </a:rPr>
              <a:t>Ký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hiệu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vị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từ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là: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friends,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spc="-10" dirty="0">
                <a:latin typeface="Palatino Linotype"/>
                <a:cs typeface="Palatino Linotype"/>
              </a:rPr>
              <a:t>likes</a:t>
            </a:r>
            <a:endParaRPr sz="3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543557"/>
            <a:ext cx="10774680" cy="1324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3685">
              <a:lnSpc>
                <a:spcPts val="3115"/>
              </a:lnSpc>
              <a:spcBef>
                <a:spcPts val="105"/>
              </a:spcBef>
              <a:buClr>
                <a:srgbClr val="C0CF3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b="1" dirty="0">
                <a:latin typeface="Palatino Linotype"/>
                <a:cs typeface="Palatino Linotype"/>
              </a:rPr>
              <a:t>Biểu</a:t>
            </a:r>
            <a:r>
              <a:rPr sz="2600" b="1" spc="-40" dirty="0">
                <a:latin typeface="Palatino Linotype"/>
                <a:cs typeface="Palatino Linotype"/>
              </a:rPr>
              <a:t> </a:t>
            </a:r>
            <a:r>
              <a:rPr sz="2600" b="1" dirty="0">
                <a:latin typeface="Palatino Linotype"/>
                <a:cs typeface="Palatino Linotype"/>
              </a:rPr>
              <a:t>thức</a:t>
            </a:r>
            <a:r>
              <a:rPr sz="2600" b="1" spc="-35" dirty="0">
                <a:latin typeface="Palatino Linotype"/>
                <a:cs typeface="Palatino Linotype"/>
              </a:rPr>
              <a:t> </a:t>
            </a:r>
            <a:r>
              <a:rPr sz="2600" b="1" dirty="0">
                <a:latin typeface="Palatino Linotype"/>
                <a:cs typeface="Palatino Linotype"/>
              </a:rPr>
              <a:t>Vị</a:t>
            </a:r>
            <a:r>
              <a:rPr sz="2600" b="1" spc="-15" dirty="0">
                <a:latin typeface="Palatino Linotype"/>
                <a:cs typeface="Palatino Linotype"/>
              </a:rPr>
              <a:t> </a:t>
            </a:r>
            <a:r>
              <a:rPr sz="2600" b="1" dirty="0">
                <a:latin typeface="Palatino Linotype"/>
                <a:cs typeface="Palatino Linotype"/>
              </a:rPr>
              <a:t>từ</a:t>
            </a:r>
            <a:r>
              <a:rPr sz="2600" dirty="0">
                <a:latin typeface="Palatino Linotype"/>
                <a:cs typeface="Palatino Linotype"/>
              </a:rPr>
              <a:t>:</a:t>
            </a:r>
            <a:r>
              <a:rPr sz="2600" spc="-20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Palatino Linotype"/>
                <a:cs typeface="Palatino Linotype"/>
              </a:rPr>
              <a:t>là</a:t>
            </a:r>
            <a:r>
              <a:rPr sz="2600" spc="-10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Palatino Linotype"/>
                <a:cs typeface="Palatino Linotype"/>
              </a:rPr>
              <a:t>sự</a:t>
            </a:r>
            <a:r>
              <a:rPr sz="2600" spc="-30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Palatino Linotype"/>
                <a:cs typeface="Palatino Linotype"/>
              </a:rPr>
              <a:t>kết</a:t>
            </a:r>
            <a:r>
              <a:rPr sz="2600" spc="-5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Palatino Linotype"/>
                <a:cs typeface="Palatino Linotype"/>
              </a:rPr>
              <a:t>hợp</a:t>
            </a:r>
            <a:r>
              <a:rPr sz="2600" spc="-10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Palatino Linotype"/>
                <a:cs typeface="Palatino Linotype"/>
              </a:rPr>
              <a:t>của</a:t>
            </a:r>
            <a:r>
              <a:rPr sz="2600" spc="-40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Palatino Linotype"/>
                <a:cs typeface="Palatino Linotype"/>
              </a:rPr>
              <a:t>các</a:t>
            </a:r>
            <a:r>
              <a:rPr sz="2600" spc="-30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Palatino Linotype"/>
                <a:cs typeface="Palatino Linotype"/>
              </a:rPr>
              <a:t>vị</a:t>
            </a:r>
            <a:r>
              <a:rPr sz="2600" spc="-5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Palatino Linotype"/>
                <a:cs typeface="Palatino Linotype"/>
              </a:rPr>
              <a:t>từ</a:t>
            </a:r>
            <a:r>
              <a:rPr sz="2600" spc="-20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Palatino Linotype"/>
                <a:cs typeface="Palatino Linotype"/>
              </a:rPr>
              <a:t>bởi</a:t>
            </a:r>
            <a:r>
              <a:rPr sz="2600" spc="-15" dirty="0">
                <a:latin typeface="Palatino Linotype"/>
                <a:cs typeface="Palatino Linotype"/>
              </a:rPr>
              <a:t> </a:t>
            </a:r>
            <a:r>
              <a:rPr sz="2600" dirty="0">
                <a:solidFill>
                  <a:srgbClr val="FF0000"/>
                </a:solidFill>
                <a:latin typeface="Palatino Linotype"/>
                <a:cs typeface="Palatino Linotype"/>
              </a:rPr>
              <a:t>các</a:t>
            </a:r>
            <a:r>
              <a:rPr sz="2600" spc="-3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600" dirty="0">
                <a:solidFill>
                  <a:srgbClr val="FF0000"/>
                </a:solidFill>
                <a:latin typeface="Palatino Linotype"/>
                <a:cs typeface="Palatino Linotype"/>
              </a:rPr>
              <a:t>phép</a:t>
            </a:r>
            <a:r>
              <a:rPr sz="2600" spc="-1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600" dirty="0">
                <a:solidFill>
                  <a:srgbClr val="FF0000"/>
                </a:solidFill>
                <a:latin typeface="Palatino Linotype"/>
                <a:cs typeface="Palatino Linotype"/>
              </a:rPr>
              <a:t>toán</a:t>
            </a:r>
            <a:r>
              <a:rPr sz="2600" spc="-1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600" dirty="0">
                <a:solidFill>
                  <a:srgbClr val="FF0000"/>
                </a:solidFill>
                <a:latin typeface="Palatino Linotype"/>
                <a:cs typeface="Palatino Linotype"/>
              </a:rPr>
              <a:t>vị</a:t>
            </a:r>
            <a:r>
              <a:rPr sz="2600" spc="-1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600" dirty="0">
                <a:solidFill>
                  <a:srgbClr val="FF0000"/>
                </a:solidFill>
                <a:latin typeface="Palatino Linotype"/>
                <a:cs typeface="Palatino Linotype"/>
              </a:rPr>
              <a:t>từ</a:t>
            </a:r>
            <a:r>
              <a:rPr sz="2600" dirty="0">
                <a:latin typeface="Palatino Linotype"/>
                <a:cs typeface="Palatino Linotype"/>
              </a:rPr>
              <a:t>.</a:t>
            </a:r>
            <a:r>
              <a:rPr sz="2600" spc="-30" dirty="0">
                <a:latin typeface="Palatino Linotype"/>
                <a:cs typeface="Palatino Linotype"/>
              </a:rPr>
              <a:t> </a:t>
            </a:r>
            <a:r>
              <a:rPr sz="2600" spc="-20" dirty="0">
                <a:latin typeface="Palatino Linotype"/>
                <a:cs typeface="Palatino Linotype"/>
              </a:rPr>
              <a:t>(còn</a:t>
            </a:r>
            <a:endParaRPr sz="2600">
              <a:latin typeface="Palatino Linotype"/>
              <a:cs typeface="Palatino Linotype"/>
            </a:endParaRPr>
          </a:p>
          <a:p>
            <a:pPr marL="286385">
              <a:lnSpc>
                <a:spcPts val="3354"/>
              </a:lnSpc>
            </a:pPr>
            <a:r>
              <a:rPr sz="2600" dirty="0">
                <a:latin typeface="Palatino Linotype"/>
                <a:cs typeface="Palatino Linotype"/>
              </a:rPr>
              <a:t>được</a:t>
            </a:r>
            <a:r>
              <a:rPr sz="2600" spc="-50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Palatino Linotype"/>
                <a:cs typeface="Palatino Linotype"/>
              </a:rPr>
              <a:t>gọi</a:t>
            </a:r>
            <a:r>
              <a:rPr sz="2600" spc="-20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Palatino Linotype"/>
                <a:cs typeface="Palatino Linotype"/>
              </a:rPr>
              <a:t>là</a:t>
            </a:r>
            <a:r>
              <a:rPr sz="2600" spc="-25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Palatino Linotype"/>
                <a:cs typeface="Palatino Linotype"/>
              </a:rPr>
              <a:t>Câu</a:t>
            </a:r>
            <a:r>
              <a:rPr sz="2600" spc="-50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Palatino Linotype"/>
                <a:cs typeface="Palatino Linotype"/>
              </a:rPr>
              <a:t>gồm</a:t>
            </a:r>
            <a:r>
              <a:rPr sz="2600" spc="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các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câu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sơ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cấp</a:t>
            </a:r>
            <a:r>
              <a:rPr sz="2800" spc="-1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kết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hợp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spc="-20" dirty="0">
                <a:latin typeface="Palatino Linotype"/>
                <a:cs typeface="Palatino Linotype"/>
              </a:rPr>
              <a:t>lại)</a:t>
            </a:r>
            <a:endParaRPr sz="28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630"/>
              </a:spcBef>
              <a:buClr>
                <a:srgbClr val="C0CF39"/>
              </a:buClr>
              <a:buSzPct val="94230"/>
              <a:buFont typeface="Wingdings 2"/>
              <a:buChar char=""/>
              <a:tabLst>
                <a:tab pos="286385" algn="l"/>
              </a:tabLst>
            </a:pPr>
            <a:r>
              <a:rPr sz="2600" b="1" dirty="0">
                <a:latin typeface="Palatino Linotype"/>
                <a:cs typeface="Palatino Linotype"/>
              </a:rPr>
              <a:t>Các</a:t>
            </a:r>
            <a:r>
              <a:rPr sz="2600" b="1" spc="-15" dirty="0">
                <a:latin typeface="Palatino Linotype"/>
                <a:cs typeface="Palatino Linotype"/>
              </a:rPr>
              <a:t> </a:t>
            </a:r>
            <a:r>
              <a:rPr sz="2600" b="1" dirty="0">
                <a:latin typeface="Palatino Linotype"/>
                <a:cs typeface="Palatino Linotype"/>
              </a:rPr>
              <a:t>phép</a:t>
            </a:r>
            <a:r>
              <a:rPr sz="2600" b="1" spc="-15" dirty="0">
                <a:latin typeface="Palatino Linotype"/>
                <a:cs typeface="Palatino Linotype"/>
              </a:rPr>
              <a:t> </a:t>
            </a:r>
            <a:r>
              <a:rPr sz="2600" b="1" spc="-20" dirty="0">
                <a:latin typeface="Palatino Linotype"/>
                <a:cs typeface="Palatino Linotype"/>
              </a:rPr>
              <a:t>toán</a:t>
            </a:r>
            <a:r>
              <a:rPr sz="2600" spc="-20" dirty="0">
                <a:latin typeface="Palatino Linotype"/>
                <a:cs typeface="Palatino Linotype"/>
              </a:rPr>
              <a:t>:</a:t>
            </a:r>
            <a:endParaRPr sz="26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3877" y="345694"/>
            <a:ext cx="3837940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dirty="0">
                <a:solidFill>
                  <a:srgbClr val="455F51"/>
                </a:solidFill>
              </a:rPr>
              <a:t>Biểu</a:t>
            </a:r>
            <a:r>
              <a:rPr sz="5000" spc="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thức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vị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spc="-25" dirty="0">
                <a:solidFill>
                  <a:srgbClr val="455F51"/>
                </a:solidFill>
              </a:rPr>
              <a:t>từ</a:t>
            </a:r>
            <a:endParaRPr sz="50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46</a:t>
            </a:fld>
            <a:endParaRPr spc="-25" dirty="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62482" y="2932697"/>
          <a:ext cx="5709920" cy="30225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8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9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9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spc="-50" dirty="0">
                          <a:latin typeface="Symbol"/>
                          <a:cs typeface="Symbol"/>
                        </a:rPr>
                        <a:t></a:t>
                      </a:r>
                      <a:endParaRPr sz="2400">
                        <a:latin typeface="Symbol"/>
                        <a:cs typeface="Symbo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4883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latin typeface="Palatino Linotype"/>
                          <a:cs typeface="Palatino Linotype"/>
                        </a:rPr>
                        <a:t>Phủ</a:t>
                      </a:r>
                      <a:r>
                        <a:rPr sz="2400" spc="-5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spc="-20" dirty="0">
                          <a:latin typeface="Palatino Linotype"/>
                          <a:cs typeface="Palatino Linotype"/>
                        </a:rPr>
                        <a:t>định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latin typeface="Palatino Linotype"/>
                          <a:cs typeface="Palatino Linotype"/>
                        </a:rPr>
                        <a:t>-</a:t>
                      </a:r>
                      <a:r>
                        <a:rPr sz="2400" spc="-3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Palatino Linotype"/>
                          <a:cs typeface="Palatino Linotype"/>
                        </a:rPr>
                        <a:t>một</a:t>
                      </a:r>
                      <a:r>
                        <a:rPr sz="2400" spc="-20" dirty="0">
                          <a:latin typeface="Palatino Linotype"/>
                          <a:cs typeface="Palatino Linotype"/>
                        </a:rPr>
                        <a:t> ngôi.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78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spc="-25" dirty="0">
                          <a:latin typeface="Symbol"/>
                          <a:cs typeface="Symbol"/>
                        </a:rPr>
                        <a:t></a:t>
                      </a:r>
                      <a:r>
                        <a:rPr sz="2400" b="1" spc="-25" dirty="0">
                          <a:latin typeface="Palatino Linotype"/>
                          <a:cs typeface="Palatino Linotype"/>
                        </a:rPr>
                        <a:t>X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48831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dirty="0">
                          <a:latin typeface="Palatino Linotype"/>
                          <a:cs typeface="Palatino Linotype"/>
                        </a:rPr>
                        <a:t>Với</a:t>
                      </a:r>
                      <a:r>
                        <a:rPr sz="2400" spc="-3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spc="-25" dirty="0">
                          <a:latin typeface="Palatino Linotype"/>
                          <a:cs typeface="Palatino Linotype"/>
                        </a:rPr>
                        <a:t>mọi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dirty="0">
                          <a:latin typeface="Palatino Linotype"/>
                          <a:cs typeface="Palatino Linotype"/>
                        </a:rPr>
                        <a:t>-</a:t>
                      </a:r>
                      <a:r>
                        <a:rPr sz="2400" spc="-3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Palatino Linotype"/>
                          <a:cs typeface="Palatino Linotype"/>
                        </a:rPr>
                        <a:t>một</a:t>
                      </a:r>
                      <a:r>
                        <a:rPr sz="2400" spc="-20" dirty="0">
                          <a:latin typeface="Palatino Linotype"/>
                          <a:cs typeface="Palatino Linotype"/>
                        </a:rPr>
                        <a:t> ngôi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2413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7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spc="-25" dirty="0">
                          <a:latin typeface="Symbol"/>
                          <a:cs typeface="Symbol"/>
                        </a:rPr>
                        <a:t></a:t>
                      </a:r>
                      <a:r>
                        <a:rPr sz="2400" b="1" spc="-25" dirty="0">
                          <a:latin typeface="Palatino Linotype"/>
                          <a:cs typeface="Palatino Linotype"/>
                        </a:rPr>
                        <a:t>X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48831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dirty="0">
                          <a:latin typeface="Palatino Linotype"/>
                          <a:cs typeface="Palatino Linotype"/>
                        </a:rPr>
                        <a:t>Tồn</a:t>
                      </a:r>
                      <a:r>
                        <a:rPr sz="2400" spc="-4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spc="-25" dirty="0">
                          <a:latin typeface="Palatino Linotype"/>
                          <a:cs typeface="Palatino Linotype"/>
                        </a:rPr>
                        <a:t>tại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dirty="0">
                          <a:latin typeface="Palatino Linotype"/>
                          <a:cs typeface="Palatino Linotype"/>
                        </a:rPr>
                        <a:t>-</a:t>
                      </a:r>
                      <a:r>
                        <a:rPr sz="2400" spc="-3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Palatino Linotype"/>
                          <a:cs typeface="Palatino Linotype"/>
                        </a:rPr>
                        <a:t>một</a:t>
                      </a:r>
                      <a:r>
                        <a:rPr sz="2400" spc="-20" dirty="0">
                          <a:latin typeface="Palatino Linotype"/>
                          <a:cs typeface="Palatino Linotype"/>
                        </a:rPr>
                        <a:t> ngôi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2413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515">
                <a:tc>
                  <a:txBody>
                    <a:bodyPr/>
                    <a:lstStyle/>
                    <a:p>
                      <a:pPr marL="31750">
                        <a:lnSpc>
                          <a:spcPts val="2735"/>
                        </a:lnSpc>
                      </a:pPr>
                      <a:r>
                        <a:rPr sz="2400" spc="-50" dirty="0">
                          <a:latin typeface="Palatino Linotype"/>
                          <a:cs typeface="Palatino Linotype"/>
                        </a:rPr>
                        <a:t>^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315">
                        <a:lnSpc>
                          <a:spcPts val="2735"/>
                        </a:lnSpc>
                      </a:pPr>
                      <a:r>
                        <a:rPr sz="2400" spc="-25" dirty="0">
                          <a:latin typeface="Palatino Linotype"/>
                          <a:cs typeface="Palatino Linotype"/>
                        </a:rPr>
                        <a:t>Hội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ts val="2735"/>
                        </a:lnSpc>
                      </a:pPr>
                      <a:r>
                        <a:rPr sz="2400" dirty="0">
                          <a:latin typeface="Palatino Linotype"/>
                          <a:cs typeface="Palatino Linotype"/>
                        </a:rPr>
                        <a:t>-</a:t>
                      </a:r>
                      <a:r>
                        <a:rPr sz="2400" spc="-2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Palatino Linotype"/>
                          <a:cs typeface="Palatino Linotype"/>
                        </a:rPr>
                        <a:t>hai</a:t>
                      </a:r>
                      <a:r>
                        <a:rPr sz="2400" spc="-1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spc="-20" dirty="0">
                          <a:latin typeface="Palatino Linotype"/>
                          <a:cs typeface="Palatino Linotype"/>
                        </a:rPr>
                        <a:t>ngôi.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784">
                <a:tc>
                  <a:txBody>
                    <a:bodyPr/>
                    <a:lstStyle/>
                    <a:p>
                      <a:pPr marL="31750">
                        <a:lnSpc>
                          <a:spcPts val="2745"/>
                        </a:lnSpc>
                      </a:pPr>
                      <a:r>
                        <a:rPr sz="2400" spc="-50" dirty="0">
                          <a:latin typeface="Palatino Linotype"/>
                          <a:cs typeface="Palatino Linotype"/>
                        </a:rPr>
                        <a:t>v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315">
                        <a:lnSpc>
                          <a:spcPts val="2745"/>
                        </a:lnSpc>
                      </a:pPr>
                      <a:r>
                        <a:rPr sz="2400" spc="-10" dirty="0">
                          <a:latin typeface="Palatino Linotype"/>
                          <a:cs typeface="Palatino Linotype"/>
                        </a:rPr>
                        <a:t>Tuyển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ts val="2745"/>
                        </a:lnSpc>
                      </a:pPr>
                      <a:r>
                        <a:rPr sz="2400" dirty="0">
                          <a:latin typeface="Palatino Linotype"/>
                          <a:cs typeface="Palatino Linotype"/>
                        </a:rPr>
                        <a:t>-</a:t>
                      </a:r>
                      <a:r>
                        <a:rPr sz="2400" spc="-2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Palatino Linotype"/>
                          <a:cs typeface="Palatino Linotype"/>
                        </a:rPr>
                        <a:t>hai</a:t>
                      </a:r>
                      <a:r>
                        <a:rPr sz="2400" spc="-1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spc="-20" dirty="0">
                          <a:latin typeface="Palatino Linotype"/>
                          <a:cs typeface="Palatino Linotype"/>
                        </a:rPr>
                        <a:t>ngôi.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784">
                <a:tc>
                  <a:txBody>
                    <a:bodyPr/>
                    <a:lstStyle/>
                    <a:p>
                      <a:pPr marL="31750">
                        <a:lnSpc>
                          <a:spcPts val="2745"/>
                        </a:lnSpc>
                      </a:pPr>
                      <a:r>
                        <a:rPr sz="2400" spc="-25" dirty="0">
                          <a:latin typeface="Palatino Linotype"/>
                          <a:cs typeface="Palatino Linotype"/>
                        </a:rPr>
                        <a:t>=&gt;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315">
                        <a:lnSpc>
                          <a:spcPts val="2745"/>
                        </a:lnSpc>
                      </a:pPr>
                      <a:r>
                        <a:rPr sz="2400" dirty="0">
                          <a:latin typeface="Palatino Linotype"/>
                          <a:cs typeface="Palatino Linotype"/>
                        </a:rPr>
                        <a:t>Kéo</a:t>
                      </a:r>
                      <a:r>
                        <a:rPr sz="2400" spc="-4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Palatino Linotype"/>
                          <a:cs typeface="Palatino Linotype"/>
                        </a:rPr>
                        <a:t>theo</a:t>
                      </a:r>
                      <a:r>
                        <a:rPr sz="2400" spc="-3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Palatino Linotype"/>
                          <a:cs typeface="Palatino Linotype"/>
                        </a:rPr>
                        <a:t>(Suy</a:t>
                      </a:r>
                      <a:r>
                        <a:rPr sz="2400" spc="-3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spc="-25" dirty="0">
                          <a:latin typeface="Palatino Linotype"/>
                          <a:cs typeface="Palatino Linotype"/>
                        </a:rPr>
                        <a:t>ra)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ts val="2745"/>
                        </a:lnSpc>
                      </a:pPr>
                      <a:r>
                        <a:rPr sz="2400" dirty="0">
                          <a:latin typeface="Palatino Linotype"/>
                          <a:cs typeface="Palatino Linotype"/>
                        </a:rPr>
                        <a:t>-</a:t>
                      </a:r>
                      <a:r>
                        <a:rPr sz="2400" spc="-2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Palatino Linotype"/>
                          <a:cs typeface="Palatino Linotype"/>
                        </a:rPr>
                        <a:t>hai</a:t>
                      </a:r>
                      <a:r>
                        <a:rPr sz="2400" spc="-1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spc="-20" dirty="0">
                          <a:latin typeface="Palatino Linotype"/>
                          <a:cs typeface="Palatino Linotype"/>
                        </a:rPr>
                        <a:t>ngôi.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 marL="31750">
                        <a:lnSpc>
                          <a:spcPts val="2745"/>
                        </a:lnSpc>
                      </a:pPr>
                      <a:r>
                        <a:rPr sz="2400" spc="-25" dirty="0">
                          <a:latin typeface="Palatino Linotype"/>
                          <a:cs typeface="Palatino Linotype"/>
                        </a:rPr>
                        <a:t>&lt;=&gt;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315">
                        <a:lnSpc>
                          <a:spcPts val="2745"/>
                        </a:lnSpc>
                      </a:pPr>
                      <a:r>
                        <a:rPr sz="2400" dirty="0">
                          <a:latin typeface="Palatino Linotype"/>
                          <a:cs typeface="Palatino Linotype"/>
                        </a:rPr>
                        <a:t>Tương</a:t>
                      </a:r>
                      <a:r>
                        <a:rPr sz="2400" spc="-7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spc="-10" dirty="0">
                          <a:latin typeface="Palatino Linotype"/>
                          <a:cs typeface="Palatino Linotype"/>
                        </a:rPr>
                        <a:t>đương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ts val="2745"/>
                        </a:lnSpc>
                      </a:pPr>
                      <a:r>
                        <a:rPr sz="2400" dirty="0">
                          <a:latin typeface="Palatino Linotype"/>
                          <a:cs typeface="Palatino Linotype"/>
                        </a:rPr>
                        <a:t>-</a:t>
                      </a:r>
                      <a:r>
                        <a:rPr sz="2400" spc="-2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dirty="0">
                          <a:latin typeface="Palatino Linotype"/>
                          <a:cs typeface="Palatino Linotype"/>
                        </a:rPr>
                        <a:t>hai</a:t>
                      </a:r>
                      <a:r>
                        <a:rPr sz="2400" spc="-1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400" spc="-20" dirty="0">
                          <a:latin typeface="Palatino Linotype"/>
                          <a:cs typeface="Palatino Linotype"/>
                        </a:rPr>
                        <a:t>ngôi.</a:t>
                      </a:r>
                      <a:endParaRPr sz="24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538986"/>
            <a:ext cx="10559415" cy="4464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448309" indent="-274320">
              <a:lnSpc>
                <a:spcPct val="100000"/>
              </a:lnSpc>
              <a:spcBef>
                <a:spcPts val="105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b="1" dirty="0">
                <a:latin typeface="Palatino Linotype"/>
                <a:cs typeface="Palatino Linotype"/>
              </a:rPr>
              <a:t>Biểu</a:t>
            </a:r>
            <a:r>
              <a:rPr sz="3200" b="1" spc="-20" dirty="0">
                <a:latin typeface="Palatino Linotype"/>
                <a:cs typeface="Palatino Linotype"/>
              </a:rPr>
              <a:t> </a:t>
            </a:r>
            <a:r>
              <a:rPr sz="3200" b="1" dirty="0">
                <a:latin typeface="Palatino Linotype"/>
                <a:cs typeface="Palatino Linotype"/>
              </a:rPr>
              <a:t>thức Vị</a:t>
            </a:r>
            <a:r>
              <a:rPr sz="3200" b="1" spc="-15" dirty="0">
                <a:latin typeface="Palatino Linotype"/>
                <a:cs typeface="Palatino Linotype"/>
              </a:rPr>
              <a:t> </a:t>
            </a:r>
            <a:r>
              <a:rPr sz="3200" b="1" dirty="0">
                <a:latin typeface="Palatino Linotype"/>
                <a:cs typeface="Palatino Linotype"/>
              </a:rPr>
              <a:t>từ</a:t>
            </a:r>
            <a:r>
              <a:rPr sz="3200" b="1" spc="-5" dirty="0">
                <a:latin typeface="Palatino Linotype"/>
                <a:cs typeface="Palatino Linotype"/>
              </a:rPr>
              <a:t> </a:t>
            </a:r>
            <a:r>
              <a:rPr sz="3200" b="1" dirty="0">
                <a:latin typeface="Palatino Linotype"/>
                <a:cs typeface="Palatino Linotype"/>
              </a:rPr>
              <a:t>chuẩn:</a:t>
            </a:r>
            <a:r>
              <a:rPr sz="3200" b="1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được ký hiệu</a:t>
            </a:r>
            <a:r>
              <a:rPr sz="3200" spc="-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wff</a:t>
            </a:r>
            <a:r>
              <a:rPr sz="3200" spc="5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(well-</a:t>
            </a:r>
            <a:r>
              <a:rPr sz="3200" spc="-10" dirty="0">
                <a:latin typeface="Palatino Linotype"/>
                <a:cs typeface="Palatino Linotype"/>
              </a:rPr>
              <a:t>formed formula).</a:t>
            </a:r>
            <a:endParaRPr sz="3200">
              <a:latin typeface="Palatino Linotype"/>
              <a:cs typeface="Palatino Linotype"/>
            </a:endParaRPr>
          </a:p>
          <a:p>
            <a:pPr marL="286385" indent="-273685">
              <a:lnSpc>
                <a:spcPts val="3650"/>
              </a:lnSpc>
              <a:spcBef>
                <a:spcPts val="380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>
                <a:latin typeface="Palatino Linotype"/>
                <a:cs typeface="Palatino Linotype"/>
              </a:rPr>
              <a:t>Biểu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thức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cơ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bản: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Có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thể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là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một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vị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từ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,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một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đại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diện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có</a:t>
            </a:r>
            <a:r>
              <a:rPr sz="3200" spc="-25" dirty="0">
                <a:latin typeface="Palatino Linotype"/>
                <a:cs typeface="Palatino Linotype"/>
              </a:rPr>
              <a:t> trị</a:t>
            </a:r>
            <a:endParaRPr sz="3200">
              <a:latin typeface="Palatino Linotype"/>
              <a:cs typeface="Palatino Linotype"/>
            </a:endParaRPr>
          </a:p>
          <a:p>
            <a:pPr marL="286385">
              <a:lnSpc>
                <a:spcPts val="3650"/>
              </a:lnSpc>
            </a:pPr>
            <a:r>
              <a:rPr sz="3200" dirty="0">
                <a:latin typeface="Palatino Linotype"/>
                <a:cs typeface="Palatino Linotype"/>
              </a:rPr>
              <a:t>TRUE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hay </a:t>
            </a:r>
            <a:r>
              <a:rPr sz="3200" spc="-10" dirty="0">
                <a:latin typeface="Palatino Linotype"/>
                <a:cs typeface="Palatino Linotype"/>
              </a:rPr>
              <a:t>FALSE.</a:t>
            </a:r>
            <a:endParaRPr sz="32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385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>
                <a:latin typeface="Palatino Linotype"/>
                <a:cs typeface="Palatino Linotype"/>
              </a:rPr>
              <a:t>Một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biểu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thức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đúng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cú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pháp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được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định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nghĩa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như</a:t>
            </a:r>
            <a:r>
              <a:rPr sz="3200" spc="-20" dirty="0">
                <a:latin typeface="Palatino Linotype"/>
                <a:cs typeface="Palatino Linotype"/>
              </a:rPr>
              <a:t> sau:</a:t>
            </a:r>
            <a:endParaRPr sz="3200">
              <a:latin typeface="Palatino Linotype"/>
              <a:cs typeface="Palatino Linotype"/>
            </a:endParaRPr>
          </a:p>
          <a:p>
            <a:pPr marL="652780" lvl="1" indent="-247015">
              <a:lnSpc>
                <a:spcPts val="3650"/>
              </a:lnSpc>
              <a:spcBef>
                <a:spcPts val="420"/>
              </a:spcBef>
              <a:buClr>
                <a:srgbClr val="539E39"/>
              </a:buClr>
              <a:buSzPct val="84375"/>
              <a:buFont typeface="Wingdings 2"/>
              <a:buChar char=""/>
              <a:tabLst>
                <a:tab pos="652780" algn="l"/>
              </a:tabLst>
            </a:pPr>
            <a:r>
              <a:rPr sz="3200" dirty="0">
                <a:latin typeface="Palatino Linotype"/>
                <a:cs typeface="Palatino Linotype"/>
              </a:rPr>
              <a:t>Wff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=</a:t>
            </a:r>
            <a:r>
              <a:rPr sz="3200" spc="-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“Biểu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thức</a:t>
            </a:r>
            <a:r>
              <a:rPr sz="3200" spc="-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cơ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bản”</a:t>
            </a:r>
            <a:r>
              <a:rPr sz="3200" spc="-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|</a:t>
            </a:r>
            <a:r>
              <a:rPr sz="3200" dirty="0">
                <a:latin typeface="Symbol"/>
                <a:cs typeface="Symbol"/>
              </a:rPr>
              <a:t>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wff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|</a:t>
            </a:r>
            <a:r>
              <a:rPr sz="3200" spc="-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wff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^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wff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|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wff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</a:t>
            </a:r>
            <a:r>
              <a:rPr sz="3200" spc="-5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wff</a:t>
            </a:r>
            <a:endParaRPr sz="3200">
              <a:latin typeface="Palatino Linotype"/>
              <a:cs typeface="Palatino Linotype"/>
            </a:endParaRPr>
          </a:p>
          <a:p>
            <a:pPr marL="652780">
              <a:lnSpc>
                <a:spcPts val="3650"/>
              </a:lnSpc>
            </a:pPr>
            <a:r>
              <a:rPr sz="3200" dirty="0">
                <a:latin typeface="Palatino Linotype"/>
                <a:cs typeface="Palatino Linotype"/>
              </a:rPr>
              <a:t>| wff=&gt;wff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|</a:t>
            </a:r>
            <a:r>
              <a:rPr sz="3200" spc="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wff=</a:t>
            </a:r>
            <a:r>
              <a:rPr sz="3200" spc="-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wff</a:t>
            </a:r>
            <a:r>
              <a:rPr sz="3200" spc="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|</a:t>
            </a:r>
            <a:r>
              <a:rPr sz="3200" spc="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(wff)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|</a:t>
            </a:r>
            <a:r>
              <a:rPr sz="3200" spc="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Symbol"/>
                <a:cs typeface="Symbol"/>
              </a:rPr>
              <a:t></a:t>
            </a:r>
            <a:r>
              <a:rPr sz="3200" dirty="0">
                <a:latin typeface="Palatino Linotype"/>
                <a:cs typeface="Palatino Linotype"/>
              </a:rPr>
              <a:t>X</a:t>
            </a:r>
            <a:r>
              <a:rPr sz="3200" spc="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wff</a:t>
            </a:r>
            <a:r>
              <a:rPr sz="3200" spc="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|</a:t>
            </a:r>
            <a:r>
              <a:rPr sz="3200" spc="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Symbol"/>
                <a:cs typeface="Symbol"/>
              </a:rPr>
              <a:t></a:t>
            </a:r>
            <a:r>
              <a:rPr sz="3200" dirty="0">
                <a:latin typeface="Palatino Linotype"/>
                <a:cs typeface="Palatino Linotype"/>
              </a:rPr>
              <a:t>X </a:t>
            </a:r>
            <a:r>
              <a:rPr sz="3200" spc="-20" dirty="0">
                <a:latin typeface="Palatino Linotype"/>
                <a:cs typeface="Palatino Linotype"/>
              </a:rPr>
              <a:t>wff.</a:t>
            </a:r>
            <a:endParaRPr sz="3200">
              <a:latin typeface="Palatino Linotype"/>
              <a:cs typeface="Palatino Linotype"/>
            </a:endParaRPr>
          </a:p>
          <a:p>
            <a:pPr marL="651510" marR="313055" lvl="1" indent="-246379">
              <a:lnSpc>
                <a:spcPts val="3420"/>
              </a:lnSpc>
              <a:spcBef>
                <a:spcPts val="850"/>
              </a:spcBef>
              <a:buClr>
                <a:srgbClr val="539E39"/>
              </a:buClr>
              <a:buSzPct val="84375"/>
              <a:buFont typeface="Wingdings 2"/>
              <a:buChar char=""/>
              <a:tabLst>
                <a:tab pos="652780" algn="l"/>
              </a:tabLst>
            </a:pPr>
            <a:r>
              <a:rPr sz="3200" dirty="0">
                <a:latin typeface="Palatino Linotype"/>
                <a:cs typeface="Palatino Linotype"/>
              </a:rPr>
              <a:t>Với: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X: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Là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một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biến.</a:t>
            </a:r>
            <a:r>
              <a:rPr sz="3200" dirty="0">
                <a:latin typeface="Symbol"/>
                <a:cs typeface="Symbol"/>
              </a:rPr>
              <a:t></a:t>
            </a:r>
            <a:r>
              <a:rPr sz="3200" dirty="0">
                <a:latin typeface="Palatino Linotype"/>
                <a:cs typeface="Palatino Linotype"/>
              </a:rPr>
              <a:t>: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Lượng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từ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với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mọi.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Symbol"/>
                <a:cs typeface="Symbol"/>
              </a:rPr>
              <a:t></a:t>
            </a:r>
            <a:r>
              <a:rPr sz="3200" dirty="0">
                <a:latin typeface="Palatino Linotype"/>
                <a:cs typeface="Palatino Linotype"/>
              </a:rPr>
              <a:t>: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Lượng</a:t>
            </a:r>
            <a:r>
              <a:rPr sz="3200" spc="-55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từ 	</a:t>
            </a:r>
            <a:r>
              <a:rPr sz="3200" dirty="0">
                <a:latin typeface="Palatino Linotype"/>
                <a:cs typeface="Palatino Linotype"/>
              </a:rPr>
              <a:t>tồn</a:t>
            </a:r>
            <a:r>
              <a:rPr sz="3200" spc="-60" dirty="0">
                <a:latin typeface="Palatino Linotype"/>
                <a:cs typeface="Palatino Linotype"/>
              </a:rPr>
              <a:t> </a:t>
            </a:r>
            <a:r>
              <a:rPr sz="3200" spc="-20" dirty="0">
                <a:latin typeface="Palatino Linotype"/>
                <a:cs typeface="Palatino Linotype"/>
              </a:rPr>
              <a:t>tại.</a:t>
            </a:r>
            <a:endParaRPr sz="32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3877" y="345694"/>
            <a:ext cx="3837940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dirty="0">
                <a:solidFill>
                  <a:srgbClr val="455F51"/>
                </a:solidFill>
              </a:rPr>
              <a:t>Biểu</a:t>
            </a:r>
            <a:r>
              <a:rPr sz="5000" spc="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thức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vị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spc="-25" dirty="0">
                <a:solidFill>
                  <a:srgbClr val="455F51"/>
                </a:solidFill>
              </a:rPr>
              <a:t>từ</a:t>
            </a:r>
            <a:endParaRPr sz="5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47</a:t>
            </a:fld>
            <a:endParaRPr spc="-25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412445"/>
            <a:ext cx="2409825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dirty="0">
                <a:solidFill>
                  <a:srgbClr val="455F51"/>
                </a:solidFill>
              </a:rPr>
              <a:t>Lượng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spc="-25" dirty="0">
                <a:solidFill>
                  <a:srgbClr val="455F51"/>
                </a:solidFill>
              </a:rPr>
              <a:t>từ</a:t>
            </a:r>
            <a:endParaRPr sz="5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48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642059"/>
            <a:ext cx="10736580" cy="4580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ts val="4105"/>
              </a:lnSpc>
              <a:spcBef>
                <a:spcPts val="100"/>
              </a:spcBef>
              <a:buClr>
                <a:srgbClr val="C0CF3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3600" b="1" dirty="0">
                <a:latin typeface="Palatino Linotype"/>
                <a:cs typeface="Palatino Linotype"/>
              </a:rPr>
              <a:t>Giả</a:t>
            </a:r>
            <a:r>
              <a:rPr sz="3600" b="1" spc="-110" dirty="0">
                <a:latin typeface="Palatino Linotype"/>
                <a:cs typeface="Palatino Linotype"/>
              </a:rPr>
              <a:t> </a:t>
            </a:r>
            <a:r>
              <a:rPr sz="3600" b="1" dirty="0">
                <a:latin typeface="Palatino Linotype"/>
                <a:cs typeface="Palatino Linotype"/>
              </a:rPr>
              <a:t>sử</a:t>
            </a:r>
            <a:r>
              <a:rPr sz="3600" b="1" spc="-105" dirty="0">
                <a:latin typeface="Palatino Linotype"/>
                <a:cs typeface="Palatino Linotype"/>
              </a:rPr>
              <a:t> </a:t>
            </a:r>
            <a:r>
              <a:rPr sz="3600" b="1" dirty="0">
                <a:latin typeface="Palatino Linotype"/>
                <a:cs typeface="Palatino Linotype"/>
              </a:rPr>
              <a:t>chúng</a:t>
            </a:r>
            <a:r>
              <a:rPr sz="3600" b="1" spc="-110" dirty="0">
                <a:latin typeface="Palatino Linotype"/>
                <a:cs typeface="Palatino Linotype"/>
              </a:rPr>
              <a:t> </a:t>
            </a:r>
            <a:r>
              <a:rPr sz="3600" b="1" dirty="0">
                <a:latin typeface="Palatino Linotype"/>
                <a:cs typeface="Palatino Linotype"/>
              </a:rPr>
              <a:t>ta</a:t>
            </a:r>
            <a:r>
              <a:rPr sz="3600" b="1" spc="-114" dirty="0">
                <a:latin typeface="Palatino Linotype"/>
                <a:cs typeface="Palatino Linotype"/>
              </a:rPr>
              <a:t> </a:t>
            </a:r>
            <a:r>
              <a:rPr sz="3600" b="1" dirty="0">
                <a:latin typeface="Palatino Linotype"/>
                <a:cs typeface="Palatino Linotype"/>
              </a:rPr>
              <a:t>có</a:t>
            </a:r>
            <a:r>
              <a:rPr sz="3600" b="1" dirty="0">
                <a:latin typeface="Calibri"/>
                <a:cs typeface="Calibri"/>
              </a:rPr>
              <a:t>:</a:t>
            </a:r>
            <a:r>
              <a:rPr sz="3600" b="1" spc="-35" dirty="0">
                <a:latin typeface="Calibri"/>
                <a:cs typeface="Calibri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Nam</a:t>
            </a:r>
            <a:r>
              <a:rPr sz="3600" spc="-13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là</a:t>
            </a:r>
            <a:r>
              <a:rPr sz="3600" spc="-114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học</a:t>
            </a:r>
            <a:r>
              <a:rPr sz="3600" spc="-11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sinh</a:t>
            </a:r>
            <a:r>
              <a:rPr sz="3600" spc="-11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khá</a:t>
            </a:r>
            <a:r>
              <a:rPr sz="3600" dirty="0">
                <a:latin typeface="Calibri"/>
                <a:cs typeface="Calibri"/>
              </a:rPr>
              <a:t>.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Lan</a:t>
            </a:r>
            <a:r>
              <a:rPr sz="3600" spc="-11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là</a:t>
            </a:r>
            <a:r>
              <a:rPr sz="3600" spc="-110" dirty="0">
                <a:latin typeface="Palatino Linotype"/>
                <a:cs typeface="Palatino Linotype"/>
              </a:rPr>
              <a:t> </a:t>
            </a:r>
            <a:r>
              <a:rPr sz="3600" spc="-25" dirty="0">
                <a:latin typeface="Palatino Linotype"/>
                <a:cs typeface="Palatino Linotype"/>
              </a:rPr>
              <a:t>học</a:t>
            </a:r>
            <a:endParaRPr sz="3600">
              <a:latin typeface="Palatino Linotype"/>
              <a:cs typeface="Palatino Linotype"/>
            </a:endParaRPr>
          </a:p>
          <a:p>
            <a:pPr marL="286385">
              <a:lnSpc>
                <a:spcPts val="4105"/>
              </a:lnSpc>
            </a:pPr>
            <a:r>
              <a:rPr sz="3600" dirty="0">
                <a:latin typeface="Palatino Linotype"/>
                <a:cs typeface="Palatino Linotype"/>
              </a:rPr>
              <a:t>sinh</a:t>
            </a:r>
            <a:r>
              <a:rPr sz="3600" spc="-15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trung</a:t>
            </a:r>
            <a:r>
              <a:rPr sz="3600" spc="-14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bình</a:t>
            </a:r>
            <a:r>
              <a:rPr sz="3600" dirty="0">
                <a:latin typeface="Calibri"/>
                <a:cs typeface="Calibri"/>
              </a:rPr>
              <a:t>.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Mai</a:t>
            </a:r>
            <a:r>
              <a:rPr sz="3600" spc="-15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học</a:t>
            </a:r>
            <a:r>
              <a:rPr sz="3600" spc="-15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sinh</a:t>
            </a:r>
            <a:r>
              <a:rPr sz="3600" spc="-145" dirty="0">
                <a:latin typeface="Palatino Linotype"/>
                <a:cs typeface="Palatino Linotype"/>
              </a:rPr>
              <a:t> </a:t>
            </a:r>
            <a:r>
              <a:rPr sz="3600" spc="-20" dirty="0">
                <a:latin typeface="Palatino Linotype"/>
                <a:cs typeface="Palatino Linotype"/>
              </a:rPr>
              <a:t>khá.</a:t>
            </a:r>
            <a:endParaRPr sz="36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434"/>
              </a:spcBef>
              <a:buClr>
                <a:srgbClr val="C0CF3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3600" dirty="0">
                <a:latin typeface="Palatino Linotype"/>
                <a:cs typeface="Palatino Linotype"/>
              </a:rPr>
              <a:t>Xét</a:t>
            </a:r>
            <a:r>
              <a:rPr sz="3600" spc="-14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tập:</a:t>
            </a:r>
            <a:r>
              <a:rPr sz="3600" spc="-125" dirty="0">
                <a:latin typeface="Palatino Linotype"/>
                <a:cs typeface="Palatino Linotype"/>
              </a:rPr>
              <a:t> </a:t>
            </a:r>
            <a:r>
              <a:rPr sz="3600" b="1" dirty="0">
                <a:latin typeface="Palatino Linotype"/>
                <a:cs typeface="Palatino Linotype"/>
              </a:rPr>
              <a:t>D</a:t>
            </a:r>
            <a:r>
              <a:rPr sz="3600" b="1" spc="-130" dirty="0">
                <a:latin typeface="Palatino Linotype"/>
                <a:cs typeface="Palatino Linotype"/>
              </a:rPr>
              <a:t> </a:t>
            </a:r>
            <a:r>
              <a:rPr sz="3600" b="1" dirty="0">
                <a:latin typeface="Calibri"/>
                <a:cs typeface="Calibri"/>
              </a:rPr>
              <a:t>=</a:t>
            </a:r>
            <a:r>
              <a:rPr sz="3600" b="1" spc="-4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[</a:t>
            </a:r>
            <a:r>
              <a:rPr sz="3600" b="1" dirty="0">
                <a:latin typeface="Palatino Linotype"/>
                <a:cs typeface="Palatino Linotype"/>
              </a:rPr>
              <a:t>Nam</a:t>
            </a:r>
            <a:r>
              <a:rPr sz="3600" b="1" dirty="0">
                <a:latin typeface="Calibri"/>
                <a:cs typeface="Calibri"/>
              </a:rPr>
              <a:t>,</a:t>
            </a:r>
            <a:r>
              <a:rPr sz="3600" b="1" spc="-45" dirty="0">
                <a:latin typeface="Calibri"/>
                <a:cs typeface="Calibri"/>
              </a:rPr>
              <a:t> </a:t>
            </a:r>
            <a:r>
              <a:rPr sz="3600" b="1" dirty="0">
                <a:latin typeface="Palatino Linotype"/>
                <a:cs typeface="Palatino Linotype"/>
              </a:rPr>
              <a:t>Lan</a:t>
            </a:r>
            <a:r>
              <a:rPr sz="3600" b="1" dirty="0">
                <a:latin typeface="Calibri"/>
                <a:cs typeface="Calibri"/>
              </a:rPr>
              <a:t>,</a:t>
            </a:r>
            <a:r>
              <a:rPr sz="3600" b="1" spc="-50" dirty="0">
                <a:latin typeface="Calibri"/>
                <a:cs typeface="Calibri"/>
              </a:rPr>
              <a:t> </a:t>
            </a:r>
            <a:r>
              <a:rPr sz="3600" b="1" spc="-20" dirty="0">
                <a:latin typeface="Palatino Linotype"/>
                <a:cs typeface="Palatino Linotype"/>
              </a:rPr>
              <a:t>Mai</a:t>
            </a:r>
            <a:r>
              <a:rPr sz="3600" b="1" spc="-20" dirty="0">
                <a:latin typeface="Calibri"/>
                <a:cs typeface="Calibri"/>
              </a:rPr>
              <a:t>]</a:t>
            </a:r>
            <a:endParaRPr sz="3600">
              <a:latin typeface="Calibri"/>
              <a:cs typeface="Calibri"/>
            </a:endParaRPr>
          </a:p>
          <a:p>
            <a:pPr marL="286385" marR="567055" indent="-274320">
              <a:lnSpc>
                <a:spcPts val="3890"/>
              </a:lnSpc>
              <a:spcBef>
                <a:spcPts val="920"/>
              </a:spcBef>
              <a:buClr>
                <a:srgbClr val="C0CF3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3600" dirty="0">
                <a:latin typeface="Palatino Linotype"/>
                <a:cs typeface="Palatino Linotype"/>
              </a:rPr>
              <a:t>Gọi</a:t>
            </a:r>
            <a:r>
              <a:rPr sz="3600" spc="-105" dirty="0">
                <a:latin typeface="Palatino Linotype"/>
                <a:cs typeface="Palatino Linotype"/>
              </a:rPr>
              <a:t> </a:t>
            </a:r>
            <a:r>
              <a:rPr sz="3600" b="1" dirty="0">
                <a:latin typeface="Palatino Linotype"/>
                <a:cs typeface="Palatino Linotype"/>
              </a:rPr>
              <a:t>p</a:t>
            </a:r>
            <a:r>
              <a:rPr sz="3600" b="1" dirty="0">
                <a:latin typeface="Calibri"/>
                <a:cs typeface="Calibri"/>
              </a:rPr>
              <a:t>(</a:t>
            </a:r>
            <a:r>
              <a:rPr sz="3600" b="1" dirty="0">
                <a:latin typeface="Palatino Linotype"/>
                <a:cs typeface="Palatino Linotype"/>
              </a:rPr>
              <a:t>X</a:t>
            </a:r>
            <a:r>
              <a:rPr sz="3600" b="1" dirty="0">
                <a:latin typeface="Calibri"/>
                <a:cs typeface="Calibri"/>
              </a:rPr>
              <a:t>)</a:t>
            </a:r>
            <a:r>
              <a:rPr sz="3600" b="1" spc="-5" dirty="0">
                <a:latin typeface="Calibri"/>
                <a:cs typeface="Calibri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cho</a:t>
            </a:r>
            <a:r>
              <a:rPr sz="3600" spc="-9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biết</a:t>
            </a:r>
            <a:r>
              <a:rPr sz="3600" dirty="0">
                <a:latin typeface="Calibri"/>
                <a:cs typeface="Calibri"/>
              </a:rPr>
              <a:t>: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“X</a:t>
            </a:r>
            <a:r>
              <a:rPr sz="3600" spc="-114" dirty="0">
                <a:latin typeface="Palatino Linotype"/>
                <a:cs typeface="Palatino Linotype"/>
              </a:rPr>
              <a:t> </a:t>
            </a:r>
            <a:r>
              <a:rPr sz="3600" b="1" dirty="0">
                <a:latin typeface="Palatino Linotype"/>
                <a:cs typeface="Palatino Linotype"/>
              </a:rPr>
              <a:t>là</a:t>
            </a:r>
            <a:r>
              <a:rPr sz="3600" b="1" spc="-100" dirty="0">
                <a:latin typeface="Palatino Linotype"/>
                <a:cs typeface="Palatino Linotype"/>
              </a:rPr>
              <a:t> </a:t>
            </a:r>
            <a:r>
              <a:rPr sz="3600" b="1" dirty="0">
                <a:latin typeface="Palatino Linotype"/>
                <a:cs typeface="Palatino Linotype"/>
              </a:rPr>
              <a:t>học</a:t>
            </a:r>
            <a:r>
              <a:rPr sz="3600" b="1" spc="-105" dirty="0">
                <a:latin typeface="Palatino Linotype"/>
                <a:cs typeface="Palatino Linotype"/>
              </a:rPr>
              <a:t> </a:t>
            </a:r>
            <a:r>
              <a:rPr sz="3600" b="1" dirty="0">
                <a:latin typeface="Palatino Linotype"/>
                <a:cs typeface="Palatino Linotype"/>
              </a:rPr>
              <a:t>sinh</a:t>
            </a:r>
            <a:r>
              <a:rPr sz="3600" b="1" spc="-100" dirty="0">
                <a:latin typeface="Palatino Linotype"/>
                <a:cs typeface="Palatino Linotype"/>
              </a:rPr>
              <a:t> </a:t>
            </a:r>
            <a:r>
              <a:rPr sz="3600" b="1" dirty="0">
                <a:latin typeface="Palatino Linotype"/>
                <a:cs typeface="Palatino Linotype"/>
              </a:rPr>
              <a:t>khá”</a:t>
            </a:r>
            <a:r>
              <a:rPr sz="3600" b="1" spc="-10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ta</a:t>
            </a:r>
            <a:r>
              <a:rPr sz="3600" spc="-10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có</a:t>
            </a:r>
            <a:r>
              <a:rPr sz="3600" spc="-10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các</a:t>
            </a:r>
            <a:r>
              <a:rPr sz="3600" spc="-105" dirty="0">
                <a:latin typeface="Palatino Linotype"/>
                <a:cs typeface="Palatino Linotype"/>
              </a:rPr>
              <a:t> </a:t>
            </a:r>
            <a:r>
              <a:rPr sz="3600" spc="-25" dirty="0">
                <a:latin typeface="Palatino Linotype"/>
                <a:cs typeface="Palatino Linotype"/>
              </a:rPr>
              <a:t>vị từ:</a:t>
            </a:r>
            <a:endParaRPr sz="36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375"/>
              </a:spcBef>
              <a:buClr>
                <a:srgbClr val="539E39"/>
              </a:buClr>
              <a:buSzPct val="84722"/>
              <a:buFont typeface="Wingdings 2"/>
              <a:buChar char=""/>
              <a:tabLst>
                <a:tab pos="652780" algn="l"/>
              </a:tabLst>
            </a:pPr>
            <a:r>
              <a:rPr sz="3600" dirty="0">
                <a:latin typeface="Palatino Linotype"/>
                <a:cs typeface="Palatino Linotype"/>
              </a:rPr>
              <a:t>p</a:t>
            </a:r>
            <a:r>
              <a:rPr sz="3600" dirty="0">
                <a:latin typeface="Calibri"/>
                <a:cs typeface="Calibri"/>
              </a:rPr>
              <a:t>(</a:t>
            </a:r>
            <a:r>
              <a:rPr sz="3600" dirty="0">
                <a:latin typeface="Palatino Linotype"/>
                <a:cs typeface="Palatino Linotype"/>
              </a:rPr>
              <a:t>“Nam”</a:t>
            </a:r>
            <a:r>
              <a:rPr sz="3600" dirty="0">
                <a:latin typeface="Calibri"/>
                <a:cs typeface="Calibri"/>
              </a:rPr>
              <a:t>):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trị</a:t>
            </a:r>
            <a:r>
              <a:rPr sz="3600" spc="-11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là</a:t>
            </a:r>
            <a:r>
              <a:rPr sz="3600" spc="-114" dirty="0">
                <a:latin typeface="Palatino Linotype"/>
                <a:cs typeface="Palatino Linotype"/>
              </a:rPr>
              <a:t> </a:t>
            </a:r>
            <a:r>
              <a:rPr sz="3600" spc="-25" dirty="0">
                <a:latin typeface="Palatino Linotype"/>
                <a:cs typeface="Palatino Linotype"/>
              </a:rPr>
              <a:t>T</a:t>
            </a:r>
            <a:r>
              <a:rPr sz="3600" spc="-25" dirty="0">
                <a:latin typeface="Calibri"/>
                <a:cs typeface="Calibri"/>
              </a:rPr>
              <a:t>.</a:t>
            </a:r>
            <a:endParaRPr sz="3600">
              <a:latin typeface="Calibri"/>
              <a:cs typeface="Calibri"/>
            </a:endParaRPr>
          </a:p>
          <a:p>
            <a:pPr marL="652145" lvl="1" indent="-246379">
              <a:lnSpc>
                <a:spcPct val="100000"/>
              </a:lnSpc>
              <a:spcBef>
                <a:spcPts val="430"/>
              </a:spcBef>
              <a:buClr>
                <a:srgbClr val="539E39"/>
              </a:buClr>
              <a:buSzPct val="84722"/>
              <a:buFont typeface="Wingdings 2"/>
              <a:buChar char=""/>
              <a:tabLst>
                <a:tab pos="652145" algn="l"/>
              </a:tabLst>
            </a:pPr>
            <a:r>
              <a:rPr sz="3600" dirty="0">
                <a:latin typeface="Palatino Linotype"/>
                <a:cs typeface="Palatino Linotype"/>
              </a:rPr>
              <a:t>p</a:t>
            </a:r>
            <a:r>
              <a:rPr sz="3600" dirty="0">
                <a:latin typeface="Calibri"/>
                <a:cs typeface="Calibri"/>
              </a:rPr>
              <a:t>(</a:t>
            </a:r>
            <a:r>
              <a:rPr sz="3600" dirty="0">
                <a:latin typeface="Palatino Linotype"/>
                <a:cs typeface="Palatino Linotype"/>
              </a:rPr>
              <a:t>“Lan”</a:t>
            </a:r>
            <a:r>
              <a:rPr sz="3600" dirty="0">
                <a:latin typeface="Calibri"/>
                <a:cs typeface="Calibri"/>
              </a:rPr>
              <a:t>):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trị</a:t>
            </a:r>
            <a:r>
              <a:rPr sz="3600" spc="-14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là</a:t>
            </a:r>
            <a:r>
              <a:rPr sz="3600" spc="-150" dirty="0">
                <a:latin typeface="Palatino Linotype"/>
                <a:cs typeface="Palatino Linotype"/>
              </a:rPr>
              <a:t> </a:t>
            </a:r>
            <a:r>
              <a:rPr sz="3600" spc="-25" dirty="0">
                <a:latin typeface="Palatino Linotype"/>
                <a:cs typeface="Palatino Linotype"/>
              </a:rPr>
              <a:t>F</a:t>
            </a:r>
            <a:r>
              <a:rPr sz="3600" spc="-25" dirty="0">
                <a:latin typeface="Calibri"/>
                <a:cs typeface="Calibri"/>
              </a:rPr>
              <a:t>.</a:t>
            </a:r>
            <a:endParaRPr sz="3600">
              <a:latin typeface="Calibri"/>
              <a:cs typeface="Calibri"/>
            </a:endParaRPr>
          </a:p>
          <a:p>
            <a:pPr marL="652780" lvl="1" indent="-247015">
              <a:lnSpc>
                <a:spcPct val="100000"/>
              </a:lnSpc>
              <a:spcBef>
                <a:spcPts val="434"/>
              </a:spcBef>
              <a:buClr>
                <a:srgbClr val="539E39"/>
              </a:buClr>
              <a:buSzPct val="84722"/>
              <a:buFont typeface="Wingdings 2"/>
              <a:buChar char=""/>
              <a:tabLst>
                <a:tab pos="652780" algn="l"/>
              </a:tabLst>
            </a:pPr>
            <a:r>
              <a:rPr sz="3600" dirty="0">
                <a:latin typeface="Palatino Linotype"/>
                <a:cs typeface="Palatino Linotype"/>
              </a:rPr>
              <a:t>p</a:t>
            </a:r>
            <a:r>
              <a:rPr sz="3600" dirty="0">
                <a:latin typeface="Calibri"/>
                <a:cs typeface="Calibri"/>
              </a:rPr>
              <a:t>(</a:t>
            </a:r>
            <a:r>
              <a:rPr sz="3600" dirty="0">
                <a:latin typeface="Palatino Linotype"/>
                <a:cs typeface="Palatino Linotype"/>
              </a:rPr>
              <a:t>“Mai”</a:t>
            </a:r>
            <a:r>
              <a:rPr sz="3600" dirty="0">
                <a:latin typeface="Calibri"/>
                <a:cs typeface="Calibri"/>
              </a:rPr>
              <a:t>):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trị</a:t>
            </a:r>
            <a:r>
              <a:rPr sz="3600" spc="-114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là</a:t>
            </a:r>
            <a:r>
              <a:rPr sz="3600" spc="-110" dirty="0">
                <a:latin typeface="Palatino Linotype"/>
                <a:cs typeface="Palatino Linotype"/>
              </a:rPr>
              <a:t> </a:t>
            </a:r>
            <a:r>
              <a:rPr sz="3600" spc="-25" dirty="0">
                <a:latin typeface="Palatino Linotype"/>
                <a:cs typeface="Palatino Linotype"/>
              </a:rPr>
              <a:t>T</a:t>
            </a:r>
            <a:r>
              <a:rPr sz="3600" spc="-25" dirty="0">
                <a:latin typeface="Calibri"/>
                <a:cs typeface="Calibri"/>
              </a:rPr>
              <a:t>.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427431"/>
            <a:ext cx="2409825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dirty="0">
                <a:solidFill>
                  <a:srgbClr val="455F51"/>
                </a:solidFill>
              </a:rPr>
              <a:t>Lượng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spc="-25" dirty="0">
                <a:solidFill>
                  <a:srgbClr val="455F51"/>
                </a:solidFill>
              </a:rPr>
              <a:t>từ</a:t>
            </a:r>
            <a:endParaRPr sz="5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49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420444"/>
            <a:ext cx="10719435" cy="4570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"/>
              </a:spcBef>
              <a:buClr>
                <a:srgbClr val="C0CF39"/>
              </a:buClr>
              <a:buSzPct val="95000"/>
              <a:buFont typeface="Wingdings 2"/>
              <a:buChar char=""/>
              <a:tabLst>
                <a:tab pos="286385" algn="l"/>
              </a:tabLst>
            </a:pPr>
            <a:r>
              <a:rPr sz="3000" dirty="0">
                <a:latin typeface="Times New Roman"/>
                <a:cs typeface="Times New Roman"/>
              </a:rPr>
              <a:t>Lượng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từ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tồn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FF0000"/>
                </a:solidFill>
                <a:latin typeface="Times New Roman"/>
                <a:cs typeface="Times New Roman"/>
              </a:rPr>
              <a:t>tại</a:t>
            </a:r>
            <a:r>
              <a:rPr sz="3000" spc="-20" dirty="0">
                <a:latin typeface="Times New Roman"/>
                <a:cs typeface="Times New Roman"/>
              </a:rPr>
              <a:t>:</a:t>
            </a:r>
            <a:endParaRPr sz="3000">
              <a:latin typeface="Times New Roman"/>
              <a:cs typeface="Times New Roman"/>
            </a:endParaRPr>
          </a:p>
          <a:p>
            <a:pPr marL="652145" lvl="1" indent="-246379">
              <a:lnSpc>
                <a:spcPct val="100000"/>
              </a:lnSpc>
              <a:spcBef>
                <a:spcPts val="5"/>
              </a:spcBef>
              <a:buClr>
                <a:srgbClr val="539E39"/>
              </a:buClr>
              <a:buSzPct val="85000"/>
              <a:buFont typeface="Wingdings 2"/>
              <a:buChar char=""/>
              <a:tabLst>
                <a:tab pos="652145" algn="l"/>
              </a:tabLst>
            </a:pPr>
            <a:r>
              <a:rPr sz="3000" dirty="0">
                <a:latin typeface="Times New Roman"/>
                <a:cs typeface="Times New Roman"/>
              </a:rPr>
              <a:t>Xét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mệnh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đề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p(“Nam”)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v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p(“Lan”)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v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p(“Mai”)</a:t>
            </a:r>
            <a:endParaRPr sz="3000">
              <a:latin typeface="Times New Roman"/>
              <a:cs typeface="Times New Roman"/>
            </a:endParaRPr>
          </a:p>
          <a:p>
            <a:pPr marL="651510" marR="5080" lvl="1" indent="-246379">
              <a:lnSpc>
                <a:spcPct val="79700"/>
              </a:lnSpc>
              <a:spcBef>
                <a:spcPts val="740"/>
              </a:spcBef>
              <a:buClr>
                <a:srgbClr val="539E39"/>
              </a:buClr>
              <a:buSzPct val="85000"/>
              <a:buFont typeface="Wingdings 2"/>
              <a:buChar char=""/>
              <a:tabLst>
                <a:tab pos="652780" algn="l"/>
              </a:tabLst>
            </a:pPr>
            <a:r>
              <a:rPr sz="3000" dirty="0">
                <a:latin typeface="Times New Roman"/>
                <a:cs typeface="Times New Roman"/>
              </a:rPr>
              <a:t>Có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thể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biểu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diễn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bằng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vị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từ: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Symbol"/>
                <a:cs typeface="Symbol"/>
              </a:rPr>
              <a:t></a:t>
            </a:r>
            <a:r>
              <a:rPr sz="3000" dirty="0">
                <a:latin typeface="Times New Roman"/>
                <a:cs typeface="Times New Roman"/>
              </a:rPr>
              <a:t>X</a:t>
            </a:r>
            <a:r>
              <a:rPr sz="3000" dirty="0">
                <a:latin typeface="Symbol"/>
                <a:cs typeface="Symbol"/>
              </a:rPr>
              <a:t></a:t>
            </a:r>
            <a:r>
              <a:rPr sz="3000" dirty="0">
                <a:latin typeface="Times New Roman"/>
                <a:cs typeface="Times New Roman"/>
              </a:rPr>
              <a:t>D: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p(X).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(Tồn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tại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X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thuộc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tập</a:t>
            </a:r>
            <a:r>
              <a:rPr sz="3000" spc="-25" dirty="0">
                <a:latin typeface="Times New Roman"/>
                <a:cs typeface="Times New Roman"/>
              </a:rPr>
              <a:t> D, 	</a:t>
            </a:r>
            <a:r>
              <a:rPr sz="3000" dirty="0">
                <a:latin typeface="Times New Roman"/>
                <a:cs typeface="Times New Roman"/>
              </a:rPr>
              <a:t>mà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X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là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học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sinh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khá).</a:t>
            </a:r>
            <a:endParaRPr sz="30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buClr>
                <a:srgbClr val="C0CF39"/>
              </a:buClr>
              <a:buSzPct val="95000"/>
              <a:buFont typeface="Wingdings 2"/>
              <a:buChar char=""/>
              <a:tabLst>
                <a:tab pos="286385" algn="l"/>
              </a:tabLst>
            </a:pPr>
            <a:r>
              <a:rPr sz="3000" dirty="0">
                <a:latin typeface="Times New Roman"/>
                <a:cs typeface="Times New Roman"/>
              </a:rPr>
              <a:t>Lượng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từ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với</a:t>
            </a:r>
            <a:r>
              <a:rPr sz="3000" spc="-20" dirty="0">
                <a:solidFill>
                  <a:srgbClr val="FF0000"/>
                </a:solidFill>
                <a:latin typeface="Times New Roman"/>
                <a:cs typeface="Times New Roman"/>
              </a:rPr>
              <a:t> mọi</a:t>
            </a:r>
            <a:r>
              <a:rPr sz="3000" spc="-20" dirty="0">
                <a:latin typeface="Times New Roman"/>
                <a:cs typeface="Times New Roman"/>
              </a:rPr>
              <a:t>:</a:t>
            </a:r>
            <a:endParaRPr sz="3000">
              <a:latin typeface="Times New Roman"/>
              <a:cs typeface="Times New Roman"/>
            </a:endParaRPr>
          </a:p>
          <a:p>
            <a:pPr marL="652145" lvl="1" indent="-246379">
              <a:lnSpc>
                <a:spcPct val="100000"/>
              </a:lnSpc>
              <a:spcBef>
                <a:spcPts val="5"/>
              </a:spcBef>
              <a:buClr>
                <a:srgbClr val="539E39"/>
              </a:buClr>
              <a:buSzPct val="85000"/>
              <a:buFont typeface="Wingdings 2"/>
              <a:buChar char=""/>
              <a:tabLst>
                <a:tab pos="652145" algn="l"/>
              </a:tabLst>
            </a:pPr>
            <a:r>
              <a:rPr sz="3000" dirty="0">
                <a:latin typeface="Times New Roman"/>
                <a:cs typeface="Times New Roman"/>
              </a:rPr>
              <a:t>Xét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mệnh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đề: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p(“Nam”)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^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p(“Lan”)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^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p(“Mai”)</a:t>
            </a:r>
            <a:endParaRPr sz="3000">
              <a:latin typeface="Times New Roman"/>
              <a:cs typeface="Times New Roman"/>
            </a:endParaRPr>
          </a:p>
          <a:p>
            <a:pPr marL="651510" marR="306070" lvl="1" indent="-246379">
              <a:lnSpc>
                <a:spcPct val="79700"/>
              </a:lnSpc>
              <a:spcBef>
                <a:spcPts val="740"/>
              </a:spcBef>
              <a:buClr>
                <a:srgbClr val="539E39"/>
              </a:buClr>
              <a:buSzPct val="85000"/>
              <a:buFont typeface="Wingdings 2"/>
              <a:buChar char=""/>
              <a:tabLst>
                <a:tab pos="652780" algn="l"/>
              </a:tabLst>
            </a:pPr>
            <a:r>
              <a:rPr sz="3000" dirty="0">
                <a:latin typeface="Times New Roman"/>
                <a:cs typeface="Times New Roman"/>
              </a:rPr>
              <a:t>Có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thể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biểu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diễn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bằng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vị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từ: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Symbol"/>
                <a:cs typeface="Symbol"/>
              </a:rPr>
              <a:t></a:t>
            </a:r>
            <a:r>
              <a:rPr sz="3000" dirty="0">
                <a:latin typeface="Times New Roman"/>
                <a:cs typeface="Times New Roman"/>
              </a:rPr>
              <a:t>X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Symbol"/>
                <a:cs typeface="Symbol"/>
              </a:rPr>
              <a:t>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D: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p(X).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(Mọi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X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thuộc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tập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imes New Roman"/>
                <a:cs typeface="Times New Roman"/>
              </a:rPr>
              <a:t>D 	</a:t>
            </a:r>
            <a:r>
              <a:rPr sz="3000" dirty="0">
                <a:latin typeface="Times New Roman"/>
                <a:cs typeface="Times New Roman"/>
              </a:rPr>
              <a:t>đều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là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học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sinh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khá).</a:t>
            </a:r>
            <a:endParaRPr sz="30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5"/>
              </a:spcBef>
              <a:buClr>
                <a:srgbClr val="C0CF39"/>
              </a:buClr>
              <a:buSzPct val="94230"/>
              <a:buFont typeface="Wingdings"/>
              <a:buChar char=""/>
              <a:tabLst>
                <a:tab pos="286385" algn="l"/>
              </a:tabLst>
            </a:pPr>
            <a:r>
              <a:rPr sz="2600" dirty="0">
                <a:latin typeface="Palatino Linotype"/>
                <a:cs typeface="Palatino Linotype"/>
              </a:rPr>
              <a:t>Chú</a:t>
            </a:r>
            <a:r>
              <a:rPr sz="2600" spc="-35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Palatino Linotype"/>
                <a:cs typeface="Palatino Linotype"/>
              </a:rPr>
              <a:t>ý</a:t>
            </a:r>
            <a:r>
              <a:rPr sz="2600" spc="-10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Palatino Linotype"/>
                <a:cs typeface="Palatino Linotype"/>
              </a:rPr>
              <a:t>thứ</a:t>
            </a:r>
            <a:r>
              <a:rPr sz="2600" spc="-35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Palatino Linotype"/>
                <a:cs typeface="Palatino Linotype"/>
              </a:rPr>
              <a:t>tự</a:t>
            </a:r>
            <a:r>
              <a:rPr sz="2600" spc="-25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Palatino Linotype"/>
                <a:cs typeface="Palatino Linotype"/>
              </a:rPr>
              <a:t>của</a:t>
            </a:r>
            <a:r>
              <a:rPr sz="2600" spc="-35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Palatino Linotype"/>
                <a:cs typeface="Palatino Linotype"/>
              </a:rPr>
              <a:t>lượng</a:t>
            </a:r>
            <a:r>
              <a:rPr sz="2600" spc="-10" dirty="0">
                <a:latin typeface="Palatino Linotype"/>
                <a:cs typeface="Palatino Linotype"/>
              </a:rPr>
              <a:t> </a:t>
            </a:r>
            <a:r>
              <a:rPr sz="2600" spc="-25" dirty="0">
                <a:latin typeface="Palatino Linotype"/>
                <a:cs typeface="Palatino Linotype"/>
              </a:rPr>
              <a:t>từ</a:t>
            </a:r>
            <a:endParaRPr sz="2600">
              <a:latin typeface="Palatino Linotype"/>
              <a:cs typeface="Palatino Linotype"/>
            </a:endParaRPr>
          </a:p>
          <a:p>
            <a:pPr marL="652145" lvl="1" indent="-246379">
              <a:lnSpc>
                <a:spcPct val="100000"/>
              </a:lnSpc>
              <a:spcBef>
                <a:spcPts val="20"/>
              </a:spcBef>
              <a:buClr>
                <a:srgbClr val="539E39"/>
              </a:buClr>
              <a:buSzPct val="84090"/>
              <a:buFont typeface="Wingdings 2"/>
              <a:buChar char=""/>
              <a:tabLst>
                <a:tab pos="652145" algn="l"/>
              </a:tabLst>
            </a:pPr>
            <a:r>
              <a:rPr sz="2200" spc="-25" dirty="0">
                <a:latin typeface="Symbol"/>
                <a:cs typeface="Symbol"/>
              </a:rPr>
              <a:t></a:t>
            </a:r>
            <a:r>
              <a:rPr sz="2200" spc="-25" dirty="0">
                <a:latin typeface="Palatino Linotype"/>
                <a:cs typeface="Palatino Linotype"/>
              </a:rPr>
              <a:t>X.</a:t>
            </a:r>
            <a:r>
              <a:rPr sz="2200" spc="-25" dirty="0">
                <a:latin typeface="Symbol"/>
                <a:cs typeface="Symbol"/>
              </a:rPr>
              <a:t></a:t>
            </a:r>
            <a:r>
              <a:rPr sz="2200" spc="-25" dirty="0">
                <a:latin typeface="Palatino Linotype"/>
                <a:cs typeface="Palatino Linotype"/>
              </a:rPr>
              <a:t>Y.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(X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+</a:t>
            </a:r>
            <a:r>
              <a:rPr sz="2200" spc="-2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Y</a:t>
            </a:r>
            <a:r>
              <a:rPr sz="2200" spc="-7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=</a:t>
            </a:r>
            <a:r>
              <a:rPr sz="2200" spc="-20" dirty="0">
                <a:latin typeface="Palatino Linotype"/>
                <a:cs typeface="Palatino Linotype"/>
              </a:rPr>
              <a:t> </a:t>
            </a:r>
            <a:r>
              <a:rPr sz="2200" spc="-25" dirty="0">
                <a:latin typeface="Palatino Linotype"/>
                <a:cs typeface="Palatino Linotype"/>
              </a:rPr>
              <a:t>5)</a:t>
            </a:r>
            <a:endParaRPr sz="2200">
              <a:latin typeface="Palatino Linotype"/>
              <a:cs typeface="Palatino Linotype"/>
            </a:endParaRPr>
          </a:p>
          <a:p>
            <a:pPr marL="652145" lvl="1" indent="-246379">
              <a:lnSpc>
                <a:spcPct val="100000"/>
              </a:lnSpc>
              <a:buClr>
                <a:srgbClr val="539E39"/>
              </a:buClr>
              <a:buSzPct val="84090"/>
              <a:buFont typeface="Wingdings 2"/>
              <a:buChar char=""/>
              <a:tabLst>
                <a:tab pos="652145" algn="l"/>
              </a:tabLst>
            </a:pPr>
            <a:r>
              <a:rPr sz="2200" dirty="0">
                <a:latin typeface="Symbol"/>
                <a:cs typeface="Symbol"/>
              </a:rPr>
              <a:t>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Palatino Linotype"/>
                <a:cs typeface="Palatino Linotype"/>
              </a:rPr>
              <a:t>Y.</a:t>
            </a:r>
            <a:r>
              <a:rPr sz="2200" spc="-25" dirty="0">
                <a:latin typeface="Symbol"/>
                <a:cs typeface="Symbol"/>
              </a:rPr>
              <a:t></a:t>
            </a:r>
            <a:r>
              <a:rPr sz="2200" spc="-25" dirty="0">
                <a:latin typeface="Palatino Linotype"/>
                <a:cs typeface="Palatino Linotype"/>
              </a:rPr>
              <a:t>X.</a:t>
            </a:r>
            <a:r>
              <a:rPr sz="2200" spc="-35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(X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+</a:t>
            </a:r>
            <a:r>
              <a:rPr sz="2200" spc="-2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Y</a:t>
            </a:r>
            <a:r>
              <a:rPr sz="2200" spc="-70" dirty="0">
                <a:latin typeface="Palatino Linotype"/>
                <a:cs typeface="Palatino Linotype"/>
              </a:rPr>
              <a:t> </a:t>
            </a:r>
            <a:r>
              <a:rPr sz="2200" dirty="0">
                <a:latin typeface="Palatino Linotype"/>
                <a:cs typeface="Palatino Linotype"/>
              </a:rPr>
              <a:t>=</a:t>
            </a:r>
            <a:r>
              <a:rPr sz="2200" spc="-30" dirty="0">
                <a:latin typeface="Palatino Linotype"/>
                <a:cs typeface="Palatino Linotype"/>
              </a:rPr>
              <a:t> </a:t>
            </a:r>
            <a:r>
              <a:rPr sz="2200" spc="-25" dirty="0">
                <a:latin typeface="Palatino Linotype"/>
                <a:cs typeface="Palatino Linotype"/>
              </a:rPr>
              <a:t>5)</a:t>
            </a:r>
            <a:endParaRPr sz="2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345694"/>
            <a:ext cx="7623175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dirty="0">
                <a:solidFill>
                  <a:srgbClr val="455F51"/>
                </a:solidFill>
              </a:rPr>
              <a:t>Ví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dụ:</a:t>
            </a:r>
            <a:r>
              <a:rPr sz="5000" spc="-2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Biểu</a:t>
            </a:r>
            <a:r>
              <a:rPr sz="5000" spc="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diễn</a:t>
            </a:r>
            <a:r>
              <a:rPr sz="5000" spc="-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thế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giới </a:t>
            </a:r>
            <a:r>
              <a:rPr sz="5000" spc="-20" dirty="0">
                <a:solidFill>
                  <a:srgbClr val="455F51"/>
                </a:solidFill>
              </a:rPr>
              <a:t>thực</a:t>
            </a:r>
            <a:endParaRPr sz="5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50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548247"/>
            <a:ext cx="7084695" cy="338582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465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469900" algn="l"/>
              </a:tabLst>
            </a:pPr>
            <a:r>
              <a:rPr sz="2800" dirty="0">
                <a:latin typeface="Palatino Linotype"/>
                <a:cs typeface="Palatino Linotype"/>
              </a:rPr>
              <a:t>Chuyển</a:t>
            </a:r>
            <a:r>
              <a:rPr sz="2800" spc="-10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các</a:t>
            </a:r>
            <a:r>
              <a:rPr sz="2800" spc="-10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câu</a:t>
            </a:r>
            <a:r>
              <a:rPr sz="2800" spc="-10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sau</a:t>
            </a:r>
            <a:r>
              <a:rPr sz="2800" spc="-9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sang</a:t>
            </a:r>
            <a:r>
              <a:rPr sz="2800" spc="-10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biểu</a:t>
            </a:r>
            <a:r>
              <a:rPr sz="2800" spc="-10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thức</a:t>
            </a:r>
            <a:r>
              <a:rPr sz="2800" spc="-9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vị</a:t>
            </a:r>
            <a:r>
              <a:rPr sz="2800" spc="-100" dirty="0">
                <a:latin typeface="Palatino Linotype"/>
                <a:cs typeface="Palatino Linotype"/>
              </a:rPr>
              <a:t> </a:t>
            </a:r>
            <a:r>
              <a:rPr sz="2800" spc="-25" dirty="0">
                <a:latin typeface="Palatino Linotype"/>
                <a:cs typeface="Palatino Linotype"/>
              </a:rPr>
              <a:t>từ</a:t>
            </a:r>
            <a:r>
              <a:rPr sz="2800" spc="-25" dirty="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850900" lvl="1" indent="-381000">
              <a:lnSpc>
                <a:spcPct val="100000"/>
              </a:lnSpc>
              <a:spcBef>
                <a:spcPts val="315"/>
              </a:spcBef>
              <a:buClr>
                <a:srgbClr val="539E39"/>
              </a:buClr>
              <a:buSzPct val="85416"/>
              <a:buAutoNum type="arabicPeriod"/>
              <a:tabLst>
                <a:tab pos="850900" algn="l"/>
              </a:tabLst>
            </a:pPr>
            <a:r>
              <a:rPr sz="2400" i="1" dirty="0">
                <a:latin typeface="Palatino Linotype"/>
                <a:cs typeface="Palatino Linotype"/>
              </a:rPr>
              <a:t>“Mọi</a:t>
            </a:r>
            <a:r>
              <a:rPr sz="2400" i="1" spc="-110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sinh</a:t>
            </a:r>
            <a:r>
              <a:rPr sz="2400" i="1" spc="-90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viên</a:t>
            </a:r>
            <a:r>
              <a:rPr sz="2400" i="1" spc="-100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trường</a:t>
            </a:r>
            <a:r>
              <a:rPr sz="2400" i="1" spc="-9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ĐHCT</a:t>
            </a:r>
            <a:r>
              <a:rPr sz="2400" i="1" spc="-114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đều</a:t>
            </a:r>
            <a:r>
              <a:rPr sz="2400" i="1" spc="-8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có</a:t>
            </a:r>
            <a:r>
              <a:rPr sz="2400" i="1" spc="-9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bằng</a:t>
            </a:r>
            <a:r>
              <a:rPr sz="2400" i="1" spc="-8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tú</a:t>
            </a:r>
            <a:r>
              <a:rPr sz="2400" i="1" spc="-95" dirty="0">
                <a:latin typeface="Palatino Linotype"/>
                <a:cs typeface="Palatino Linotype"/>
              </a:rPr>
              <a:t> </a:t>
            </a:r>
            <a:r>
              <a:rPr sz="2400" i="1" spc="-20" dirty="0">
                <a:latin typeface="Palatino Linotype"/>
                <a:cs typeface="Palatino Linotype"/>
              </a:rPr>
              <a:t>tài</a:t>
            </a:r>
            <a:r>
              <a:rPr sz="2400" i="1" spc="-2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850900" lvl="1" indent="-381000">
              <a:lnSpc>
                <a:spcPct val="100000"/>
              </a:lnSpc>
              <a:spcBef>
                <a:spcPts val="290"/>
              </a:spcBef>
              <a:buClr>
                <a:srgbClr val="539E39"/>
              </a:buClr>
              <a:buSzPct val="85416"/>
              <a:buAutoNum type="arabicPeriod"/>
              <a:tabLst>
                <a:tab pos="850900" algn="l"/>
              </a:tabLst>
            </a:pPr>
            <a:r>
              <a:rPr sz="2400" i="1" dirty="0">
                <a:latin typeface="Palatino Linotype"/>
                <a:cs typeface="Palatino Linotype"/>
              </a:rPr>
              <a:t>Lan</a:t>
            </a:r>
            <a:r>
              <a:rPr sz="2400" i="1" spc="-90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không</a:t>
            </a:r>
            <a:r>
              <a:rPr sz="2400" i="1" spc="-8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có</a:t>
            </a:r>
            <a:r>
              <a:rPr sz="2400" i="1" spc="-9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bằng</a:t>
            </a:r>
            <a:r>
              <a:rPr sz="2400" i="1" spc="-80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tú</a:t>
            </a:r>
            <a:r>
              <a:rPr sz="2400" i="1" spc="-90" dirty="0">
                <a:latin typeface="Palatino Linotype"/>
                <a:cs typeface="Palatino Linotype"/>
              </a:rPr>
              <a:t> </a:t>
            </a:r>
            <a:r>
              <a:rPr sz="2400" i="1" spc="-20" dirty="0">
                <a:latin typeface="Palatino Linotype"/>
                <a:cs typeface="Palatino Linotype"/>
              </a:rPr>
              <a:t>tài</a:t>
            </a:r>
            <a:r>
              <a:rPr sz="2400" i="1" spc="-2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850900" lvl="1" indent="-381000">
              <a:lnSpc>
                <a:spcPct val="100000"/>
              </a:lnSpc>
              <a:spcBef>
                <a:spcPts val="285"/>
              </a:spcBef>
              <a:buClr>
                <a:srgbClr val="539E39"/>
              </a:buClr>
              <a:buSzPct val="85416"/>
              <a:buAutoNum type="arabicPeriod"/>
              <a:tabLst>
                <a:tab pos="850900" algn="l"/>
              </a:tabLst>
            </a:pPr>
            <a:r>
              <a:rPr sz="2400" i="1" dirty="0">
                <a:latin typeface="Palatino Linotype"/>
                <a:cs typeface="Palatino Linotype"/>
              </a:rPr>
              <a:t>Do</a:t>
            </a:r>
            <a:r>
              <a:rPr sz="2400" i="1" spc="-100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vậy</a:t>
            </a:r>
            <a:r>
              <a:rPr sz="2400" i="1" dirty="0">
                <a:latin typeface="Calibri"/>
                <a:cs typeface="Calibri"/>
              </a:rPr>
              <a:t>,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Lan</a:t>
            </a:r>
            <a:r>
              <a:rPr sz="2400" i="1" spc="-9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không</a:t>
            </a:r>
            <a:r>
              <a:rPr sz="2400" i="1" spc="-9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là</a:t>
            </a:r>
            <a:r>
              <a:rPr sz="2400" i="1" spc="-9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sinh</a:t>
            </a:r>
            <a:r>
              <a:rPr sz="2400" i="1" spc="-90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viên</a:t>
            </a:r>
            <a:r>
              <a:rPr sz="2400" i="1" spc="-9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trường</a:t>
            </a:r>
            <a:r>
              <a:rPr sz="2400" i="1" spc="-85" dirty="0">
                <a:latin typeface="Palatino Linotype"/>
                <a:cs typeface="Palatino Linotype"/>
              </a:rPr>
              <a:t> </a:t>
            </a:r>
            <a:r>
              <a:rPr sz="2400" i="1" spc="-10" dirty="0">
                <a:latin typeface="Palatino Linotype"/>
                <a:cs typeface="Palatino Linotype"/>
              </a:rPr>
              <a:t>ĐHCT”.</a:t>
            </a:r>
            <a:endParaRPr sz="2400">
              <a:latin typeface="Palatino Linotype"/>
              <a:cs typeface="Palatino Linotype"/>
            </a:endParaRPr>
          </a:p>
          <a:p>
            <a:pPr marL="850900" lvl="2" indent="-381000">
              <a:lnSpc>
                <a:spcPct val="100000"/>
              </a:lnSpc>
              <a:spcBef>
                <a:spcPts val="290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850900" algn="l"/>
                <a:tab pos="5033010" algn="l"/>
              </a:tabLst>
            </a:pPr>
            <a:r>
              <a:rPr sz="2400" i="1" dirty="0">
                <a:latin typeface="Palatino Linotype"/>
                <a:cs typeface="Palatino Linotype"/>
              </a:rPr>
              <a:t>sv</a:t>
            </a:r>
            <a:r>
              <a:rPr sz="2400" i="1" dirty="0">
                <a:latin typeface="Calibri"/>
                <a:cs typeface="Calibri"/>
              </a:rPr>
              <a:t>_</a:t>
            </a:r>
            <a:r>
              <a:rPr sz="2400" i="1" dirty="0">
                <a:latin typeface="Palatino Linotype"/>
                <a:cs typeface="Palatino Linotype"/>
              </a:rPr>
              <a:t>ct</a:t>
            </a:r>
            <a:r>
              <a:rPr sz="2400" i="1" dirty="0">
                <a:latin typeface="Calibri"/>
                <a:cs typeface="Calibri"/>
              </a:rPr>
              <a:t>(</a:t>
            </a:r>
            <a:r>
              <a:rPr sz="2400" i="1" dirty="0">
                <a:latin typeface="Palatino Linotype"/>
                <a:cs typeface="Palatino Linotype"/>
              </a:rPr>
              <a:t>X</a:t>
            </a:r>
            <a:r>
              <a:rPr sz="2400" i="1" dirty="0">
                <a:latin typeface="Calibri"/>
                <a:cs typeface="Calibri"/>
              </a:rPr>
              <a:t>)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cho</a:t>
            </a:r>
            <a:r>
              <a:rPr sz="2400" i="1" spc="-8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biết</a:t>
            </a:r>
            <a:r>
              <a:rPr sz="2400" i="1" dirty="0">
                <a:latin typeface="Calibri"/>
                <a:cs typeface="Calibri"/>
              </a:rPr>
              <a:t>: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“X</a:t>
            </a:r>
            <a:r>
              <a:rPr sz="2400" i="1" spc="-90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là</a:t>
            </a:r>
            <a:r>
              <a:rPr sz="2400" i="1" spc="-90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sinh</a:t>
            </a:r>
            <a:r>
              <a:rPr sz="2400" i="1" spc="-90" dirty="0">
                <a:latin typeface="Palatino Linotype"/>
                <a:cs typeface="Palatino Linotype"/>
              </a:rPr>
              <a:t> </a:t>
            </a:r>
            <a:r>
              <a:rPr sz="2400" i="1" spc="-20" dirty="0">
                <a:latin typeface="Palatino Linotype"/>
                <a:cs typeface="Palatino Linotype"/>
              </a:rPr>
              <a:t>viên</a:t>
            </a:r>
            <a:r>
              <a:rPr sz="2400" i="1" dirty="0">
                <a:latin typeface="Palatino Linotype"/>
                <a:cs typeface="Palatino Linotype"/>
              </a:rPr>
              <a:t>	trường</a:t>
            </a:r>
            <a:r>
              <a:rPr sz="2400" i="1" spc="-114" dirty="0">
                <a:latin typeface="Palatino Linotype"/>
                <a:cs typeface="Palatino Linotype"/>
              </a:rPr>
              <a:t> </a:t>
            </a:r>
            <a:r>
              <a:rPr sz="2400" i="1" spc="-10" dirty="0">
                <a:latin typeface="Palatino Linotype"/>
                <a:cs typeface="Palatino Linotype"/>
              </a:rPr>
              <a:t>DHCT”.</a:t>
            </a:r>
            <a:endParaRPr sz="2400">
              <a:latin typeface="Palatino Linotype"/>
              <a:cs typeface="Palatino Linotype"/>
            </a:endParaRPr>
          </a:p>
          <a:p>
            <a:pPr marL="850900" lvl="2" indent="-381000">
              <a:lnSpc>
                <a:spcPct val="100000"/>
              </a:lnSpc>
              <a:spcBef>
                <a:spcPts val="290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850900" algn="l"/>
              </a:tabLst>
            </a:pPr>
            <a:r>
              <a:rPr sz="2400" i="1" dirty="0">
                <a:latin typeface="Palatino Linotype"/>
                <a:cs typeface="Palatino Linotype"/>
              </a:rPr>
              <a:t>tu</a:t>
            </a:r>
            <a:r>
              <a:rPr sz="2400" i="1" dirty="0">
                <a:latin typeface="Calibri"/>
                <a:cs typeface="Calibri"/>
              </a:rPr>
              <a:t>_</a:t>
            </a:r>
            <a:r>
              <a:rPr sz="2400" i="1" dirty="0">
                <a:latin typeface="Palatino Linotype"/>
                <a:cs typeface="Palatino Linotype"/>
              </a:rPr>
              <a:t>tai</a:t>
            </a:r>
            <a:r>
              <a:rPr sz="2400" i="1" dirty="0">
                <a:latin typeface="Calibri"/>
                <a:cs typeface="Calibri"/>
              </a:rPr>
              <a:t>(</a:t>
            </a:r>
            <a:r>
              <a:rPr sz="2400" i="1" dirty="0">
                <a:latin typeface="Palatino Linotype"/>
                <a:cs typeface="Palatino Linotype"/>
              </a:rPr>
              <a:t>X</a:t>
            </a:r>
            <a:r>
              <a:rPr sz="2400" i="1" dirty="0">
                <a:latin typeface="Calibri"/>
                <a:cs typeface="Calibri"/>
              </a:rPr>
              <a:t>)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cho</a:t>
            </a:r>
            <a:r>
              <a:rPr sz="2400" i="1" spc="-8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biết</a:t>
            </a:r>
            <a:r>
              <a:rPr sz="2400" i="1" dirty="0">
                <a:latin typeface="Calibri"/>
                <a:cs typeface="Calibri"/>
              </a:rPr>
              <a:t>:</a:t>
            </a:r>
            <a:r>
              <a:rPr sz="2400" i="1" spc="-60" dirty="0">
                <a:latin typeface="Calibri"/>
                <a:cs typeface="Calibri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“X</a:t>
            </a:r>
            <a:r>
              <a:rPr sz="2400" i="1" spc="-7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có</a:t>
            </a:r>
            <a:r>
              <a:rPr sz="2400" i="1" spc="-9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bằng</a:t>
            </a:r>
            <a:r>
              <a:rPr sz="2400" i="1" spc="-7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tú</a:t>
            </a:r>
            <a:r>
              <a:rPr sz="2400" i="1" spc="-90" dirty="0">
                <a:latin typeface="Palatino Linotype"/>
                <a:cs typeface="Palatino Linotype"/>
              </a:rPr>
              <a:t> </a:t>
            </a:r>
            <a:r>
              <a:rPr sz="2400" i="1" spc="-20" dirty="0">
                <a:latin typeface="Palatino Linotype"/>
                <a:cs typeface="Palatino Linotype"/>
              </a:rPr>
              <a:t>tài”</a:t>
            </a:r>
            <a:endParaRPr sz="2400">
              <a:latin typeface="Palatino Linotype"/>
              <a:cs typeface="Palatino Linotype"/>
            </a:endParaRPr>
          </a:p>
          <a:p>
            <a:pPr marL="469900" indent="-457200">
              <a:lnSpc>
                <a:spcPct val="100000"/>
              </a:lnSpc>
              <a:spcBef>
                <a:spcPts val="305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469900" algn="l"/>
                <a:tab pos="6168390" algn="l"/>
              </a:tabLst>
            </a:pPr>
            <a:r>
              <a:rPr sz="2800" dirty="0">
                <a:latin typeface="Palatino Linotype"/>
                <a:cs typeface="Palatino Linotype"/>
              </a:rPr>
              <a:t>Các</a:t>
            </a:r>
            <a:r>
              <a:rPr sz="2800" spc="-9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câu</a:t>
            </a:r>
            <a:r>
              <a:rPr sz="2800" spc="-10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trên</a:t>
            </a:r>
            <a:r>
              <a:rPr sz="2800" spc="-10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được</a:t>
            </a:r>
            <a:r>
              <a:rPr sz="2800" spc="-8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chuyển</a:t>
            </a:r>
            <a:r>
              <a:rPr sz="2800" spc="-9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qua</a:t>
            </a:r>
            <a:r>
              <a:rPr sz="2800" spc="-10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vị</a:t>
            </a:r>
            <a:r>
              <a:rPr sz="2800" spc="-95" dirty="0">
                <a:latin typeface="Palatino Linotype"/>
                <a:cs typeface="Palatino Linotype"/>
              </a:rPr>
              <a:t> </a:t>
            </a:r>
            <a:r>
              <a:rPr sz="2800" spc="-25" dirty="0">
                <a:latin typeface="Palatino Linotype"/>
                <a:cs typeface="Palatino Linotype"/>
              </a:rPr>
              <a:t>từ</a:t>
            </a:r>
            <a:r>
              <a:rPr sz="2800" dirty="0">
                <a:latin typeface="Palatino Linotype"/>
                <a:cs typeface="Palatino Linotype"/>
              </a:rPr>
              <a:t>	</a:t>
            </a:r>
            <a:r>
              <a:rPr sz="2800" spc="-25" dirty="0">
                <a:latin typeface="Palatino Linotype"/>
                <a:cs typeface="Palatino Linotype"/>
              </a:rPr>
              <a:t>là</a:t>
            </a:r>
            <a:r>
              <a:rPr sz="2800" spc="-25" dirty="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927100" lvl="2" indent="-457200">
              <a:lnSpc>
                <a:spcPct val="100000"/>
              </a:lnSpc>
              <a:spcBef>
                <a:spcPts val="320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927100" algn="l"/>
              </a:tabLst>
            </a:pPr>
            <a:r>
              <a:rPr sz="2400" spc="-50" dirty="0">
                <a:latin typeface="Palatino Linotype"/>
                <a:cs typeface="Palatino Linotype"/>
              </a:rPr>
              <a:t>…</a:t>
            </a:r>
            <a:endParaRPr sz="24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345694"/>
            <a:ext cx="7623175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dirty="0">
                <a:solidFill>
                  <a:srgbClr val="455F51"/>
                </a:solidFill>
              </a:rPr>
              <a:t>Ví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dụ:</a:t>
            </a:r>
            <a:r>
              <a:rPr sz="5000" spc="-2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Biểu</a:t>
            </a:r>
            <a:r>
              <a:rPr sz="5000" spc="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diễn</a:t>
            </a:r>
            <a:r>
              <a:rPr sz="5000" spc="-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thế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giới </a:t>
            </a:r>
            <a:r>
              <a:rPr sz="5000" spc="-20" dirty="0">
                <a:solidFill>
                  <a:srgbClr val="455F51"/>
                </a:solidFill>
              </a:rPr>
              <a:t>thực</a:t>
            </a:r>
            <a:endParaRPr sz="5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51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548247"/>
            <a:ext cx="7084695" cy="419417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465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469900" algn="l"/>
              </a:tabLst>
            </a:pPr>
            <a:r>
              <a:rPr sz="2800" dirty="0">
                <a:latin typeface="Palatino Linotype"/>
                <a:cs typeface="Palatino Linotype"/>
              </a:rPr>
              <a:t>Chuyển</a:t>
            </a:r>
            <a:r>
              <a:rPr sz="2800" spc="-10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các</a:t>
            </a:r>
            <a:r>
              <a:rPr sz="2800" spc="-10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câu</a:t>
            </a:r>
            <a:r>
              <a:rPr sz="2800" spc="-10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sau</a:t>
            </a:r>
            <a:r>
              <a:rPr sz="2800" spc="-9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sang</a:t>
            </a:r>
            <a:r>
              <a:rPr sz="2800" spc="-10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biểu</a:t>
            </a:r>
            <a:r>
              <a:rPr sz="2800" spc="-10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thức</a:t>
            </a:r>
            <a:r>
              <a:rPr sz="2800" spc="-9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vị</a:t>
            </a:r>
            <a:r>
              <a:rPr sz="2800" spc="-100" dirty="0">
                <a:latin typeface="Palatino Linotype"/>
                <a:cs typeface="Palatino Linotype"/>
              </a:rPr>
              <a:t> </a:t>
            </a:r>
            <a:r>
              <a:rPr sz="2800" spc="-25" dirty="0">
                <a:latin typeface="Palatino Linotype"/>
                <a:cs typeface="Palatino Linotype"/>
              </a:rPr>
              <a:t>từ</a:t>
            </a:r>
            <a:r>
              <a:rPr sz="2800" spc="-25" dirty="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850900" lvl="1" indent="-381000">
              <a:lnSpc>
                <a:spcPct val="100000"/>
              </a:lnSpc>
              <a:spcBef>
                <a:spcPts val="315"/>
              </a:spcBef>
              <a:buClr>
                <a:srgbClr val="539E39"/>
              </a:buClr>
              <a:buSzPct val="85416"/>
              <a:buAutoNum type="arabicPeriod"/>
              <a:tabLst>
                <a:tab pos="850900" algn="l"/>
              </a:tabLst>
            </a:pPr>
            <a:r>
              <a:rPr sz="2400" i="1" dirty="0">
                <a:latin typeface="Palatino Linotype"/>
                <a:cs typeface="Palatino Linotype"/>
              </a:rPr>
              <a:t>“Mọi</a:t>
            </a:r>
            <a:r>
              <a:rPr sz="2400" i="1" spc="-110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sinh</a:t>
            </a:r>
            <a:r>
              <a:rPr sz="2400" i="1" spc="-90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viên</a:t>
            </a:r>
            <a:r>
              <a:rPr sz="2400" i="1" spc="-100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trường</a:t>
            </a:r>
            <a:r>
              <a:rPr sz="2400" i="1" spc="-9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ĐHCT</a:t>
            </a:r>
            <a:r>
              <a:rPr sz="2400" i="1" spc="-114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đều</a:t>
            </a:r>
            <a:r>
              <a:rPr sz="2400" i="1" spc="-8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có</a:t>
            </a:r>
            <a:r>
              <a:rPr sz="2400" i="1" spc="-9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bằng</a:t>
            </a:r>
            <a:r>
              <a:rPr sz="2400" i="1" spc="-8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tú</a:t>
            </a:r>
            <a:r>
              <a:rPr sz="2400" i="1" spc="-95" dirty="0">
                <a:latin typeface="Palatino Linotype"/>
                <a:cs typeface="Palatino Linotype"/>
              </a:rPr>
              <a:t> </a:t>
            </a:r>
            <a:r>
              <a:rPr sz="2400" i="1" spc="-20" dirty="0">
                <a:latin typeface="Palatino Linotype"/>
                <a:cs typeface="Palatino Linotype"/>
              </a:rPr>
              <a:t>tài</a:t>
            </a:r>
            <a:r>
              <a:rPr sz="2400" i="1" spc="-2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850900" lvl="1" indent="-381000">
              <a:lnSpc>
                <a:spcPct val="100000"/>
              </a:lnSpc>
              <a:spcBef>
                <a:spcPts val="290"/>
              </a:spcBef>
              <a:buClr>
                <a:srgbClr val="539E39"/>
              </a:buClr>
              <a:buSzPct val="85416"/>
              <a:buAutoNum type="arabicPeriod"/>
              <a:tabLst>
                <a:tab pos="850900" algn="l"/>
              </a:tabLst>
            </a:pPr>
            <a:r>
              <a:rPr sz="2400" i="1" dirty="0">
                <a:latin typeface="Palatino Linotype"/>
                <a:cs typeface="Palatino Linotype"/>
              </a:rPr>
              <a:t>Lan</a:t>
            </a:r>
            <a:r>
              <a:rPr sz="2400" i="1" spc="-90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không</a:t>
            </a:r>
            <a:r>
              <a:rPr sz="2400" i="1" spc="-8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có</a:t>
            </a:r>
            <a:r>
              <a:rPr sz="2400" i="1" spc="-9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bằng</a:t>
            </a:r>
            <a:r>
              <a:rPr sz="2400" i="1" spc="-80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tú</a:t>
            </a:r>
            <a:r>
              <a:rPr sz="2400" i="1" spc="-90" dirty="0">
                <a:latin typeface="Palatino Linotype"/>
                <a:cs typeface="Palatino Linotype"/>
              </a:rPr>
              <a:t> </a:t>
            </a:r>
            <a:r>
              <a:rPr sz="2400" i="1" spc="-20" dirty="0">
                <a:latin typeface="Palatino Linotype"/>
                <a:cs typeface="Palatino Linotype"/>
              </a:rPr>
              <a:t>tài</a:t>
            </a:r>
            <a:r>
              <a:rPr sz="2400" i="1" spc="-2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850900" lvl="1" indent="-381000">
              <a:lnSpc>
                <a:spcPct val="100000"/>
              </a:lnSpc>
              <a:spcBef>
                <a:spcPts val="285"/>
              </a:spcBef>
              <a:buClr>
                <a:srgbClr val="539E39"/>
              </a:buClr>
              <a:buSzPct val="85416"/>
              <a:buAutoNum type="arabicPeriod"/>
              <a:tabLst>
                <a:tab pos="850900" algn="l"/>
              </a:tabLst>
            </a:pPr>
            <a:r>
              <a:rPr sz="2400" i="1" dirty="0">
                <a:latin typeface="Palatino Linotype"/>
                <a:cs typeface="Palatino Linotype"/>
              </a:rPr>
              <a:t>Do</a:t>
            </a:r>
            <a:r>
              <a:rPr sz="2400" i="1" spc="-100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vậy</a:t>
            </a:r>
            <a:r>
              <a:rPr sz="2400" i="1" dirty="0">
                <a:latin typeface="Calibri"/>
                <a:cs typeface="Calibri"/>
              </a:rPr>
              <a:t>,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Lan</a:t>
            </a:r>
            <a:r>
              <a:rPr sz="2400" i="1" spc="-9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không</a:t>
            </a:r>
            <a:r>
              <a:rPr sz="2400" i="1" spc="-9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là</a:t>
            </a:r>
            <a:r>
              <a:rPr sz="2400" i="1" spc="-9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sinh</a:t>
            </a:r>
            <a:r>
              <a:rPr sz="2400" i="1" spc="-90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viên</a:t>
            </a:r>
            <a:r>
              <a:rPr sz="2400" i="1" spc="-9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trường</a:t>
            </a:r>
            <a:r>
              <a:rPr sz="2400" i="1" spc="-85" dirty="0">
                <a:latin typeface="Palatino Linotype"/>
                <a:cs typeface="Palatino Linotype"/>
              </a:rPr>
              <a:t> </a:t>
            </a:r>
            <a:r>
              <a:rPr sz="2400" i="1" spc="-10" dirty="0">
                <a:latin typeface="Palatino Linotype"/>
                <a:cs typeface="Palatino Linotype"/>
              </a:rPr>
              <a:t>ĐHCT”.</a:t>
            </a:r>
            <a:endParaRPr sz="2400">
              <a:latin typeface="Palatino Linotype"/>
              <a:cs typeface="Palatino Linotype"/>
            </a:endParaRPr>
          </a:p>
          <a:p>
            <a:pPr marL="850900" lvl="2" indent="-381000">
              <a:lnSpc>
                <a:spcPct val="100000"/>
              </a:lnSpc>
              <a:spcBef>
                <a:spcPts val="290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850900" algn="l"/>
                <a:tab pos="5033010" algn="l"/>
              </a:tabLst>
            </a:pPr>
            <a:r>
              <a:rPr sz="2400" i="1" dirty="0">
                <a:latin typeface="Palatino Linotype"/>
                <a:cs typeface="Palatino Linotype"/>
              </a:rPr>
              <a:t>sv</a:t>
            </a:r>
            <a:r>
              <a:rPr sz="2400" i="1" dirty="0">
                <a:latin typeface="Calibri"/>
                <a:cs typeface="Calibri"/>
              </a:rPr>
              <a:t>_</a:t>
            </a:r>
            <a:r>
              <a:rPr sz="2400" i="1" dirty="0">
                <a:latin typeface="Palatino Linotype"/>
                <a:cs typeface="Palatino Linotype"/>
              </a:rPr>
              <a:t>ct</a:t>
            </a:r>
            <a:r>
              <a:rPr sz="2400" i="1" dirty="0">
                <a:latin typeface="Calibri"/>
                <a:cs typeface="Calibri"/>
              </a:rPr>
              <a:t>(</a:t>
            </a:r>
            <a:r>
              <a:rPr sz="2400" i="1" dirty="0">
                <a:latin typeface="Palatino Linotype"/>
                <a:cs typeface="Palatino Linotype"/>
              </a:rPr>
              <a:t>X</a:t>
            </a:r>
            <a:r>
              <a:rPr sz="2400" i="1" dirty="0">
                <a:latin typeface="Calibri"/>
                <a:cs typeface="Calibri"/>
              </a:rPr>
              <a:t>)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cho</a:t>
            </a:r>
            <a:r>
              <a:rPr sz="2400" i="1" spc="-8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biết</a:t>
            </a:r>
            <a:r>
              <a:rPr sz="2400" i="1" dirty="0">
                <a:latin typeface="Calibri"/>
                <a:cs typeface="Calibri"/>
              </a:rPr>
              <a:t>: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“X</a:t>
            </a:r>
            <a:r>
              <a:rPr sz="2400" i="1" spc="-90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là</a:t>
            </a:r>
            <a:r>
              <a:rPr sz="2400" i="1" spc="-90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sinh</a:t>
            </a:r>
            <a:r>
              <a:rPr sz="2400" i="1" spc="-90" dirty="0">
                <a:latin typeface="Palatino Linotype"/>
                <a:cs typeface="Palatino Linotype"/>
              </a:rPr>
              <a:t> </a:t>
            </a:r>
            <a:r>
              <a:rPr sz="2400" i="1" spc="-20" dirty="0">
                <a:latin typeface="Palatino Linotype"/>
                <a:cs typeface="Palatino Linotype"/>
              </a:rPr>
              <a:t>viên</a:t>
            </a:r>
            <a:r>
              <a:rPr sz="2400" i="1" dirty="0">
                <a:latin typeface="Palatino Linotype"/>
                <a:cs typeface="Palatino Linotype"/>
              </a:rPr>
              <a:t>	trường</a:t>
            </a:r>
            <a:r>
              <a:rPr sz="2400" i="1" spc="-114" dirty="0">
                <a:latin typeface="Palatino Linotype"/>
                <a:cs typeface="Palatino Linotype"/>
              </a:rPr>
              <a:t> </a:t>
            </a:r>
            <a:r>
              <a:rPr sz="2400" i="1" spc="-10" dirty="0">
                <a:latin typeface="Palatino Linotype"/>
                <a:cs typeface="Palatino Linotype"/>
              </a:rPr>
              <a:t>DHCT”.</a:t>
            </a:r>
            <a:endParaRPr sz="2400">
              <a:latin typeface="Palatino Linotype"/>
              <a:cs typeface="Palatino Linotype"/>
            </a:endParaRPr>
          </a:p>
          <a:p>
            <a:pPr marL="850900" lvl="2" indent="-381000">
              <a:lnSpc>
                <a:spcPct val="100000"/>
              </a:lnSpc>
              <a:spcBef>
                <a:spcPts val="290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850900" algn="l"/>
              </a:tabLst>
            </a:pPr>
            <a:r>
              <a:rPr sz="2400" i="1" dirty="0">
                <a:latin typeface="Palatino Linotype"/>
                <a:cs typeface="Palatino Linotype"/>
              </a:rPr>
              <a:t>tu</a:t>
            </a:r>
            <a:r>
              <a:rPr sz="2400" i="1" dirty="0">
                <a:latin typeface="Calibri"/>
                <a:cs typeface="Calibri"/>
              </a:rPr>
              <a:t>_</a:t>
            </a:r>
            <a:r>
              <a:rPr sz="2400" i="1" dirty="0">
                <a:latin typeface="Palatino Linotype"/>
                <a:cs typeface="Palatino Linotype"/>
              </a:rPr>
              <a:t>tai</a:t>
            </a:r>
            <a:r>
              <a:rPr sz="2400" i="1" dirty="0">
                <a:latin typeface="Calibri"/>
                <a:cs typeface="Calibri"/>
              </a:rPr>
              <a:t>(</a:t>
            </a:r>
            <a:r>
              <a:rPr sz="2400" i="1" dirty="0">
                <a:latin typeface="Palatino Linotype"/>
                <a:cs typeface="Palatino Linotype"/>
              </a:rPr>
              <a:t>X</a:t>
            </a:r>
            <a:r>
              <a:rPr sz="2400" i="1" dirty="0">
                <a:latin typeface="Calibri"/>
                <a:cs typeface="Calibri"/>
              </a:rPr>
              <a:t>)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cho</a:t>
            </a:r>
            <a:r>
              <a:rPr sz="2400" i="1" spc="-8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biết</a:t>
            </a:r>
            <a:r>
              <a:rPr sz="2400" i="1" dirty="0">
                <a:latin typeface="Calibri"/>
                <a:cs typeface="Calibri"/>
              </a:rPr>
              <a:t>:</a:t>
            </a:r>
            <a:r>
              <a:rPr sz="2400" i="1" spc="-60" dirty="0">
                <a:latin typeface="Calibri"/>
                <a:cs typeface="Calibri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“X</a:t>
            </a:r>
            <a:r>
              <a:rPr sz="2400" i="1" spc="-7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có</a:t>
            </a:r>
            <a:r>
              <a:rPr sz="2400" i="1" spc="-9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bằng</a:t>
            </a:r>
            <a:r>
              <a:rPr sz="2400" i="1" spc="-75" dirty="0">
                <a:latin typeface="Palatino Linotype"/>
                <a:cs typeface="Palatino Linotype"/>
              </a:rPr>
              <a:t> </a:t>
            </a:r>
            <a:r>
              <a:rPr sz="2400" i="1" dirty="0">
                <a:latin typeface="Palatino Linotype"/>
                <a:cs typeface="Palatino Linotype"/>
              </a:rPr>
              <a:t>tú</a:t>
            </a:r>
            <a:r>
              <a:rPr sz="2400" i="1" spc="-90" dirty="0">
                <a:latin typeface="Palatino Linotype"/>
                <a:cs typeface="Palatino Linotype"/>
              </a:rPr>
              <a:t> </a:t>
            </a:r>
            <a:r>
              <a:rPr sz="2400" i="1" spc="-20" dirty="0">
                <a:latin typeface="Palatino Linotype"/>
                <a:cs typeface="Palatino Linotype"/>
              </a:rPr>
              <a:t>tài”</a:t>
            </a:r>
            <a:endParaRPr sz="2400">
              <a:latin typeface="Palatino Linotype"/>
              <a:cs typeface="Palatino Linotype"/>
            </a:endParaRPr>
          </a:p>
          <a:p>
            <a:pPr marL="469900" indent="-457200">
              <a:lnSpc>
                <a:spcPct val="100000"/>
              </a:lnSpc>
              <a:spcBef>
                <a:spcPts val="305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469900" algn="l"/>
                <a:tab pos="6168390" algn="l"/>
              </a:tabLst>
            </a:pPr>
            <a:r>
              <a:rPr sz="2800" dirty="0">
                <a:latin typeface="Palatino Linotype"/>
                <a:cs typeface="Palatino Linotype"/>
              </a:rPr>
              <a:t>Các</a:t>
            </a:r>
            <a:r>
              <a:rPr sz="2800" spc="-9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câu</a:t>
            </a:r>
            <a:r>
              <a:rPr sz="2800" spc="-10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trên</a:t>
            </a:r>
            <a:r>
              <a:rPr sz="2800" spc="-10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được</a:t>
            </a:r>
            <a:r>
              <a:rPr sz="2800" spc="-8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chuyển</a:t>
            </a:r>
            <a:r>
              <a:rPr sz="2800" spc="-9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qua</a:t>
            </a:r>
            <a:r>
              <a:rPr sz="2800" spc="-10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vị</a:t>
            </a:r>
            <a:r>
              <a:rPr sz="2800" spc="-95" dirty="0">
                <a:latin typeface="Palatino Linotype"/>
                <a:cs typeface="Palatino Linotype"/>
              </a:rPr>
              <a:t> </a:t>
            </a:r>
            <a:r>
              <a:rPr sz="2800" spc="-25" dirty="0">
                <a:latin typeface="Palatino Linotype"/>
                <a:cs typeface="Palatino Linotype"/>
              </a:rPr>
              <a:t>từ</a:t>
            </a:r>
            <a:r>
              <a:rPr sz="2800" dirty="0">
                <a:latin typeface="Palatino Linotype"/>
                <a:cs typeface="Palatino Linotype"/>
              </a:rPr>
              <a:t>	</a:t>
            </a:r>
            <a:r>
              <a:rPr sz="2800" spc="-25" dirty="0">
                <a:latin typeface="Palatino Linotype"/>
                <a:cs typeface="Palatino Linotype"/>
              </a:rPr>
              <a:t>là</a:t>
            </a:r>
            <a:r>
              <a:rPr sz="2800" spc="-25" dirty="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927100" lvl="2" indent="-457200">
              <a:lnSpc>
                <a:spcPct val="100000"/>
              </a:lnSpc>
              <a:spcBef>
                <a:spcPts val="340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927100" algn="l"/>
              </a:tabLst>
            </a:pPr>
            <a:r>
              <a:rPr sz="2400" dirty="0">
                <a:latin typeface="Symbol"/>
                <a:cs typeface="Symbol"/>
              </a:rPr>
              <a:t></a:t>
            </a:r>
            <a:r>
              <a:rPr sz="2400" dirty="0">
                <a:latin typeface="Palatino Linotype"/>
                <a:cs typeface="Palatino Linotype"/>
              </a:rPr>
              <a:t>X(sv_ct(X)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=&gt;</a:t>
            </a:r>
            <a:r>
              <a:rPr sz="2400" spc="-1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tu_tai(X)).</a:t>
            </a:r>
            <a:endParaRPr sz="2400">
              <a:latin typeface="Palatino Linotype"/>
              <a:cs typeface="Palatino Linotype"/>
            </a:endParaRPr>
          </a:p>
          <a:p>
            <a:pPr marL="927100" lvl="2" indent="-457200">
              <a:lnSpc>
                <a:spcPct val="100000"/>
              </a:lnSpc>
              <a:spcBef>
                <a:spcPts val="295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927100" algn="l"/>
              </a:tabLst>
            </a:pPr>
            <a:r>
              <a:rPr sz="2400" spc="-10" dirty="0">
                <a:latin typeface="Symbol"/>
                <a:cs typeface="Symbol"/>
              </a:rPr>
              <a:t></a:t>
            </a:r>
            <a:r>
              <a:rPr sz="2400" spc="-10" dirty="0">
                <a:latin typeface="Palatino Linotype"/>
                <a:cs typeface="Palatino Linotype"/>
              </a:rPr>
              <a:t>tu_tai(</a:t>
            </a:r>
            <a:r>
              <a:rPr sz="2400" spc="-10" dirty="0">
                <a:latin typeface="Times New Roman"/>
                <a:cs typeface="Times New Roman"/>
              </a:rPr>
              <a:t>“</a:t>
            </a:r>
            <a:r>
              <a:rPr sz="2400" spc="-10" dirty="0">
                <a:latin typeface="Palatino Linotype"/>
                <a:cs typeface="Palatino Linotype"/>
              </a:rPr>
              <a:t>Lan</a:t>
            </a:r>
            <a:r>
              <a:rPr sz="2400" spc="-10" dirty="0">
                <a:latin typeface="Times New Roman"/>
                <a:cs typeface="Times New Roman"/>
              </a:rPr>
              <a:t>”</a:t>
            </a:r>
            <a:r>
              <a:rPr sz="2400" spc="-10" dirty="0">
                <a:latin typeface="Palatino Linotype"/>
                <a:cs typeface="Palatino Linotype"/>
              </a:rPr>
              <a:t>).</a:t>
            </a:r>
            <a:endParaRPr sz="2400">
              <a:latin typeface="Palatino Linotype"/>
              <a:cs typeface="Palatino Linotype"/>
            </a:endParaRPr>
          </a:p>
          <a:p>
            <a:pPr marL="927100" lvl="2" indent="-457200">
              <a:lnSpc>
                <a:spcPct val="100000"/>
              </a:lnSpc>
              <a:spcBef>
                <a:spcPts val="285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927100" algn="l"/>
              </a:tabLst>
            </a:pPr>
            <a:r>
              <a:rPr sz="2400" dirty="0">
                <a:latin typeface="Palatino Linotype"/>
                <a:cs typeface="Palatino Linotype"/>
              </a:rPr>
              <a:t>Do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spc="-55" dirty="0">
                <a:latin typeface="Palatino Linotype"/>
                <a:cs typeface="Palatino Linotype"/>
              </a:rPr>
              <a:t>vậy, </a:t>
            </a:r>
            <a:r>
              <a:rPr sz="2400" spc="-10" dirty="0">
                <a:latin typeface="Symbol"/>
                <a:cs typeface="Symbol"/>
              </a:rPr>
              <a:t></a:t>
            </a:r>
            <a:r>
              <a:rPr sz="2400" spc="-10" dirty="0">
                <a:latin typeface="Palatino Linotype"/>
                <a:cs typeface="Palatino Linotype"/>
              </a:rPr>
              <a:t>sv_ct(</a:t>
            </a:r>
            <a:r>
              <a:rPr sz="2400" spc="-10" dirty="0">
                <a:latin typeface="Times New Roman"/>
                <a:cs typeface="Times New Roman"/>
              </a:rPr>
              <a:t>“</a:t>
            </a:r>
            <a:r>
              <a:rPr sz="2400" spc="-10" dirty="0">
                <a:latin typeface="Palatino Linotype"/>
                <a:cs typeface="Palatino Linotype"/>
              </a:rPr>
              <a:t>Lan</a:t>
            </a:r>
            <a:r>
              <a:rPr sz="2400" spc="-10" dirty="0">
                <a:latin typeface="Times New Roman"/>
                <a:cs typeface="Times New Roman"/>
              </a:rPr>
              <a:t>”</a:t>
            </a:r>
            <a:r>
              <a:rPr sz="2400" spc="-10" dirty="0">
                <a:latin typeface="Palatino Linotype"/>
                <a:cs typeface="Palatino Linotype"/>
              </a:rPr>
              <a:t>).</a:t>
            </a:r>
            <a:endParaRPr sz="24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4061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105"/>
              </a:spcBef>
            </a:pPr>
            <a:r>
              <a:rPr sz="5000" dirty="0">
                <a:solidFill>
                  <a:srgbClr val="455F51"/>
                </a:solidFill>
              </a:rPr>
              <a:t>Ví</a:t>
            </a:r>
            <a:r>
              <a:rPr sz="5000" spc="-1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dụ:</a:t>
            </a:r>
            <a:r>
              <a:rPr sz="5000" spc="-2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Biểu diễn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thế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giới</a:t>
            </a:r>
            <a:r>
              <a:rPr sz="5000" spc="-5" dirty="0">
                <a:solidFill>
                  <a:srgbClr val="455F51"/>
                </a:solidFill>
              </a:rPr>
              <a:t> </a:t>
            </a:r>
            <a:r>
              <a:rPr sz="5000" spc="-20" dirty="0">
                <a:solidFill>
                  <a:srgbClr val="455F51"/>
                </a:solidFill>
              </a:rPr>
              <a:t>thực</a:t>
            </a:r>
            <a:endParaRPr sz="5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52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891411"/>
            <a:ext cx="10520045" cy="441452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86385" marR="530860" indent="-274320">
              <a:lnSpc>
                <a:spcPts val="4320"/>
              </a:lnSpc>
              <a:spcBef>
                <a:spcPts val="640"/>
              </a:spcBef>
              <a:buClr>
                <a:srgbClr val="C0CF39"/>
              </a:buClr>
              <a:buSzPct val="92500"/>
              <a:buFont typeface="Wingdings 2"/>
              <a:buChar char=""/>
              <a:tabLst>
                <a:tab pos="286385" algn="l"/>
              </a:tabLst>
            </a:pPr>
            <a:r>
              <a:rPr sz="4000" dirty="0">
                <a:latin typeface="Times New Roman"/>
                <a:cs typeface="Times New Roman"/>
              </a:rPr>
              <a:t>“Chỉ</a:t>
            </a:r>
            <a:r>
              <a:rPr sz="4000" spc="-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vài</a:t>
            </a:r>
            <a:r>
              <a:rPr sz="4000" spc="-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sinh</a:t>
            </a:r>
            <a:r>
              <a:rPr sz="4000" spc="-6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viên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ngành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khoa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học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máy</a:t>
            </a:r>
            <a:r>
              <a:rPr sz="4000" spc="-6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tính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spc="-25" dirty="0">
                <a:latin typeface="Times New Roman"/>
                <a:cs typeface="Times New Roman"/>
              </a:rPr>
              <a:t>lập </a:t>
            </a:r>
            <a:r>
              <a:rPr sz="4000" dirty="0">
                <a:latin typeface="Times New Roman"/>
                <a:cs typeface="Times New Roman"/>
              </a:rPr>
              <a:t>trình</a:t>
            </a:r>
            <a:r>
              <a:rPr sz="4000" spc="-6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tốt”.</a:t>
            </a:r>
            <a:endParaRPr sz="40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415"/>
              </a:spcBef>
              <a:buClr>
                <a:srgbClr val="C0CF39"/>
              </a:buClr>
              <a:buSzPct val="92500"/>
              <a:buFont typeface="Wingdings 2"/>
              <a:buChar char=""/>
              <a:tabLst>
                <a:tab pos="286385" algn="l"/>
              </a:tabLst>
            </a:pPr>
            <a:r>
              <a:rPr sz="4000" spc="-20" dirty="0">
                <a:latin typeface="Times New Roman"/>
                <a:cs typeface="Times New Roman"/>
              </a:rPr>
              <a:t>Với:</a:t>
            </a:r>
            <a:endParaRPr sz="4000">
              <a:latin typeface="Times New Roman"/>
              <a:cs typeface="Times New Roman"/>
            </a:endParaRPr>
          </a:p>
          <a:p>
            <a:pPr marL="652145" lvl="1" indent="-246379">
              <a:lnSpc>
                <a:spcPct val="100000"/>
              </a:lnSpc>
              <a:spcBef>
                <a:spcPts val="480"/>
              </a:spcBef>
              <a:buClr>
                <a:srgbClr val="539E39"/>
              </a:buClr>
              <a:buSzPct val="82500"/>
              <a:buFont typeface="Wingdings 2"/>
              <a:buChar char=""/>
              <a:tabLst>
                <a:tab pos="652145" algn="l"/>
              </a:tabLst>
            </a:pPr>
            <a:r>
              <a:rPr sz="4000" dirty="0">
                <a:latin typeface="Times New Roman"/>
                <a:cs typeface="Times New Roman"/>
              </a:rPr>
              <a:t>sv_khmt(X):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“X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là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sinh</a:t>
            </a:r>
            <a:r>
              <a:rPr sz="4000" spc="-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viên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ngành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khmt”.</a:t>
            </a:r>
            <a:endParaRPr sz="4000">
              <a:latin typeface="Times New Roman"/>
              <a:cs typeface="Times New Roman"/>
            </a:endParaRPr>
          </a:p>
          <a:p>
            <a:pPr marL="652145" lvl="1" indent="-246379">
              <a:lnSpc>
                <a:spcPct val="100000"/>
              </a:lnSpc>
              <a:spcBef>
                <a:spcPts val="480"/>
              </a:spcBef>
              <a:buClr>
                <a:srgbClr val="539E39"/>
              </a:buClr>
              <a:buSzPct val="82500"/>
              <a:buFont typeface="Wingdings 2"/>
              <a:buChar char=""/>
              <a:tabLst>
                <a:tab pos="652145" algn="l"/>
              </a:tabLst>
            </a:pPr>
            <a:r>
              <a:rPr sz="4000" dirty="0">
                <a:latin typeface="Times New Roman"/>
                <a:cs typeface="Times New Roman"/>
              </a:rPr>
              <a:t>laptrinh_tot(X):</a:t>
            </a:r>
            <a:r>
              <a:rPr sz="4000" spc="-10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“X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lập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trình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tốt”</a:t>
            </a:r>
            <a:r>
              <a:rPr sz="4000" i="1" spc="-10" dirty="0">
                <a:latin typeface="Times New Roman"/>
                <a:cs typeface="Times New Roman"/>
              </a:rPr>
              <a:t>.</a:t>
            </a:r>
            <a:endParaRPr sz="4000">
              <a:latin typeface="Times New Roman"/>
              <a:cs typeface="Times New Roman"/>
            </a:endParaRPr>
          </a:p>
          <a:p>
            <a:pPr marL="651510" marR="5080" lvl="1" indent="-246379">
              <a:lnSpc>
                <a:spcPts val="4310"/>
              </a:lnSpc>
              <a:spcBef>
                <a:spcPts val="1050"/>
              </a:spcBef>
              <a:buClr>
                <a:srgbClr val="539E39"/>
              </a:buClr>
              <a:buSzPct val="82500"/>
              <a:buFont typeface="Wingdings 2"/>
              <a:buChar char=""/>
              <a:tabLst>
                <a:tab pos="652780" algn="l"/>
              </a:tabLst>
            </a:pPr>
            <a:r>
              <a:rPr sz="4000" dirty="0">
                <a:latin typeface="Times New Roman"/>
                <a:cs typeface="Times New Roman"/>
              </a:rPr>
              <a:t>Câu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trên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chuyển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sang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vị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từ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là:</a:t>
            </a:r>
            <a:r>
              <a:rPr sz="4000" spc="-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Symbol"/>
                <a:cs typeface="Symbol"/>
              </a:rPr>
              <a:t></a:t>
            </a:r>
            <a:r>
              <a:rPr sz="4000" dirty="0">
                <a:latin typeface="Times New Roman"/>
                <a:cs typeface="Times New Roman"/>
              </a:rPr>
              <a:t>X(sv_khmt(X)</a:t>
            </a:r>
            <a:r>
              <a:rPr sz="4000" spc="-60" dirty="0">
                <a:latin typeface="Times New Roman"/>
                <a:cs typeface="Times New Roman"/>
              </a:rPr>
              <a:t> </a:t>
            </a:r>
            <a:r>
              <a:rPr sz="4000" spc="-50" dirty="0">
                <a:latin typeface="Times New Roman"/>
                <a:cs typeface="Times New Roman"/>
              </a:rPr>
              <a:t>^ 	</a:t>
            </a:r>
            <a:r>
              <a:rPr sz="4000" spc="-10" dirty="0">
                <a:latin typeface="Times New Roman"/>
                <a:cs typeface="Times New Roman"/>
              </a:rPr>
              <a:t>laptrinh_tot(X))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387476"/>
            <a:ext cx="7623175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dirty="0">
                <a:solidFill>
                  <a:srgbClr val="455F51"/>
                </a:solidFill>
              </a:rPr>
              <a:t>Ví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dụ:</a:t>
            </a:r>
            <a:r>
              <a:rPr sz="5000" spc="-2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Biểu</a:t>
            </a:r>
            <a:r>
              <a:rPr sz="5000" spc="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diễn</a:t>
            </a:r>
            <a:r>
              <a:rPr sz="5000" spc="-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thế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giới </a:t>
            </a:r>
            <a:r>
              <a:rPr sz="5000" spc="-20" dirty="0">
                <a:solidFill>
                  <a:srgbClr val="455F51"/>
                </a:solidFill>
              </a:rPr>
              <a:t>thực</a:t>
            </a:r>
            <a:endParaRPr sz="5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53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532966"/>
            <a:ext cx="10125710" cy="463486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6385" marR="78740" indent="-278765">
              <a:lnSpc>
                <a:spcPts val="4750"/>
              </a:lnSpc>
              <a:spcBef>
                <a:spcPts val="705"/>
              </a:spcBef>
              <a:buClr>
                <a:srgbClr val="C0CF39"/>
              </a:buClr>
              <a:buSzPct val="92045"/>
              <a:buFont typeface="Wingdings 2"/>
              <a:buChar char=""/>
              <a:tabLst>
                <a:tab pos="286385" algn="l"/>
                <a:tab pos="306070" algn="l"/>
              </a:tabLst>
            </a:pPr>
            <a:r>
              <a:rPr sz="4400" dirty="0">
                <a:latin typeface="Times New Roman"/>
                <a:cs typeface="Times New Roman"/>
              </a:rPr>
              <a:t>	“Không</a:t>
            </a:r>
            <a:r>
              <a:rPr sz="4400" spc="-3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một</a:t>
            </a:r>
            <a:r>
              <a:rPr sz="4400" spc="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sinh</a:t>
            </a:r>
            <a:r>
              <a:rPr sz="4400" spc="-1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viên</a:t>
            </a:r>
            <a:r>
              <a:rPr sz="4400" spc="-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ngành</a:t>
            </a:r>
            <a:r>
              <a:rPr sz="4400" spc="-3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khoa</a:t>
            </a:r>
            <a:r>
              <a:rPr sz="4400" spc="-2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học</a:t>
            </a:r>
            <a:r>
              <a:rPr sz="4400" spc="-20" dirty="0">
                <a:latin typeface="Times New Roman"/>
                <a:cs typeface="Times New Roman"/>
              </a:rPr>
              <a:t> </a:t>
            </a:r>
            <a:r>
              <a:rPr sz="4400" spc="-25" dirty="0">
                <a:latin typeface="Times New Roman"/>
                <a:cs typeface="Times New Roman"/>
              </a:rPr>
              <a:t>máy </a:t>
            </a:r>
            <a:r>
              <a:rPr sz="4400" dirty="0">
                <a:latin typeface="Times New Roman"/>
                <a:cs typeface="Times New Roman"/>
              </a:rPr>
              <a:t>tính</a:t>
            </a:r>
            <a:r>
              <a:rPr sz="4400" spc="-2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máy</a:t>
            </a:r>
            <a:r>
              <a:rPr sz="4400" spc="-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tính</a:t>
            </a:r>
            <a:r>
              <a:rPr sz="4400" spc="1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nào</a:t>
            </a:r>
            <a:r>
              <a:rPr sz="4400" spc="-1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không</a:t>
            </a:r>
            <a:r>
              <a:rPr sz="4400" spc="-3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chăm</a:t>
            </a:r>
            <a:r>
              <a:rPr sz="4400" spc="-5" dirty="0">
                <a:latin typeface="Times New Roman"/>
                <a:cs typeface="Times New Roman"/>
              </a:rPr>
              <a:t> </a:t>
            </a:r>
            <a:r>
              <a:rPr sz="4400" spc="-10" dirty="0">
                <a:latin typeface="Times New Roman"/>
                <a:cs typeface="Times New Roman"/>
              </a:rPr>
              <a:t>chỉ”.</a:t>
            </a:r>
            <a:endParaRPr sz="4400">
              <a:latin typeface="Times New Roman"/>
              <a:cs typeface="Times New Roman"/>
            </a:endParaRPr>
          </a:p>
          <a:p>
            <a:pPr marL="306070" indent="-298450">
              <a:lnSpc>
                <a:spcPct val="100000"/>
              </a:lnSpc>
              <a:spcBef>
                <a:spcPts val="459"/>
              </a:spcBef>
              <a:buClr>
                <a:srgbClr val="C0CF39"/>
              </a:buClr>
              <a:buSzPct val="92045"/>
              <a:buFont typeface="Wingdings 2"/>
              <a:buChar char=""/>
              <a:tabLst>
                <a:tab pos="306070" algn="l"/>
              </a:tabLst>
            </a:pPr>
            <a:r>
              <a:rPr sz="4400" spc="-20" dirty="0">
                <a:latin typeface="Times New Roman"/>
                <a:cs typeface="Times New Roman"/>
              </a:rPr>
              <a:t>Với:</a:t>
            </a:r>
            <a:endParaRPr sz="4400">
              <a:latin typeface="Times New Roman"/>
              <a:cs typeface="Times New Roman"/>
            </a:endParaRPr>
          </a:p>
          <a:p>
            <a:pPr marL="657225" lvl="1" indent="-262255">
              <a:lnSpc>
                <a:spcPct val="100000"/>
              </a:lnSpc>
              <a:spcBef>
                <a:spcPts val="515"/>
              </a:spcBef>
              <a:buClr>
                <a:srgbClr val="539E39"/>
              </a:buClr>
              <a:buSzPct val="82142"/>
              <a:buFont typeface="Wingdings 2"/>
              <a:buChar char=""/>
              <a:tabLst>
                <a:tab pos="657225" algn="l"/>
              </a:tabLst>
            </a:pPr>
            <a:r>
              <a:rPr sz="4200" dirty="0">
                <a:latin typeface="Times New Roman"/>
                <a:cs typeface="Times New Roman"/>
              </a:rPr>
              <a:t>sv_khmt(X):</a:t>
            </a:r>
            <a:r>
              <a:rPr sz="4200" spc="-2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“X</a:t>
            </a:r>
            <a:r>
              <a:rPr sz="4200" spc="-1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là</a:t>
            </a:r>
            <a:r>
              <a:rPr sz="4200" spc="-25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sinh</a:t>
            </a:r>
            <a:r>
              <a:rPr sz="4200" spc="-20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viên</a:t>
            </a:r>
            <a:r>
              <a:rPr sz="4200" spc="-25" dirty="0">
                <a:latin typeface="Times New Roman"/>
                <a:cs typeface="Times New Roman"/>
              </a:rPr>
              <a:t> </a:t>
            </a:r>
            <a:r>
              <a:rPr sz="4200" dirty="0">
                <a:latin typeface="Times New Roman"/>
                <a:cs typeface="Times New Roman"/>
              </a:rPr>
              <a:t>ngành</a:t>
            </a:r>
            <a:r>
              <a:rPr sz="4200" spc="-15" dirty="0">
                <a:latin typeface="Times New Roman"/>
                <a:cs typeface="Times New Roman"/>
              </a:rPr>
              <a:t> </a:t>
            </a:r>
            <a:r>
              <a:rPr sz="4200" spc="-10" dirty="0">
                <a:latin typeface="Times New Roman"/>
                <a:cs typeface="Times New Roman"/>
              </a:rPr>
              <a:t>khmt”.</a:t>
            </a:r>
            <a:endParaRPr sz="4200">
              <a:latin typeface="Times New Roman"/>
              <a:cs typeface="Times New Roman"/>
            </a:endParaRPr>
          </a:p>
          <a:p>
            <a:pPr marL="652145" lvl="1" indent="-252729">
              <a:lnSpc>
                <a:spcPct val="100000"/>
              </a:lnSpc>
              <a:spcBef>
                <a:spcPts val="490"/>
              </a:spcBef>
              <a:buClr>
                <a:srgbClr val="539E39"/>
              </a:buClr>
              <a:buSzPct val="82500"/>
              <a:buFont typeface="Wingdings 2"/>
              <a:buChar char=""/>
              <a:tabLst>
                <a:tab pos="652145" algn="l"/>
              </a:tabLst>
            </a:pPr>
            <a:r>
              <a:rPr sz="4000" dirty="0">
                <a:latin typeface="Times New Roman"/>
                <a:cs typeface="Times New Roman"/>
              </a:rPr>
              <a:t>cham_chi(X):</a:t>
            </a:r>
            <a:r>
              <a:rPr sz="4000" spc="-12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“X</a:t>
            </a:r>
            <a:r>
              <a:rPr sz="4000" spc="-10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chăm</a:t>
            </a:r>
            <a:r>
              <a:rPr sz="4000" spc="-10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chỉ”.</a:t>
            </a:r>
            <a:endParaRPr sz="4000">
              <a:latin typeface="Times New Roman"/>
              <a:cs typeface="Times New Roman"/>
            </a:endParaRPr>
          </a:p>
          <a:p>
            <a:pPr marL="651510" marR="5080" lvl="1" indent="-252095">
              <a:lnSpc>
                <a:spcPts val="4310"/>
              </a:lnSpc>
              <a:spcBef>
                <a:spcPts val="1045"/>
              </a:spcBef>
              <a:buClr>
                <a:srgbClr val="539E39"/>
              </a:buClr>
              <a:buSzPct val="82500"/>
              <a:buFont typeface="Wingdings 2"/>
              <a:buChar char=""/>
              <a:tabLst>
                <a:tab pos="652780" algn="l"/>
                <a:tab pos="5295265" algn="l"/>
              </a:tabLst>
            </a:pPr>
            <a:r>
              <a:rPr sz="4000" dirty="0">
                <a:latin typeface="Times New Roman"/>
                <a:cs typeface="Times New Roman"/>
              </a:rPr>
              <a:t>Câu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trên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chuyển</a:t>
            </a:r>
            <a:r>
              <a:rPr sz="4000" spc="-60" dirty="0">
                <a:latin typeface="Times New Roman"/>
                <a:cs typeface="Times New Roman"/>
              </a:rPr>
              <a:t> </a:t>
            </a:r>
            <a:r>
              <a:rPr sz="4000" spc="-20" dirty="0">
                <a:latin typeface="Times New Roman"/>
                <a:cs typeface="Times New Roman"/>
              </a:rPr>
              <a:t>sang</a:t>
            </a:r>
            <a:r>
              <a:rPr sz="4000" dirty="0">
                <a:latin typeface="Times New Roman"/>
                <a:cs typeface="Times New Roman"/>
              </a:rPr>
              <a:t>	là: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Symbol"/>
                <a:cs typeface="Symbol"/>
              </a:rPr>
              <a:t></a:t>
            </a:r>
            <a:r>
              <a:rPr sz="4000" dirty="0">
                <a:latin typeface="Times New Roman"/>
                <a:cs typeface="Times New Roman"/>
              </a:rPr>
              <a:t>X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(sv_khmt(X)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spc="-25" dirty="0">
                <a:latin typeface="Times New Roman"/>
                <a:cs typeface="Times New Roman"/>
              </a:rPr>
              <a:t>=&gt; 	</a:t>
            </a:r>
            <a:r>
              <a:rPr sz="4000" spc="-10" dirty="0">
                <a:latin typeface="Times New Roman"/>
                <a:cs typeface="Times New Roman"/>
              </a:rPr>
              <a:t>cham_chi(X)).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581099"/>
            <a:ext cx="10754995" cy="4805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indent="-273685">
              <a:lnSpc>
                <a:spcPts val="3195"/>
              </a:lnSpc>
              <a:spcBef>
                <a:spcPts val="95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b="1" dirty="0">
                <a:latin typeface="Palatino Linotype"/>
                <a:cs typeface="Palatino Linotype"/>
              </a:rPr>
              <a:t>Ngữ</a:t>
            </a:r>
            <a:r>
              <a:rPr sz="2800" b="1" spc="-30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nghĩa</a:t>
            </a:r>
            <a:r>
              <a:rPr sz="2800" b="1" spc="-10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phép</a:t>
            </a:r>
            <a:r>
              <a:rPr sz="2800" b="1" spc="-10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tính</a:t>
            </a:r>
            <a:r>
              <a:rPr sz="2800" b="1" spc="-15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vị</a:t>
            </a:r>
            <a:r>
              <a:rPr sz="2800" b="1" spc="-20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từ:</a:t>
            </a:r>
            <a:r>
              <a:rPr sz="2800" b="1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là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cơ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sở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để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xác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định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chân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trị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của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spc="-25" dirty="0">
                <a:latin typeface="Palatino Linotype"/>
                <a:cs typeface="Palatino Linotype"/>
              </a:rPr>
              <a:t>các</a:t>
            </a:r>
            <a:endParaRPr sz="2800">
              <a:latin typeface="Palatino Linotype"/>
              <a:cs typeface="Palatino Linotype"/>
            </a:endParaRPr>
          </a:p>
          <a:p>
            <a:pPr marL="286385">
              <a:lnSpc>
                <a:spcPts val="3195"/>
              </a:lnSpc>
            </a:pPr>
            <a:r>
              <a:rPr sz="2800" dirty="0">
                <a:latin typeface="Palatino Linotype"/>
                <a:cs typeface="Palatino Linotype"/>
              </a:rPr>
              <a:t>biểu</a:t>
            </a:r>
            <a:r>
              <a:rPr sz="2800" spc="-6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thức</a:t>
            </a:r>
            <a:r>
              <a:rPr sz="2800" spc="-5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dạng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spc="-10" dirty="0">
                <a:latin typeface="Palatino Linotype"/>
                <a:cs typeface="Palatino Linotype"/>
              </a:rPr>
              <a:t>chuẩn.</a:t>
            </a:r>
            <a:endParaRPr sz="2800">
              <a:latin typeface="Palatino Linotype"/>
              <a:cs typeface="Palatino Linotype"/>
            </a:endParaRPr>
          </a:p>
          <a:p>
            <a:pPr marL="286385" marR="46355" indent="-274320">
              <a:lnSpc>
                <a:spcPts val="3020"/>
              </a:lnSpc>
              <a:spcBef>
                <a:spcPts val="1060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dirty="0">
                <a:latin typeface="Palatino Linotype"/>
                <a:cs typeface="Palatino Linotype"/>
              </a:rPr>
              <a:t>Chân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trị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của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một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câu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sơ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cấp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được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xác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định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qua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sự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thông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dịch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spc="-20" dirty="0">
                <a:latin typeface="Palatino Linotype"/>
                <a:cs typeface="Palatino Linotype"/>
              </a:rPr>
              <a:t>(gán </a:t>
            </a:r>
            <a:r>
              <a:rPr sz="2800" dirty="0">
                <a:latin typeface="Palatino Linotype"/>
                <a:cs typeface="Palatino Linotype"/>
              </a:rPr>
              <a:t>các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thực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thể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trong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miền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của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vấn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đề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đang</a:t>
            </a:r>
            <a:r>
              <a:rPr sz="2800" spc="-1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đề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cập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cho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mỗi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ký</a:t>
            </a:r>
            <a:r>
              <a:rPr sz="2800" spc="-20" dirty="0">
                <a:latin typeface="Palatino Linotype"/>
                <a:cs typeface="Palatino Linotype"/>
              </a:rPr>
              <a:t> hiệu </a:t>
            </a:r>
            <a:r>
              <a:rPr sz="2800" dirty="0">
                <a:latin typeface="Palatino Linotype"/>
                <a:cs typeface="Palatino Linotype"/>
              </a:rPr>
              <a:t>hằng,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biến,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vị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từ</a:t>
            </a:r>
            <a:r>
              <a:rPr sz="2800" spc="-1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và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spc="-10" dirty="0">
                <a:latin typeface="Palatino Linotype"/>
                <a:cs typeface="Palatino Linotype"/>
              </a:rPr>
              <a:t>hàm).</a:t>
            </a:r>
            <a:endParaRPr sz="2800">
              <a:latin typeface="Palatino Linotype"/>
              <a:cs typeface="Palatino Linotype"/>
            </a:endParaRPr>
          </a:p>
          <a:p>
            <a:pPr marL="286385" indent="-273685">
              <a:lnSpc>
                <a:spcPts val="3190"/>
              </a:lnSpc>
              <a:spcBef>
                <a:spcPts val="635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dirty="0">
                <a:latin typeface="Palatino Linotype"/>
                <a:cs typeface="Palatino Linotype"/>
              </a:rPr>
              <a:t>Đối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với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các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câu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không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phải</a:t>
            </a:r>
            <a:r>
              <a:rPr sz="2800" spc="-5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là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câu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sơ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cấp,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sử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dụng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bảng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chân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spc="-25" dirty="0">
                <a:latin typeface="Palatino Linotype"/>
                <a:cs typeface="Palatino Linotype"/>
              </a:rPr>
              <a:t>trị</a:t>
            </a:r>
            <a:endParaRPr sz="2800">
              <a:latin typeface="Palatino Linotype"/>
              <a:cs typeface="Palatino Linotype"/>
            </a:endParaRPr>
          </a:p>
          <a:p>
            <a:pPr marL="286385">
              <a:lnSpc>
                <a:spcPts val="3190"/>
              </a:lnSpc>
            </a:pPr>
            <a:r>
              <a:rPr sz="2800" dirty="0">
                <a:latin typeface="Palatino Linotype"/>
                <a:cs typeface="Palatino Linotype"/>
              </a:rPr>
              <a:t>cho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các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phép</a:t>
            </a:r>
            <a:r>
              <a:rPr sz="2800" spc="-1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nối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kết,</a:t>
            </a:r>
            <a:r>
              <a:rPr sz="2800" spc="-15" dirty="0">
                <a:latin typeface="Palatino Linotype"/>
                <a:cs typeface="Palatino Linotype"/>
              </a:rPr>
              <a:t> </a:t>
            </a:r>
            <a:r>
              <a:rPr sz="2800" spc="-25" dirty="0">
                <a:latin typeface="Palatino Linotype"/>
                <a:cs typeface="Palatino Linotype"/>
              </a:rPr>
              <a:t>và:</a:t>
            </a:r>
            <a:endParaRPr sz="2800">
              <a:latin typeface="Palatino Linotype"/>
              <a:cs typeface="Palatino Linotype"/>
            </a:endParaRPr>
          </a:p>
          <a:p>
            <a:pPr marL="652780" marR="466090" lvl="1" indent="-247650">
              <a:lnSpc>
                <a:spcPts val="3000"/>
              </a:lnSpc>
              <a:spcBef>
                <a:spcPts val="1100"/>
              </a:spcBef>
              <a:buClr>
                <a:srgbClr val="539E39"/>
              </a:buClr>
              <a:buSzPct val="83928"/>
              <a:buFont typeface="Wingdings 2"/>
              <a:buChar char=""/>
              <a:tabLst>
                <a:tab pos="652780" algn="l"/>
                <a:tab pos="3775710" algn="l"/>
              </a:tabLst>
            </a:pPr>
            <a:r>
              <a:rPr sz="2800" dirty="0">
                <a:latin typeface="Palatino Linotype"/>
                <a:cs typeface="Palatino Linotype"/>
              </a:rPr>
              <a:t>Giá</a:t>
            </a:r>
            <a:r>
              <a:rPr sz="2800" spc="-1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trị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của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câu</a:t>
            </a:r>
            <a:r>
              <a:rPr sz="2800" spc="-1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Symbol"/>
                <a:cs typeface="Symbol"/>
              </a:rPr>
              <a:t>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Palatino Linotype"/>
                <a:cs typeface="Palatino Linotype"/>
              </a:rPr>
              <a:t>X</a:t>
            </a:r>
            <a:r>
              <a:rPr sz="2800" dirty="0">
                <a:latin typeface="Palatino Linotype"/>
                <a:cs typeface="Palatino Linotype"/>
              </a:rPr>
              <a:t>	&lt;câu&gt;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là</a:t>
            </a:r>
            <a:r>
              <a:rPr sz="2800" spc="-1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true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nếu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&lt;câu&gt;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là</a:t>
            </a:r>
            <a:r>
              <a:rPr sz="2800" spc="-1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</a:t>
            </a:r>
            <a:r>
              <a:rPr sz="2800" spc="-1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cho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tất</a:t>
            </a:r>
            <a:r>
              <a:rPr sz="2800" spc="-1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cả</a:t>
            </a:r>
            <a:r>
              <a:rPr sz="2800" spc="-10" dirty="0">
                <a:latin typeface="Palatino Linotype"/>
                <a:cs typeface="Palatino Linotype"/>
              </a:rPr>
              <a:t> </a:t>
            </a:r>
            <a:r>
              <a:rPr sz="2800" spc="-25" dirty="0">
                <a:latin typeface="Palatino Linotype"/>
                <a:cs typeface="Palatino Linotype"/>
              </a:rPr>
              <a:t>các </a:t>
            </a:r>
            <a:r>
              <a:rPr sz="2800" dirty="0">
                <a:latin typeface="Palatino Linotype"/>
                <a:cs typeface="Palatino Linotype"/>
              </a:rPr>
              <a:t>phép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gán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có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thể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được</a:t>
            </a:r>
            <a:r>
              <a:rPr sz="2800" spc="-1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cho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spc="-25" dirty="0">
                <a:latin typeface="Palatino Linotype"/>
                <a:cs typeface="Palatino Linotype"/>
              </a:rPr>
              <a:t>X.</a:t>
            </a:r>
            <a:endParaRPr sz="2800">
              <a:latin typeface="Palatino Linotype"/>
              <a:cs typeface="Palatino Linotype"/>
            </a:endParaRPr>
          </a:p>
          <a:p>
            <a:pPr marL="651510" marR="5080" lvl="1" indent="-246379">
              <a:lnSpc>
                <a:spcPts val="3000"/>
              </a:lnSpc>
              <a:spcBef>
                <a:spcPts val="1055"/>
              </a:spcBef>
              <a:buClr>
                <a:srgbClr val="539E39"/>
              </a:buClr>
              <a:buSzPct val="83928"/>
              <a:buFont typeface="Wingdings 2"/>
              <a:buChar char=""/>
              <a:tabLst>
                <a:tab pos="652780" algn="l"/>
                <a:tab pos="3716020" algn="l"/>
              </a:tabLst>
            </a:pPr>
            <a:r>
              <a:rPr sz="2800" dirty="0">
                <a:latin typeface="Palatino Linotype"/>
                <a:cs typeface="Palatino Linotype"/>
              </a:rPr>
              <a:t>Giá</a:t>
            </a:r>
            <a:r>
              <a:rPr sz="2800" spc="-1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trị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của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câu</a:t>
            </a:r>
            <a:r>
              <a:rPr sz="2800" spc="-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Symbol"/>
                <a:cs typeface="Symbol"/>
              </a:rPr>
              <a:t>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Palatino Linotype"/>
                <a:cs typeface="Palatino Linotype"/>
              </a:rPr>
              <a:t>X</a:t>
            </a:r>
            <a:r>
              <a:rPr sz="2800" dirty="0">
                <a:latin typeface="Palatino Linotype"/>
                <a:cs typeface="Palatino Linotype"/>
              </a:rPr>
              <a:t>	&lt;câu&gt;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là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true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nếu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tồn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tại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một</a:t>
            </a:r>
            <a:r>
              <a:rPr sz="2800" spc="-1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phép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gán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cho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spc="-50" dirty="0">
                <a:latin typeface="Palatino Linotype"/>
                <a:cs typeface="Palatino Linotype"/>
              </a:rPr>
              <a:t>X 	</a:t>
            </a:r>
            <a:r>
              <a:rPr sz="2800" dirty="0">
                <a:latin typeface="Palatino Linotype"/>
                <a:cs typeface="Palatino Linotype"/>
              </a:rPr>
              <a:t>làm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cho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&lt;câu&gt;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có</a:t>
            </a:r>
            <a:r>
              <a:rPr sz="2800" spc="-1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giá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trị</a:t>
            </a:r>
            <a:r>
              <a:rPr sz="2800" spc="-25" dirty="0">
                <a:latin typeface="Palatino Linotype"/>
                <a:cs typeface="Palatino Linotype"/>
              </a:rPr>
              <a:t> T.</a:t>
            </a:r>
            <a:endParaRPr sz="28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3877" y="345694"/>
            <a:ext cx="3775710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dirty="0">
                <a:solidFill>
                  <a:srgbClr val="455F51"/>
                </a:solidFill>
              </a:rPr>
              <a:t>Phép</a:t>
            </a:r>
            <a:r>
              <a:rPr sz="5000" spc="-1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tính vị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spc="-25" dirty="0">
                <a:solidFill>
                  <a:srgbClr val="455F51"/>
                </a:solidFill>
              </a:rPr>
              <a:t>từ</a:t>
            </a:r>
            <a:endParaRPr sz="5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54</a:t>
            </a:fld>
            <a:endParaRPr spc="-25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345694"/>
            <a:ext cx="4785360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6450" algn="l"/>
              </a:tabLst>
            </a:pPr>
            <a:r>
              <a:rPr sz="5000" spc="-25" dirty="0">
                <a:solidFill>
                  <a:srgbClr val="455F51"/>
                </a:solidFill>
              </a:rPr>
              <a:t>Vị</a:t>
            </a:r>
            <a:r>
              <a:rPr sz="5000" dirty="0">
                <a:solidFill>
                  <a:srgbClr val="455F51"/>
                </a:solidFill>
              </a:rPr>
              <a:t>	từ</a:t>
            </a:r>
            <a:r>
              <a:rPr sz="5000" spc="-1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tương</a:t>
            </a:r>
            <a:r>
              <a:rPr sz="5000" spc="-5" dirty="0">
                <a:solidFill>
                  <a:srgbClr val="455F51"/>
                </a:solidFill>
              </a:rPr>
              <a:t> </a:t>
            </a:r>
            <a:r>
              <a:rPr sz="5000" spc="-10" dirty="0">
                <a:solidFill>
                  <a:srgbClr val="455F51"/>
                </a:solidFill>
              </a:rPr>
              <a:t>đương</a:t>
            </a:r>
            <a:endParaRPr sz="5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55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455521"/>
            <a:ext cx="11112500" cy="43002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865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>
                <a:latin typeface="Palatino Linotype"/>
                <a:cs typeface="Palatino Linotype"/>
              </a:rPr>
              <a:t>Vị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từ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tương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đương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của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mệnh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đề:</a:t>
            </a:r>
            <a:endParaRPr sz="3200">
              <a:latin typeface="Palatino Linotype"/>
              <a:cs typeface="Palatino Linotype"/>
            </a:endParaRPr>
          </a:p>
          <a:p>
            <a:pPr marL="286385" marR="14097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Palatino Linotype"/>
                <a:cs typeface="Palatino Linotype"/>
              </a:rPr>
              <a:t>Nếu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thay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thế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các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mệnh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đề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bởi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các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biểu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thức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vị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từ,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các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spc="-20" dirty="0">
                <a:latin typeface="Palatino Linotype"/>
                <a:cs typeface="Palatino Linotype"/>
              </a:rPr>
              <a:t>mệnh </a:t>
            </a:r>
            <a:r>
              <a:rPr sz="3200" dirty="0">
                <a:latin typeface="Palatino Linotype"/>
                <a:cs typeface="Palatino Linotype"/>
              </a:rPr>
              <a:t>đề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cùng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tên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thì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được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thay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cùng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một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biểu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thức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vị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từ,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thì</a:t>
            </a:r>
            <a:endParaRPr sz="3200">
              <a:latin typeface="Palatino Linotype"/>
              <a:cs typeface="Palatino Linotype"/>
            </a:endParaRPr>
          </a:p>
          <a:p>
            <a:pPr marL="286385">
              <a:lnSpc>
                <a:spcPct val="100000"/>
              </a:lnSpc>
            </a:pPr>
            <a:r>
              <a:rPr sz="3200" dirty="0">
                <a:latin typeface="Palatino Linotype"/>
                <a:cs typeface="Palatino Linotype"/>
              </a:rPr>
              <a:t>được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một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tương</a:t>
            </a:r>
            <a:r>
              <a:rPr sz="3200" spc="-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đương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của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vị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từ.</a:t>
            </a:r>
            <a:endParaRPr sz="32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770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>
                <a:latin typeface="Palatino Linotype"/>
                <a:cs typeface="Palatino Linotype"/>
              </a:rPr>
              <a:t>Ví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dụ:</a:t>
            </a:r>
            <a:endParaRPr sz="3200">
              <a:latin typeface="Palatino Linotype"/>
              <a:cs typeface="Palatino Linotype"/>
            </a:endParaRPr>
          </a:p>
          <a:p>
            <a:pPr marL="652145" lvl="1" indent="-246379">
              <a:lnSpc>
                <a:spcPct val="100000"/>
              </a:lnSpc>
              <a:spcBef>
                <a:spcPts val="725"/>
              </a:spcBef>
              <a:buClr>
                <a:srgbClr val="539E39"/>
              </a:buClr>
              <a:buSzPct val="83928"/>
              <a:buFont typeface="Wingdings 2"/>
              <a:buChar char=""/>
              <a:tabLst>
                <a:tab pos="652145" algn="l"/>
                <a:tab pos="2755900" algn="l"/>
              </a:tabLst>
            </a:pPr>
            <a:r>
              <a:rPr sz="2800" dirty="0">
                <a:latin typeface="Palatino Linotype"/>
                <a:cs typeface="Palatino Linotype"/>
              </a:rPr>
              <a:t>Mệnh</a:t>
            </a:r>
            <a:r>
              <a:rPr sz="2800" spc="-25" dirty="0">
                <a:latin typeface="Palatino Linotype"/>
                <a:cs typeface="Palatino Linotype"/>
              </a:rPr>
              <a:t> đề:</a:t>
            </a:r>
            <a:r>
              <a:rPr sz="2800" dirty="0">
                <a:latin typeface="Palatino Linotype"/>
                <a:cs typeface="Palatino Linotype"/>
              </a:rPr>
              <a:t>	(P</a:t>
            </a:r>
            <a:r>
              <a:rPr sz="2800" spc="-7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=&gt;</a:t>
            </a:r>
            <a:r>
              <a:rPr sz="2800" spc="-1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Q)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Wingdings"/>
                <a:cs typeface="Wingdings"/>
              </a:rPr>
              <a:t>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(</a:t>
            </a:r>
            <a:r>
              <a:rPr sz="2800" dirty="0">
                <a:latin typeface="Symbol"/>
                <a:cs typeface="Symbol"/>
              </a:rPr>
              <a:t></a:t>
            </a:r>
            <a:r>
              <a:rPr sz="2800" dirty="0">
                <a:latin typeface="Palatino Linotype"/>
                <a:cs typeface="Palatino Linotype"/>
              </a:rPr>
              <a:t>P</a:t>
            </a:r>
            <a:r>
              <a:rPr sz="2800" spc="-8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v</a:t>
            </a:r>
            <a:r>
              <a:rPr sz="2800" spc="-20" dirty="0">
                <a:latin typeface="Palatino Linotype"/>
                <a:cs typeface="Palatino Linotype"/>
              </a:rPr>
              <a:t> </a:t>
            </a:r>
            <a:r>
              <a:rPr sz="2800" spc="-25" dirty="0">
                <a:latin typeface="Palatino Linotype"/>
                <a:cs typeface="Palatino Linotype"/>
              </a:rPr>
              <a:t>Q)</a:t>
            </a:r>
            <a:endParaRPr sz="2800">
              <a:latin typeface="Palatino Linotype"/>
              <a:cs typeface="Palatino Linotype"/>
            </a:endParaRPr>
          </a:p>
          <a:p>
            <a:pPr marL="652145" lvl="1" indent="-246379">
              <a:lnSpc>
                <a:spcPct val="100000"/>
              </a:lnSpc>
              <a:spcBef>
                <a:spcPts val="675"/>
              </a:spcBef>
              <a:buClr>
                <a:srgbClr val="539E39"/>
              </a:buClr>
              <a:buSzPct val="83928"/>
              <a:buFont typeface="Wingdings 2"/>
              <a:buChar char=""/>
              <a:tabLst>
                <a:tab pos="652145" algn="l"/>
              </a:tabLst>
            </a:pPr>
            <a:r>
              <a:rPr sz="2800" dirty="0">
                <a:latin typeface="Palatino Linotype"/>
                <a:cs typeface="Palatino Linotype"/>
              </a:rPr>
              <a:t>Vị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từ: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P</a:t>
            </a:r>
            <a:r>
              <a:rPr sz="2800" spc="-9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bởi:</a:t>
            </a:r>
            <a:r>
              <a:rPr sz="2800" spc="-3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Symbol"/>
                <a:cs typeface="Symbol"/>
              </a:rPr>
              <a:t></a:t>
            </a:r>
            <a:r>
              <a:rPr sz="2800" dirty="0">
                <a:latin typeface="Palatino Linotype"/>
                <a:cs typeface="Palatino Linotype"/>
              </a:rPr>
              <a:t>X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Symbol"/>
                <a:cs typeface="Symbol"/>
              </a:rPr>
              <a:t></a:t>
            </a:r>
            <a:r>
              <a:rPr sz="2800" dirty="0">
                <a:latin typeface="Palatino Linotype"/>
                <a:cs typeface="Palatino Linotype"/>
              </a:rPr>
              <a:t>Y</a:t>
            </a:r>
            <a:r>
              <a:rPr sz="2800" spc="-8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P(X,Y),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Q</a:t>
            </a:r>
            <a:r>
              <a:rPr sz="2800" spc="-2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bời:</a:t>
            </a:r>
            <a:r>
              <a:rPr sz="2800" spc="-40" dirty="0">
                <a:latin typeface="Palatino Linotype"/>
                <a:cs typeface="Palatino Linotype"/>
              </a:rPr>
              <a:t> </a:t>
            </a:r>
            <a:r>
              <a:rPr sz="2800" spc="-10" dirty="0">
                <a:latin typeface="Palatino Linotype"/>
                <a:cs typeface="Palatino Linotype"/>
              </a:rPr>
              <a:t>Q(X).</a:t>
            </a:r>
            <a:endParaRPr sz="2800">
              <a:latin typeface="Palatino Linotype"/>
              <a:cs typeface="Palatino Linotype"/>
            </a:endParaRPr>
          </a:p>
          <a:p>
            <a:pPr marL="652145" lvl="1" indent="-246379">
              <a:lnSpc>
                <a:spcPct val="100000"/>
              </a:lnSpc>
              <a:spcBef>
                <a:spcPts val="670"/>
              </a:spcBef>
              <a:buClr>
                <a:srgbClr val="539E39"/>
              </a:buClr>
              <a:buSzPct val="83928"/>
              <a:buFont typeface="Wingdings 2"/>
              <a:buChar char=""/>
              <a:tabLst>
                <a:tab pos="652145" algn="l"/>
              </a:tabLst>
            </a:pPr>
            <a:r>
              <a:rPr sz="2800" dirty="0">
                <a:latin typeface="Palatino Linotype"/>
                <a:cs typeface="Palatino Linotype"/>
              </a:rPr>
              <a:t>Tương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đương: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(</a:t>
            </a:r>
            <a:r>
              <a:rPr sz="2800" dirty="0">
                <a:latin typeface="Symbol"/>
                <a:cs typeface="Symbol"/>
              </a:rPr>
              <a:t></a:t>
            </a:r>
            <a:r>
              <a:rPr sz="2800" dirty="0">
                <a:latin typeface="Palatino Linotype"/>
                <a:cs typeface="Palatino Linotype"/>
              </a:rPr>
              <a:t>X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Symbol"/>
                <a:cs typeface="Symbol"/>
              </a:rPr>
              <a:t></a:t>
            </a:r>
            <a:r>
              <a:rPr sz="2800" dirty="0">
                <a:latin typeface="Palatino Linotype"/>
                <a:cs typeface="Palatino Linotype"/>
              </a:rPr>
              <a:t>Y</a:t>
            </a:r>
            <a:r>
              <a:rPr sz="2800" spc="-10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P(X,Y)</a:t>
            </a:r>
            <a:r>
              <a:rPr sz="2800" spc="-6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=&gt;</a:t>
            </a:r>
            <a:r>
              <a:rPr sz="2800" spc="-6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Q(X))</a:t>
            </a:r>
            <a:r>
              <a:rPr sz="2800" spc="-3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Wingdings"/>
                <a:cs typeface="Wingdings"/>
              </a:rPr>
              <a:t>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(</a:t>
            </a:r>
            <a:r>
              <a:rPr sz="2800" dirty="0">
                <a:latin typeface="Symbol"/>
                <a:cs typeface="Symbol"/>
              </a:rPr>
              <a:t></a:t>
            </a:r>
            <a:r>
              <a:rPr sz="2800" dirty="0">
                <a:latin typeface="Palatino Linotype"/>
                <a:cs typeface="Palatino Linotype"/>
              </a:rPr>
              <a:t>(</a:t>
            </a:r>
            <a:r>
              <a:rPr sz="2800" dirty="0">
                <a:latin typeface="Symbol"/>
                <a:cs typeface="Symbol"/>
              </a:rPr>
              <a:t></a:t>
            </a:r>
            <a:r>
              <a:rPr sz="2800" dirty="0">
                <a:latin typeface="Palatino Linotype"/>
                <a:cs typeface="Palatino Linotype"/>
              </a:rPr>
              <a:t>X</a:t>
            </a:r>
            <a:r>
              <a:rPr sz="2800" dirty="0">
                <a:latin typeface="Symbol"/>
                <a:cs typeface="Symbol"/>
              </a:rPr>
              <a:t></a:t>
            </a:r>
            <a:r>
              <a:rPr sz="2800" dirty="0">
                <a:latin typeface="Palatino Linotype"/>
                <a:cs typeface="Palatino Linotype"/>
              </a:rPr>
              <a:t>Y</a:t>
            </a:r>
            <a:r>
              <a:rPr sz="2800" spc="-80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P(X,Y))</a:t>
            </a:r>
            <a:r>
              <a:rPr sz="2800" spc="-45" dirty="0">
                <a:latin typeface="Palatino Linotype"/>
                <a:cs typeface="Palatino Linotype"/>
              </a:rPr>
              <a:t> </a:t>
            </a:r>
            <a:r>
              <a:rPr sz="2800" dirty="0">
                <a:latin typeface="Palatino Linotype"/>
                <a:cs typeface="Palatino Linotype"/>
              </a:rPr>
              <a:t>v</a:t>
            </a:r>
            <a:r>
              <a:rPr sz="2800" spc="-60" dirty="0">
                <a:latin typeface="Palatino Linotype"/>
                <a:cs typeface="Palatino Linotype"/>
              </a:rPr>
              <a:t> </a:t>
            </a:r>
            <a:r>
              <a:rPr sz="2800" spc="-10" dirty="0">
                <a:latin typeface="Palatino Linotype"/>
                <a:cs typeface="Palatino Linotype"/>
              </a:rPr>
              <a:t>Q(X))</a:t>
            </a:r>
            <a:endParaRPr sz="28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441451"/>
            <a:ext cx="4785360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06450" algn="l"/>
              </a:tabLst>
            </a:pPr>
            <a:r>
              <a:rPr sz="5000" spc="-25" dirty="0">
                <a:solidFill>
                  <a:srgbClr val="455F51"/>
                </a:solidFill>
              </a:rPr>
              <a:t>Vị</a:t>
            </a:r>
            <a:r>
              <a:rPr sz="5000" dirty="0">
                <a:solidFill>
                  <a:srgbClr val="455F51"/>
                </a:solidFill>
              </a:rPr>
              <a:t>	từ</a:t>
            </a:r>
            <a:r>
              <a:rPr sz="5000" spc="-1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tương</a:t>
            </a:r>
            <a:r>
              <a:rPr sz="5000" spc="-5" dirty="0">
                <a:solidFill>
                  <a:srgbClr val="455F51"/>
                </a:solidFill>
              </a:rPr>
              <a:t> </a:t>
            </a:r>
            <a:r>
              <a:rPr sz="5000" spc="-10" dirty="0">
                <a:solidFill>
                  <a:srgbClr val="455F51"/>
                </a:solidFill>
              </a:rPr>
              <a:t>đương</a:t>
            </a:r>
            <a:endParaRPr sz="5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56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383868"/>
            <a:ext cx="6390640" cy="1854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95"/>
              </a:spcBef>
              <a:buClr>
                <a:srgbClr val="C0CF39"/>
              </a:buClr>
              <a:buSzPct val="92500"/>
              <a:buFont typeface="Wingdings 2"/>
              <a:buChar char=""/>
              <a:tabLst>
                <a:tab pos="286385" algn="l"/>
              </a:tabLst>
            </a:pPr>
            <a:r>
              <a:rPr sz="4000" dirty="0">
                <a:latin typeface="Palatino Linotype"/>
                <a:cs typeface="Palatino Linotype"/>
              </a:rPr>
              <a:t>Lượng</a:t>
            </a:r>
            <a:r>
              <a:rPr sz="4000" spc="-25" dirty="0">
                <a:latin typeface="Palatino Linotype"/>
                <a:cs typeface="Palatino Linotype"/>
              </a:rPr>
              <a:t> từ:</a:t>
            </a:r>
            <a:endParaRPr sz="4000">
              <a:latin typeface="Palatino Linotype"/>
              <a:cs typeface="Palatino Linotype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4000" dirty="0">
                <a:latin typeface="Symbol"/>
                <a:cs typeface="Symbol"/>
              </a:rPr>
              <a:t></a:t>
            </a:r>
            <a:r>
              <a:rPr sz="4000" b="1" dirty="0">
                <a:latin typeface="Palatino Linotype"/>
                <a:cs typeface="Palatino Linotype"/>
              </a:rPr>
              <a:t>(</a:t>
            </a:r>
            <a:r>
              <a:rPr sz="4000" dirty="0">
                <a:latin typeface="Symbol"/>
                <a:cs typeface="Symbol"/>
              </a:rPr>
              <a:t></a:t>
            </a:r>
            <a:r>
              <a:rPr sz="4000" b="1" dirty="0">
                <a:latin typeface="Palatino Linotype"/>
                <a:cs typeface="Palatino Linotype"/>
              </a:rPr>
              <a:t>X</a:t>
            </a:r>
            <a:r>
              <a:rPr sz="4000" b="1" spc="-75" dirty="0">
                <a:latin typeface="Palatino Linotype"/>
                <a:cs typeface="Palatino Linotype"/>
              </a:rPr>
              <a:t> </a:t>
            </a:r>
            <a:r>
              <a:rPr sz="4000" b="1" dirty="0">
                <a:latin typeface="Palatino Linotype"/>
                <a:cs typeface="Palatino Linotype"/>
              </a:rPr>
              <a:t>Wff)</a:t>
            </a:r>
            <a:r>
              <a:rPr sz="4000" b="1" spc="-55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Wingdings"/>
                <a:cs typeface="Wingdings"/>
              </a:rPr>
              <a:t></a:t>
            </a:r>
            <a:r>
              <a:rPr sz="4000" spc="-6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Symbol"/>
                <a:cs typeface="Symbol"/>
              </a:rPr>
              <a:t></a:t>
            </a:r>
            <a:r>
              <a:rPr sz="4000" b="1" spc="-10" dirty="0">
                <a:latin typeface="Palatino Linotype"/>
                <a:cs typeface="Palatino Linotype"/>
              </a:rPr>
              <a:t>X(</a:t>
            </a:r>
            <a:r>
              <a:rPr sz="4000" spc="-10" dirty="0">
                <a:latin typeface="Symbol"/>
                <a:cs typeface="Symbol"/>
              </a:rPr>
              <a:t></a:t>
            </a:r>
            <a:r>
              <a:rPr sz="4000" b="1" spc="-10" dirty="0">
                <a:latin typeface="Palatino Linotype"/>
                <a:cs typeface="Palatino Linotype"/>
              </a:rPr>
              <a:t>Wff)</a:t>
            </a:r>
            <a:endParaRPr sz="4000">
              <a:latin typeface="Palatino Linotype"/>
              <a:cs typeface="Palatino Linotype"/>
            </a:endParaRPr>
          </a:p>
          <a:p>
            <a:pPr marL="927100">
              <a:lnSpc>
                <a:spcPct val="100000"/>
              </a:lnSpc>
            </a:pPr>
            <a:r>
              <a:rPr sz="4000" dirty="0">
                <a:latin typeface="Symbol"/>
                <a:cs typeface="Symbol"/>
              </a:rPr>
              <a:t></a:t>
            </a:r>
            <a:r>
              <a:rPr sz="4000" b="1" dirty="0">
                <a:latin typeface="Palatino Linotype"/>
                <a:cs typeface="Palatino Linotype"/>
              </a:rPr>
              <a:t>(</a:t>
            </a:r>
            <a:r>
              <a:rPr sz="4000" dirty="0">
                <a:latin typeface="Symbol"/>
                <a:cs typeface="Symbol"/>
              </a:rPr>
              <a:t></a:t>
            </a:r>
            <a:r>
              <a:rPr sz="4000" b="1" dirty="0">
                <a:latin typeface="Palatino Linotype"/>
                <a:cs typeface="Palatino Linotype"/>
              </a:rPr>
              <a:t>X</a:t>
            </a:r>
            <a:r>
              <a:rPr sz="4000" b="1" spc="-80" dirty="0">
                <a:latin typeface="Palatino Linotype"/>
                <a:cs typeface="Palatino Linotype"/>
              </a:rPr>
              <a:t> </a:t>
            </a:r>
            <a:r>
              <a:rPr sz="4000" b="1" dirty="0">
                <a:latin typeface="Palatino Linotype"/>
                <a:cs typeface="Palatino Linotype"/>
              </a:rPr>
              <a:t>Wff)</a:t>
            </a:r>
            <a:r>
              <a:rPr sz="4000" b="1" spc="-40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Wingdings"/>
                <a:cs typeface="Wingdings"/>
              </a:rPr>
              <a:t></a:t>
            </a:r>
            <a:r>
              <a:rPr sz="4000" spc="-5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Symbol"/>
                <a:cs typeface="Symbol"/>
              </a:rPr>
              <a:t></a:t>
            </a:r>
            <a:r>
              <a:rPr sz="4000" b="1" spc="-10" dirty="0">
                <a:latin typeface="Palatino Linotype"/>
                <a:cs typeface="Palatino Linotype"/>
              </a:rPr>
              <a:t>X(</a:t>
            </a:r>
            <a:r>
              <a:rPr sz="4000" spc="-10" dirty="0">
                <a:latin typeface="Symbol"/>
                <a:cs typeface="Symbol"/>
              </a:rPr>
              <a:t></a:t>
            </a:r>
            <a:r>
              <a:rPr sz="4000" b="1" spc="-10" dirty="0">
                <a:latin typeface="Palatino Linotype"/>
                <a:cs typeface="Palatino Linotype"/>
              </a:rPr>
              <a:t>Wff)</a:t>
            </a:r>
            <a:endParaRPr sz="40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279907"/>
            <a:ext cx="4785360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6450" algn="l"/>
              </a:tabLst>
            </a:pPr>
            <a:r>
              <a:rPr sz="5000" spc="-25" dirty="0">
                <a:solidFill>
                  <a:srgbClr val="455F51"/>
                </a:solidFill>
              </a:rPr>
              <a:t>Vị</a:t>
            </a:r>
            <a:r>
              <a:rPr sz="5000" dirty="0">
                <a:solidFill>
                  <a:srgbClr val="455F51"/>
                </a:solidFill>
              </a:rPr>
              <a:t>	từ</a:t>
            </a:r>
            <a:r>
              <a:rPr sz="5000" spc="-1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tương</a:t>
            </a:r>
            <a:r>
              <a:rPr sz="5000" spc="-5" dirty="0">
                <a:solidFill>
                  <a:srgbClr val="455F51"/>
                </a:solidFill>
              </a:rPr>
              <a:t> </a:t>
            </a:r>
            <a:r>
              <a:rPr sz="5000" spc="-10" dirty="0">
                <a:solidFill>
                  <a:srgbClr val="455F51"/>
                </a:solidFill>
              </a:rPr>
              <a:t>đương</a:t>
            </a:r>
            <a:endParaRPr sz="5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57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441718"/>
            <a:ext cx="7129145" cy="412178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870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b="1" dirty="0">
                <a:latin typeface="Palatino Linotype"/>
                <a:cs typeface="Palatino Linotype"/>
              </a:rPr>
              <a:t>Dạng</a:t>
            </a:r>
            <a:r>
              <a:rPr sz="3200" b="1" spc="-25" dirty="0">
                <a:latin typeface="Palatino Linotype"/>
                <a:cs typeface="Palatino Linotype"/>
              </a:rPr>
              <a:t> </a:t>
            </a:r>
            <a:r>
              <a:rPr sz="3200" b="1" spc="-10" dirty="0">
                <a:latin typeface="Palatino Linotype"/>
                <a:cs typeface="Palatino Linotype"/>
              </a:rPr>
              <a:t>tuyển:</a:t>
            </a:r>
            <a:endParaRPr sz="3200">
              <a:latin typeface="Palatino Linotype"/>
              <a:cs typeface="Palatino Linotype"/>
            </a:endParaRPr>
          </a:p>
          <a:p>
            <a:pPr marL="655320" lvl="1" indent="-254000">
              <a:lnSpc>
                <a:spcPct val="100000"/>
              </a:lnSpc>
              <a:spcBef>
                <a:spcPts val="950"/>
              </a:spcBef>
              <a:buClr>
                <a:srgbClr val="539E39"/>
              </a:buClr>
              <a:buSzPct val="82500"/>
              <a:buFont typeface="Wingdings"/>
              <a:buChar char=""/>
              <a:tabLst>
                <a:tab pos="655320" algn="l"/>
              </a:tabLst>
            </a:pPr>
            <a:r>
              <a:rPr sz="4000" dirty="0">
                <a:latin typeface="Palatino Linotype"/>
                <a:cs typeface="Palatino Linotype"/>
              </a:rPr>
              <a:t>C</a:t>
            </a:r>
            <a:r>
              <a:rPr sz="4000" spc="-70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Palatino Linotype"/>
                <a:cs typeface="Palatino Linotype"/>
              </a:rPr>
              <a:t>v</a:t>
            </a:r>
            <a:r>
              <a:rPr sz="4000" spc="-50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Symbol"/>
                <a:cs typeface="Symbol"/>
              </a:rPr>
              <a:t></a:t>
            </a:r>
            <a:r>
              <a:rPr sz="4000" dirty="0">
                <a:latin typeface="Palatino Linotype"/>
                <a:cs typeface="Palatino Linotype"/>
              </a:rPr>
              <a:t>XA(X)</a:t>
            </a:r>
            <a:r>
              <a:rPr sz="4000" spc="-45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Wingdings"/>
                <a:cs typeface="Wingdings"/>
              </a:rPr>
              <a:t>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Symbol"/>
                <a:cs typeface="Symbol"/>
              </a:rPr>
              <a:t></a:t>
            </a:r>
            <a:r>
              <a:rPr sz="4000" dirty="0">
                <a:latin typeface="Palatino Linotype"/>
                <a:cs typeface="Palatino Linotype"/>
              </a:rPr>
              <a:t>X(C</a:t>
            </a:r>
            <a:r>
              <a:rPr sz="4000" spc="-50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Palatino Linotype"/>
                <a:cs typeface="Palatino Linotype"/>
              </a:rPr>
              <a:t>v</a:t>
            </a:r>
            <a:r>
              <a:rPr sz="4000" spc="-200" dirty="0">
                <a:latin typeface="Palatino Linotype"/>
                <a:cs typeface="Palatino Linotype"/>
              </a:rPr>
              <a:t> </a:t>
            </a:r>
            <a:r>
              <a:rPr sz="4000" spc="-10" dirty="0">
                <a:latin typeface="Palatino Linotype"/>
                <a:cs typeface="Palatino Linotype"/>
              </a:rPr>
              <a:t>A(X))</a:t>
            </a:r>
            <a:endParaRPr sz="4000">
              <a:latin typeface="Palatino Linotype"/>
              <a:cs typeface="Palatino Linotype"/>
            </a:endParaRPr>
          </a:p>
          <a:p>
            <a:pPr marL="655320" lvl="1" indent="-254000">
              <a:lnSpc>
                <a:spcPct val="100000"/>
              </a:lnSpc>
              <a:spcBef>
                <a:spcPts val="965"/>
              </a:spcBef>
              <a:buClr>
                <a:srgbClr val="539E39"/>
              </a:buClr>
              <a:buSzPct val="82500"/>
              <a:buFont typeface="Wingdings"/>
              <a:buChar char=""/>
              <a:tabLst>
                <a:tab pos="655320" algn="l"/>
              </a:tabLst>
            </a:pPr>
            <a:r>
              <a:rPr sz="4000" dirty="0">
                <a:latin typeface="Palatino Linotype"/>
                <a:cs typeface="Palatino Linotype"/>
              </a:rPr>
              <a:t>C</a:t>
            </a:r>
            <a:r>
              <a:rPr sz="4000" spc="-65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Palatino Linotype"/>
                <a:cs typeface="Palatino Linotype"/>
              </a:rPr>
              <a:t>v</a:t>
            </a:r>
            <a:r>
              <a:rPr sz="4000" spc="-50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Symbol"/>
                <a:cs typeface="Symbol"/>
              </a:rPr>
              <a:t></a:t>
            </a:r>
            <a:r>
              <a:rPr sz="4000" dirty="0">
                <a:latin typeface="Palatino Linotype"/>
                <a:cs typeface="Palatino Linotype"/>
              </a:rPr>
              <a:t>XA(X)</a:t>
            </a:r>
            <a:r>
              <a:rPr sz="4000" spc="-45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Wingdings"/>
                <a:cs typeface="Wingdings"/>
              </a:rPr>
              <a:t></a:t>
            </a:r>
            <a:r>
              <a:rPr sz="4000" spc="-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Symbol"/>
                <a:cs typeface="Symbol"/>
              </a:rPr>
              <a:t></a:t>
            </a:r>
            <a:r>
              <a:rPr sz="4000" dirty="0">
                <a:latin typeface="Palatino Linotype"/>
                <a:cs typeface="Palatino Linotype"/>
              </a:rPr>
              <a:t>X(C</a:t>
            </a:r>
            <a:r>
              <a:rPr sz="4000" spc="-60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Palatino Linotype"/>
                <a:cs typeface="Palatino Linotype"/>
              </a:rPr>
              <a:t>v</a:t>
            </a:r>
            <a:r>
              <a:rPr sz="4000" spc="-180" dirty="0">
                <a:latin typeface="Palatino Linotype"/>
                <a:cs typeface="Palatino Linotype"/>
              </a:rPr>
              <a:t> </a:t>
            </a:r>
            <a:r>
              <a:rPr sz="4000" spc="-10" dirty="0">
                <a:latin typeface="Palatino Linotype"/>
                <a:cs typeface="Palatino Linotype"/>
              </a:rPr>
              <a:t>A(X))</a:t>
            </a:r>
            <a:endParaRPr sz="40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775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b="1" dirty="0">
                <a:latin typeface="Palatino Linotype"/>
                <a:cs typeface="Palatino Linotype"/>
              </a:rPr>
              <a:t>Dạng</a:t>
            </a:r>
            <a:r>
              <a:rPr sz="3200" b="1" spc="-25" dirty="0">
                <a:latin typeface="Palatino Linotype"/>
                <a:cs typeface="Palatino Linotype"/>
              </a:rPr>
              <a:t> </a:t>
            </a:r>
            <a:r>
              <a:rPr sz="3200" b="1" spc="-20" dirty="0">
                <a:latin typeface="Palatino Linotype"/>
                <a:cs typeface="Palatino Linotype"/>
              </a:rPr>
              <a:t>hội:</a:t>
            </a:r>
            <a:endParaRPr sz="3200">
              <a:latin typeface="Palatino Linotype"/>
              <a:cs typeface="Palatino Linotype"/>
            </a:endParaRPr>
          </a:p>
          <a:p>
            <a:pPr marL="655320" lvl="1" indent="-254000">
              <a:lnSpc>
                <a:spcPct val="100000"/>
              </a:lnSpc>
              <a:spcBef>
                <a:spcPts val="950"/>
              </a:spcBef>
              <a:buClr>
                <a:srgbClr val="539E39"/>
              </a:buClr>
              <a:buSzPct val="82500"/>
              <a:buFont typeface="Wingdings"/>
              <a:buChar char=""/>
              <a:tabLst>
                <a:tab pos="655320" algn="l"/>
              </a:tabLst>
            </a:pPr>
            <a:r>
              <a:rPr sz="4000" dirty="0">
                <a:latin typeface="Palatino Linotype"/>
                <a:cs typeface="Palatino Linotype"/>
              </a:rPr>
              <a:t>C</a:t>
            </a:r>
            <a:r>
              <a:rPr sz="4000" spc="-55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Palatino Linotype"/>
                <a:cs typeface="Palatino Linotype"/>
              </a:rPr>
              <a:t>^</a:t>
            </a:r>
            <a:r>
              <a:rPr sz="4000" spc="-40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Symbol"/>
                <a:cs typeface="Symbol"/>
              </a:rPr>
              <a:t></a:t>
            </a:r>
            <a:r>
              <a:rPr sz="4000" dirty="0">
                <a:latin typeface="Palatino Linotype"/>
                <a:cs typeface="Palatino Linotype"/>
              </a:rPr>
              <a:t>XA(X)</a:t>
            </a:r>
            <a:r>
              <a:rPr sz="4000" spc="-30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Wingdings"/>
                <a:cs typeface="Wingdings"/>
              </a:rPr>
              <a:t></a:t>
            </a:r>
            <a:r>
              <a:rPr sz="4000" spc="-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Symbol"/>
                <a:cs typeface="Symbol"/>
              </a:rPr>
              <a:t></a:t>
            </a:r>
            <a:r>
              <a:rPr sz="4000" dirty="0">
                <a:latin typeface="Palatino Linotype"/>
                <a:cs typeface="Palatino Linotype"/>
              </a:rPr>
              <a:t>X(C</a:t>
            </a:r>
            <a:r>
              <a:rPr sz="4000" spc="-35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Palatino Linotype"/>
                <a:cs typeface="Palatino Linotype"/>
              </a:rPr>
              <a:t>^</a:t>
            </a:r>
            <a:r>
              <a:rPr sz="4000" spc="-185" dirty="0">
                <a:latin typeface="Palatino Linotype"/>
                <a:cs typeface="Palatino Linotype"/>
              </a:rPr>
              <a:t> </a:t>
            </a:r>
            <a:r>
              <a:rPr sz="4000" spc="-10" dirty="0">
                <a:latin typeface="Palatino Linotype"/>
                <a:cs typeface="Palatino Linotype"/>
              </a:rPr>
              <a:t>A(X))</a:t>
            </a:r>
            <a:endParaRPr sz="4000">
              <a:latin typeface="Palatino Linotype"/>
              <a:cs typeface="Palatino Linotype"/>
            </a:endParaRPr>
          </a:p>
          <a:p>
            <a:pPr marL="655320" lvl="1" indent="-254000">
              <a:lnSpc>
                <a:spcPct val="100000"/>
              </a:lnSpc>
              <a:spcBef>
                <a:spcPts val="965"/>
              </a:spcBef>
              <a:buClr>
                <a:srgbClr val="539E39"/>
              </a:buClr>
              <a:buSzPct val="82500"/>
              <a:buFont typeface="Wingdings"/>
              <a:buChar char=""/>
              <a:tabLst>
                <a:tab pos="655320" algn="l"/>
              </a:tabLst>
            </a:pPr>
            <a:r>
              <a:rPr sz="4000" dirty="0">
                <a:latin typeface="Palatino Linotype"/>
                <a:cs typeface="Palatino Linotype"/>
              </a:rPr>
              <a:t>C</a:t>
            </a:r>
            <a:r>
              <a:rPr sz="4000" spc="-65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Palatino Linotype"/>
                <a:cs typeface="Palatino Linotype"/>
              </a:rPr>
              <a:t>^</a:t>
            </a:r>
            <a:r>
              <a:rPr sz="4000" spc="-50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Symbol"/>
                <a:cs typeface="Symbol"/>
              </a:rPr>
              <a:t></a:t>
            </a:r>
            <a:r>
              <a:rPr sz="4000" dirty="0">
                <a:latin typeface="Palatino Linotype"/>
                <a:cs typeface="Palatino Linotype"/>
              </a:rPr>
              <a:t>XA(X)</a:t>
            </a:r>
            <a:r>
              <a:rPr sz="4000" spc="-40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Wingdings"/>
                <a:cs typeface="Wingdings"/>
              </a:rPr>
              <a:t></a:t>
            </a:r>
            <a:r>
              <a:rPr sz="4000" spc="-6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Symbol"/>
                <a:cs typeface="Symbol"/>
              </a:rPr>
              <a:t></a:t>
            </a:r>
            <a:r>
              <a:rPr sz="4000" dirty="0">
                <a:latin typeface="Palatino Linotype"/>
                <a:cs typeface="Palatino Linotype"/>
              </a:rPr>
              <a:t>X(C</a:t>
            </a:r>
            <a:r>
              <a:rPr sz="4000" spc="-65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Palatino Linotype"/>
                <a:cs typeface="Palatino Linotype"/>
              </a:rPr>
              <a:t>^</a:t>
            </a:r>
            <a:r>
              <a:rPr sz="4000" spc="-190" dirty="0">
                <a:latin typeface="Palatino Linotype"/>
                <a:cs typeface="Palatino Linotype"/>
              </a:rPr>
              <a:t> </a:t>
            </a:r>
            <a:r>
              <a:rPr sz="4000" spc="-10" dirty="0">
                <a:latin typeface="Palatino Linotype"/>
                <a:cs typeface="Palatino Linotype"/>
              </a:rPr>
              <a:t>A(X))</a:t>
            </a:r>
            <a:endParaRPr sz="40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495045"/>
            <a:ext cx="4785360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06450" algn="l"/>
              </a:tabLst>
            </a:pPr>
            <a:r>
              <a:rPr sz="5000" spc="-25" dirty="0">
                <a:solidFill>
                  <a:srgbClr val="455F51"/>
                </a:solidFill>
              </a:rPr>
              <a:t>Vị</a:t>
            </a:r>
            <a:r>
              <a:rPr sz="5000" dirty="0">
                <a:solidFill>
                  <a:srgbClr val="455F51"/>
                </a:solidFill>
              </a:rPr>
              <a:t>	từ</a:t>
            </a:r>
            <a:r>
              <a:rPr sz="5000" spc="-1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tương</a:t>
            </a:r>
            <a:r>
              <a:rPr sz="5000" spc="-5" dirty="0">
                <a:solidFill>
                  <a:srgbClr val="455F51"/>
                </a:solidFill>
              </a:rPr>
              <a:t> </a:t>
            </a:r>
            <a:r>
              <a:rPr sz="5000" spc="-10" dirty="0">
                <a:solidFill>
                  <a:srgbClr val="455F51"/>
                </a:solidFill>
              </a:rPr>
              <a:t>đương</a:t>
            </a:r>
            <a:endParaRPr sz="5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58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824354"/>
            <a:ext cx="6894830" cy="332676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0"/>
              </a:spcBef>
              <a:buClr>
                <a:srgbClr val="C0CF3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3600" dirty="0">
                <a:latin typeface="Palatino Linotype"/>
                <a:cs typeface="Palatino Linotype"/>
              </a:rPr>
              <a:t>Dạng</a:t>
            </a:r>
            <a:r>
              <a:rPr sz="3600" spc="-6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kéo</a:t>
            </a:r>
            <a:r>
              <a:rPr sz="3600" spc="-7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theo</a:t>
            </a:r>
            <a:r>
              <a:rPr sz="3600" spc="-6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(suy</a:t>
            </a:r>
            <a:r>
              <a:rPr sz="3600" spc="-65" dirty="0">
                <a:latin typeface="Palatino Linotype"/>
                <a:cs typeface="Palatino Linotype"/>
              </a:rPr>
              <a:t> </a:t>
            </a:r>
            <a:r>
              <a:rPr sz="3600" spc="-20" dirty="0">
                <a:latin typeface="Palatino Linotype"/>
                <a:cs typeface="Palatino Linotype"/>
              </a:rPr>
              <a:t>ra):</a:t>
            </a:r>
            <a:endParaRPr sz="3600">
              <a:latin typeface="Palatino Linotype"/>
              <a:cs typeface="Palatino Linotype"/>
            </a:endParaRPr>
          </a:p>
          <a:p>
            <a:pPr marL="652145" lvl="1" indent="-246379">
              <a:lnSpc>
                <a:spcPct val="100000"/>
              </a:lnSpc>
              <a:spcBef>
                <a:spcPts val="900"/>
              </a:spcBef>
              <a:buClr>
                <a:srgbClr val="539E39"/>
              </a:buClr>
              <a:buSzPct val="84722"/>
              <a:buFont typeface="Wingdings"/>
              <a:buChar char=""/>
              <a:tabLst>
                <a:tab pos="652145" algn="l"/>
              </a:tabLst>
            </a:pPr>
            <a:r>
              <a:rPr sz="3600" dirty="0">
                <a:latin typeface="Palatino Linotype"/>
                <a:cs typeface="Palatino Linotype"/>
              </a:rPr>
              <a:t>C =&gt;</a:t>
            </a:r>
            <a:r>
              <a:rPr sz="3600" spc="-1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Symbol"/>
                <a:cs typeface="Symbol"/>
              </a:rPr>
              <a:t></a:t>
            </a:r>
            <a:r>
              <a:rPr sz="3600" dirty="0">
                <a:latin typeface="Palatino Linotype"/>
                <a:cs typeface="Palatino Linotype"/>
              </a:rPr>
              <a:t>XA(X)</a:t>
            </a:r>
            <a:r>
              <a:rPr sz="3600" spc="-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Wingdings"/>
                <a:cs typeface="Wingdings"/>
              </a:rPr>
              <a:t>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Symbol"/>
                <a:cs typeface="Symbol"/>
              </a:rPr>
              <a:t></a:t>
            </a:r>
            <a:r>
              <a:rPr sz="3600" dirty="0">
                <a:latin typeface="Palatino Linotype"/>
                <a:cs typeface="Palatino Linotype"/>
              </a:rPr>
              <a:t>X(C =&gt;</a:t>
            </a:r>
            <a:r>
              <a:rPr sz="3600" spc="-145" dirty="0">
                <a:latin typeface="Palatino Linotype"/>
                <a:cs typeface="Palatino Linotype"/>
              </a:rPr>
              <a:t> </a:t>
            </a:r>
            <a:r>
              <a:rPr sz="3600" spc="-10" dirty="0">
                <a:latin typeface="Palatino Linotype"/>
                <a:cs typeface="Palatino Linotype"/>
              </a:rPr>
              <a:t>A(X))</a:t>
            </a:r>
            <a:endParaRPr sz="3600">
              <a:latin typeface="Palatino Linotype"/>
              <a:cs typeface="Palatino Linotype"/>
            </a:endParaRPr>
          </a:p>
          <a:p>
            <a:pPr marL="652145" lvl="1" indent="-246379">
              <a:lnSpc>
                <a:spcPct val="100000"/>
              </a:lnSpc>
              <a:spcBef>
                <a:spcPts val="865"/>
              </a:spcBef>
              <a:buClr>
                <a:srgbClr val="539E39"/>
              </a:buClr>
              <a:buSzPct val="84722"/>
              <a:buFont typeface="Wingdings"/>
              <a:buChar char=""/>
              <a:tabLst>
                <a:tab pos="652145" algn="l"/>
              </a:tabLst>
            </a:pPr>
            <a:r>
              <a:rPr sz="3600" dirty="0">
                <a:latin typeface="Palatino Linotype"/>
                <a:cs typeface="Palatino Linotype"/>
              </a:rPr>
              <a:t>C</a:t>
            </a:r>
            <a:r>
              <a:rPr sz="3600" spc="-1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=&gt;</a:t>
            </a:r>
            <a:r>
              <a:rPr sz="3600" spc="-1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Symbol"/>
                <a:cs typeface="Symbol"/>
              </a:rPr>
              <a:t></a:t>
            </a:r>
            <a:r>
              <a:rPr sz="3600" dirty="0">
                <a:latin typeface="Palatino Linotype"/>
                <a:cs typeface="Palatino Linotype"/>
              </a:rPr>
              <a:t>XA(X)</a:t>
            </a:r>
            <a:r>
              <a:rPr sz="3600" spc="-1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Wingdings"/>
                <a:cs typeface="Wingdings"/>
              </a:rPr>
              <a:t>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Symbol"/>
                <a:cs typeface="Symbol"/>
              </a:rPr>
              <a:t></a:t>
            </a:r>
            <a:r>
              <a:rPr sz="3600" dirty="0">
                <a:latin typeface="Palatino Linotype"/>
                <a:cs typeface="Palatino Linotype"/>
              </a:rPr>
              <a:t>X(C</a:t>
            </a:r>
            <a:r>
              <a:rPr sz="3600" spc="-2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=&gt;</a:t>
            </a:r>
            <a:r>
              <a:rPr sz="3600" spc="-140" dirty="0">
                <a:latin typeface="Palatino Linotype"/>
                <a:cs typeface="Palatino Linotype"/>
              </a:rPr>
              <a:t> </a:t>
            </a:r>
            <a:r>
              <a:rPr sz="3600" spc="-10" dirty="0">
                <a:latin typeface="Palatino Linotype"/>
                <a:cs typeface="Palatino Linotype"/>
              </a:rPr>
              <a:t>A(X))</a:t>
            </a:r>
            <a:endParaRPr sz="3600">
              <a:latin typeface="Palatino Linotype"/>
              <a:cs typeface="Palatino Linotype"/>
            </a:endParaRPr>
          </a:p>
          <a:p>
            <a:pPr marL="652145" lvl="1" indent="-246379">
              <a:lnSpc>
                <a:spcPct val="100000"/>
              </a:lnSpc>
              <a:spcBef>
                <a:spcPts val="865"/>
              </a:spcBef>
              <a:buClr>
                <a:srgbClr val="539E39"/>
              </a:buClr>
              <a:buSzPct val="84722"/>
              <a:buFont typeface="Wingdings"/>
              <a:buChar char=""/>
              <a:tabLst>
                <a:tab pos="652145" algn="l"/>
              </a:tabLst>
            </a:pPr>
            <a:r>
              <a:rPr sz="3600" dirty="0">
                <a:latin typeface="Symbol"/>
                <a:cs typeface="Symbol"/>
              </a:rPr>
              <a:t></a:t>
            </a:r>
            <a:r>
              <a:rPr sz="3600" dirty="0">
                <a:latin typeface="Palatino Linotype"/>
                <a:cs typeface="Palatino Linotype"/>
              </a:rPr>
              <a:t>XA(X)</a:t>
            </a:r>
            <a:r>
              <a:rPr sz="3600" spc="-2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=&gt;</a:t>
            </a:r>
            <a:r>
              <a:rPr sz="3600" spc="-2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C</a:t>
            </a:r>
            <a:r>
              <a:rPr sz="3600" spc="-3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Wingdings"/>
                <a:cs typeface="Wingdings"/>
              </a:rPr>
              <a:t></a:t>
            </a:r>
            <a:r>
              <a:rPr sz="3600" spc="-3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Symbol"/>
                <a:cs typeface="Symbol"/>
              </a:rPr>
              <a:t></a:t>
            </a:r>
            <a:r>
              <a:rPr sz="3600" dirty="0">
                <a:latin typeface="Palatino Linotype"/>
                <a:cs typeface="Palatino Linotype"/>
              </a:rPr>
              <a:t>X(A(X)</a:t>
            </a:r>
            <a:r>
              <a:rPr sz="3600" spc="-3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=&gt;</a:t>
            </a:r>
            <a:r>
              <a:rPr sz="3600" spc="-35" dirty="0">
                <a:latin typeface="Palatino Linotype"/>
                <a:cs typeface="Palatino Linotype"/>
              </a:rPr>
              <a:t> </a:t>
            </a:r>
            <a:r>
              <a:rPr sz="3600" spc="-25" dirty="0">
                <a:latin typeface="Palatino Linotype"/>
                <a:cs typeface="Palatino Linotype"/>
              </a:rPr>
              <a:t>C)</a:t>
            </a:r>
            <a:endParaRPr sz="3600">
              <a:latin typeface="Palatino Linotype"/>
              <a:cs typeface="Palatino Linotype"/>
            </a:endParaRPr>
          </a:p>
          <a:p>
            <a:pPr marL="652145" lvl="1" indent="-246379">
              <a:lnSpc>
                <a:spcPct val="100000"/>
              </a:lnSpc>
              <a:spcBef>
                <a:spcPts val="865"/>
              </a:spcBef>
              <a:buClr>
                <a:srgbClr val="539E39"/>
              </a:buClr>
              <a:buSzPct val="84722"/>
              <a:buFont typeface="Wingdings"/>
              <a:buChar char=""/>
              <a:tabLst>
                <a:tab pos="652145" algn="l"/>
              </a:tabLst>
            </a:pPr>
            <a:r>
              <a:rPr sz="3600" dirty="0">
                <a:latin typeface="Symbol"/>
                <a:cs typeface="Symbol"/>
              </a:rPr>
              <a:t></a:t>
            </a:r>
            <a:r>
              <a:rPr sz="3600" dirty="0">
                <a:latin typeface="Palatino Linotype"/>
                <a:cs typeface="Palatino Linotype"/>
              </a:rPr>
              <a:t>XA(X)</a:t>
            </a:r>
            <a:r>
              <a:rPr sz="3600" spc="-1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=&gt;</a:t>
            </a:r>
            <a:r>
              <a:rPr sz="3600" spc="-1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C</a:t>
            </a:r>
            <a:r>
              <a:rPr sz="3600" spc="-2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Wingdings"/>
                <a:cs typeface="Wingdings"/>
              </a:rPr>
              <a:t>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Symbol"/>
                <a:cs typeface="Symbol"/>
              </a:rPr>
              <a:t></a:t>
            </a:r>
            <a:r>
              <a:rPr sz="3600" dirty="0">
                <a:latin typeface="Palatino Linotype"/>
                <a:cs typeface="Palatino Linotype"/>
              </a:rPr>
              <a:t>X(A(X)</a:t>
            </a:r>
            <a:r>
              <a:rPr sz="3600" spc="-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=&gt;</a:t>
            </a:r>
            <a:r>
              <a:rPr sz="3600" spc="-10" dirty="0">
                <a:latin typeface="Palatino Linotype"/>
                <a:cs typeface="Palatino Linotype"/>
              </a:rPr>
              <a:t> </a:t>
            </a:r>
            <a:r>
              <a:rPr sz="3600" spc="-25" dirty="0">
                <a:latin typeface="Palatino Linotype"/>
                <a:cs typeface="Palatino Linotype"/>
              </a:rPr>
              <a:t>C)</a:t>
            </a:r>
            <a:endParaRPr sz="36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938654"/>
            <a:ext cx="10815955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715" indent="-274320" algn="just">
              <a:lnSpc>
                <a:spcPct val="100000"/>
              </a:lnSpc>
              <a:spcBef>
                <a:spcPts val="100"/>
              </a:spcBef>
              <a:buClr>
                <a:srgbClr val="C0CF3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3600" dirty="0">
                <a:latin typeface="Palatino Linotype"/>
                <a:cs typeface="Palatino Linotype"/>
              </a:rPr>
              <a:t>Luật</a:t>
            </a:r>
            <a:r>
              <a:rPr sz="3600" spc="229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suy</a:t>
            </a:r>
            <a:r>
              <a:rPr sz="3600" spc="24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diễn</a:t>
            </a:r>
            <a:r>
              <a:rPr sz="3600" spc="23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được</a:t>
            </a:r>
            <a:r>
              <a:rPr sz="3600" spc="22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áp</a:t>
            </a:r>
            <a:r>
              <a:rPr sz="3600" spc="229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dụng</a:t>
            </a:r>
            <a:r>
              <a:rPr sz="3600" spc="23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để</a:t>
            </a:r>
            <a:r>
              <a:rPr sz="3600" spc="23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phát</a:t>
            </a:r>
            <a:r>
              <a:rPr sz="3600" spc="24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triển</a:t>
            </a:r>
            <a:r>
              <a:rPr sz="3600" spc="24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các</a:t>
            </a:r>
            <a:r>
              <a:rPr sz="3600" spc="229" dirty="0">
                <a:latin typeface="Palatino Linotype"/>
                <a:cs typeface="Palatino Linotype"/>
              </a:rPr>
              <a:t> </a:t>
            </a:r>
            <a:r>
              <a:rPr sz="3600" spc="-25" dirty="0">
                <a:latin typeface="Palatino Linotype"/>
                <a:cs typeface="Palatino Linotype"/>
              </a:rPr>
              <a:t>ứng </a:t>
            </a:r>
            <a:r>
              <a:rPr sz="3600" dirty="0">
                <a:latin typeface="Palatino Linotype"/>
                <a:cs typeface="Palatino Linotype"/>
              </a:rPr>
              <a:t>dụng</a:t>
            </a:r>
            <a:r>
              <a:rPr sz="3600" spc="-6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có</a:t>
            </a:r>
            <a:r>
              <a:rPr sz="3600" spc="-6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khả</a:t>
            </a:r>
            <a:r>
              <a:rPr sz="3600" spc="-6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năng</a:t>
            </a:r>
            <a:r>
              <a:rPr sz="3600" spc="-6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suy</a:t>
            </a:r>
            <a:r>
              <a:rPr sz="3600" spc="-65" dirty="0">
                <a:latin typeface="Palatino Linotype"/>
                <a:cs typeface="Palatino Linotype"/>
              </a:rPr>
              <a:t> </a:t>
            </a:r>
            <a:r>
              <a:rPr sz="3600" spc="-20" dirty="0">
                <a:latin typeface="Palatino Linotype"/>
                <a:cs typeface="Palatino Linotype"/>
              </a:rPr>
              <a:t>luận</a:t>
            </a:r>
            <a:endParaRPr sz="3600">
              <a:latin typeface="Palatino Linotype"/>
              <a:cs typeface="Palatino Linotype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2160"/>
              </a:spcBef>
              <a:buClr>
                <a:srgbClr val="C0CF3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3600" dirty="0">
                <a:latin typeface="Palatino Linotype"/>
                <a:cs typeface="Palatino Linotype"/>
              </a:rPr>
              <a:t>Suy</a:t>
            </a:r>
            <a:r>
              <a:rPr sz="3600" spc="5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luận</a:t>
            </a:r>
            <a:r>
              <a:rPr sz="3600" spc="6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là</a:t>
            </a:r>
            <a:r>
              <a:rPr sz="3600" spc="5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hoạt</a:t>
            </a:r>
            <a:r>
              <a:rPr sz="3600" spc="6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động</a:t>
            </a:r>
            <a:r>
              <a:rPr sz="3600" spc="4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thường</a:t>
            </a:r>
            <a:r>
              <a:rPr sz="3600" spc="5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xuyên</a:t>
            </a:r>
            <a:r>
              <a:rPr sz="3600" spc="5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của</a:t>
            </a:r>
            <a:r>
              <a:rPr sz="3600" spc="5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con</a:t>
            </a:r>
            <a:r>
              <a:rPr sz="3600" spc="70" dirty="0">
                <a:latin typeface="Palatino Linotype"/>
                <a:cs typeface="Palatino Linotype"/>
              </a:rPr>
              <a:t> </a:t>
            </a:r>
            <a:r>
              <a:rPr sz="3600" spc="-10" dirty="0">
                <a:latin typeface="Palatino Linotype"/>
                <a:cs typeface="Palatino Linotype"/>
              </a:rPr>
              <a:t>người </a:t>
            </a:r>
            <a:r>
              <a:rPr sz="3600" dirty="0">
                <a:latin typeface="Palatino Linotype"/>
                <a:cs typeface="Palatino Linotype"/>
              </a:rPr>
              <a:t>để</a:t>
            </a:r>
            <a:r>
              <a:rPr sz="3600" spc="44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hiểu</a:t>
            </a:r>
            <a:r>
              <a:rPr sz="3600" spc="44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các</a:t>
            </a:r>
            <a:r>
              <a:rPr sz="3600" spc="45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lý</a:t>
            </a:r>
            <a:r>
              <a:rPr sz="3600" spc="434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lẽ,</a:t>
            </a:r>
            <a:r>
              <a:rPr sz="3600" spc="44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kiểm</a:t>
            </a:r>
            <a:r>
              <a:rPr sz="3600" spc="44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chứng,</a:t>
            </a:r>
            <a:r>
              <a:rPr sz="3600" spc="44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phán</a:t>
            </a:r>
            <a:r>
              <a:rPr sz="3600" spc="44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đoán</a:t>
            </a:r>
            <a:r>
              <a:rPr sz="3600" spc="445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các</a:t>
            </a:r>
            <a:r>
              <a:rPr sz="3600" spc="445" dirty="0">
                <a:latin typeface="Palatino Linotype"/>
                <a:cs typeface="Palatino Linotype"/>
              </a:rPr>
              <a:t> </a:t>
            </a:r>
            <a:r>
              <a:rPr sz="3600" spc="-25" dirty="0">
                <a:latin typeface="Palatino Linotype"/>
                <a:cs typeface="Palatino Linotype"/>
              </a:rPr>
              <a:t>vấn đề.</a:t>
            </a:r>
            <a:endParaRPr sz="36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8486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0"/>
              </a:spcBef>
            </a:pPr>
            <a:r>
              <a:rPr sz="5000" dirty="0">
                <a:solidFill>
                  <a:srgbClr val="455F51"/>
                </a:solidFill>
              </a:rPr>
              <a:t>Luật</a:t>
            </a:r>
            <a:r>
              <a:rPr sz="5000" spc="-1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suy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spc="-20" dirty="0">
                <a:solidFill>
                  <a:srgbClr val="455F51"/>
                </a:solidFill>
              </a:rPr>
              <a:t>diễn</a:t>
            </a:r>
            <a:endParaRPr sz="5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59</a:t>
            </a:fld>
            <a:endParaRPr spc="-25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2994786"/>
            <a:ext cx="3964304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95"/>
              </a:spcBef>
              <a:buClr>
                <a:srgbClr val="C0CF39"/>
              </a:buClr>
              <a:buSzPct val="94000"/>
              <a:buFont typeface="Wingdings 2"/>
              <a:buChar char=""/>
              <a:tabLst>
                <a:tab pos="286385" algn="l"/>
              </a:tabLst>
            </a:pPr>
            <a:r>
              <a:rPr sz="2500" dirty="0">
                <a:latin typeface="Palatino Linotype"/>
                <a:cs typeface="Palatino Linotype"/>
              </a:rPr>
              <a:t>Luật</a:t>
            </a:r>
            <a:r>
              <a:rPr sz="2500" spc="-75" dirty="0">
                <a:latin typeface="Palatino Linotype"/>
                <a:cs typeface="Palatino Linotype"/>
              </a:rPr>
              <a:t> </a:t>
            </a:r>
            <a:r>
              <a:rPr sz="2500" dirty="0">
                <a:latin typeface="Palatino Linotype"/>
                <a:cs typeface="Palatino Linotype"/>
              </a:rPr>
              <a:t>Modus</a:t>
            </a:r>
            <a:r>
              <a:rPr sz="2500" spc="-70" dirty="0">
                <a:latin typeface="Palatino Linotype"/>
                <a:cs typeface="Palatino Linotype"/>
              </a:rPr>
              <a:t> </a:t>
            </a:r>
            <a:r>
              <a:rPr sz="2500" spc="-20" dirty="0">
                <a:latin typeface="Palatino Linotype"/>
                <a:cs typeface="Palatino Linotype"/>
              </a:rPr>
              <a:t>Tollens</a:t>
            </a:r>
            <a:r>
              <a:rPr sz="2500" spc="-75" dirty="0">
                <a:latin typeface="Palatino Linotype"/>
                <a:cs typeface="Palatino Linotype"/>
              </a:rPr>
              <a:t> </a:t>
            </a:r>
            <a:r>
              <a:rPr sz="2500" spc="-10" dirty="0">
                <a:latin typeface="Palatino Linotype"/>
                <a:cs typeface="Palatino Linotype"/>
              </a:rPr>
              <a:t>(MT):</a:t>
            </a:r>
            <a:endParaRPr sz="25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851101"/>
            <a:ext cx="5725160" cy="2312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95"/>
              </a:spcBef>
              <a:buClr>
                <a:srgbClr val="C0CF39"/>
              </a:buClr>
              <a:buSzPct val="94000"/>
              <a:buFont typeface="Wingdings 2"/>
              <a:buChar char=""/>
              <a:tabLst>
                <a:tab pos="286385" algn="l"/>
                <a:tab pos="4584700" algn="l"/>
              </a:tabLst>
            </a:pPr>
            <a:r>
              <a:rPr sz="2500" dirty="0">
                <a:latin typeface="Palatino Linotype"/>
                <a:cs typeface="Palatino Linotype"/>
              </a:rPr>
              <a:t>Luật</a:t>
            </a:r>
            <a:r>
              <a:rPr sz="2500" spc="-75" dirty="0">
                <a:latin typeface="Palatino Linotype"/>
                <a:cs typeface="Palatino Linotype"/>
              </a:rPr>
              <a:t> </a:t>
            </a:r>
            <a:r>
              <a:rPr sz="2500" dirty="0">
                <a:latin typeface="Palatino Linotype"/>
                <a:cs typeface="Palatino Linotype"/>
              </a:rPr>
              <a:t>Modus</a:t>
            </a:r>
            <a:r>
              <a:rPr sz="2500" spc="-80" dirty="0">
                <a:latin typeface="Palatino Linotype"/>
                <a:cs typeface="Palatino Linotype"/>
              </a:rPr>
              <a:t> </a:t>
            </a:r>
            <a:r>
              <a:rPr sz="2500" dirty="0">
                <a:latin typeface="Palatino Linotype"/>
                <a:cs typeface="Palatino Linotype"/>
              </a:rPr>
              <a:t>Ponens</a:t>
            </a:r>
            <a:r>
              <a:rPr sz="2500" spc="-75" dirty="0">
                <a:latin typeface="Palatino Linotype"/>
                <a:cs typeface="Palatino Linotype"/>
              </a:rPr>
              <a:t> </a:t>
            </a:r>
            <a:r>
              <a:rPr sz="2500" spc="-10" dirty="0">
                <a:latin typeface="Palatino Linotype"/>
                <a:cs typeface="Palatino Linotype"/>
              </a:rPr>
              <a:t>(MP):</a:t>
            </a:r>
            <a:r>
              <a:rPr sz="2500" dirty="0">
                <a:latin typeface="Palatino Linotype"/>
                <a:cs typeface="Palatino Linotype"/>
              </a:rPr>
              <a:t>	P</a:t>
            </a:r>
            <a:r>
              <a:rPr sz="2500" spc="-60" dirty="0">
                <a:latin typeface="Palatino Linotype"/>
                <a:cs typeface="Palatino Linotype"/>
              </a:rPr>
              <a:t> </a:t>
            </a:r>
            <a:r>
              <a:rPr sz="2500" dirty="0">
                <a:latin typeface="Symbol"/>
                <a:cs typeface="Symbol"/>
              </a:rPr>
              <a:t>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Palatino Linotype"/>
                <a:cs typeface="Palatino Linotype"/>
              </a:rPr>
              <a:t>Q</a:t>
            </a:r>
            <a:endParaRPr sz="2500">
              <a:latin typeface="Palatino Linotype"/>
              <a:cs typeface="Palatino Linotype"/>
            </a:endParaRPr>
          </a:p>
          <a:p>
            <a:pPr marL="4585335" marR="5080" indent="-150495">
              <a:lnSpc>
                <a:spcPct val="100000"/>
              </a:lnSpc>
              <a:spcBef>
                <a:spcPts val="5"/>
              </a:spcBef>
              <a:tabLst>
                <a:tab pos="5711825" algn="l"/>
              </a:tabLst>
            </a:pPr>
            <a:r>
              <a:rPr sz="2500" u="sng" spc="550" dirty="0">
                <a:uFill>
                  <a:solidFill>
                    <a:srgbClr val="539E39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2500" u="sng" spc="-50" dirty="0">
                <a:uFill>
                  <a:solidFill>
                    <a:srgbClr val="539E39"/>
                  </a:solidFill>
                </a:uFill>
                <a:latin typeface="Palatino Linotype"/>
                <a:cs typeface="Palatino Linotype"/>
              </a:rPr>
              <a:t>P</a:t>
            </a:r>
            <a:r>
              <a:rPr sz="2500" u="sng" dirty="0">
                <a:uFill>
                  <a:solidFill>
                    <a:srgbClr val="539E39"/>
                  </a:solidFill>
                </a:uFill>
                <a:latin typeface="Palatino Linotype"/>
                <a:cs typeface="Palatino Linotype"/>
              </a:rPr>
              <a:t>	</a:t>
            </a:r>
            <a:r>
              <a:rPr sz="2500" dirty="0">
                <a:latin typeface="Palatino Linotype"/>
                <a:cs typeface="Palatino Linotype"/>
              </a:rPr>
              <a:t> </a:t>
            </a:r>
            <a:r>
              <a:rPr sz="2500" spc="-50" dirty="0">
                <a:latin typeface="Palatino Linotype"/>
                <a:cs typeface="Palatino Linotype"/>
              </a:rPr>
              <a:t>Q</a:t>
            </a:r>
            <a:endParaRPr sz="2500">
              <a:latin typeface="Palatino Linotype"/>
              <a:cs typeface="Palatino Linotype"/>
            </a:endParaRPr>
          </a:p>
          <a:p>
            <a:pPr marL="4585335">
              <a:lnSpc>
                <a:spcPct val="100000"/>
              </a:lnSpc>
            </a:pPr>
            <a:r>
              <a:rPr sz="2500" dirty="0">
                <a:latin typeface="Palatino Linotype"/>
                <a:cs typeface="Palatino Linotype"/>
              </a:rPr>
              <a:t>P</a:t>
            </a:r>
            <a:r>
              <a:rPr sz="2500" spc="-55" dirty="0">
                <a:latin typeface="Palatino Linotype"/>
                <a:cs typeface="Palatino Linotype"/>
              </a:rPr>
              <a:t> </a:t>
            </a:r>
            <a:r>
              <a:rPr sz="2500" dirty="0">
                <a:latin typeface="Symbol"/>
                <a:cs typeface="Symbol"/>
              </a:rPr>
              <a:t>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60" dirty="0">
                <a:latin typeface="Palatino Linotype"/>
                <a:cs typeface="Palatino Linotype"/>
              </a:rPr>
              <a:t>Q</a:t>
            </a:r>
            <a:endParaRPr sz="2500">
              <a:latin typeface="Palatino Linotype"/>
              <a:cs typeface="Palatino Linotype"/>
            </a:endParaRPr>
          </a:p>
          <a:p>
            <a:pPr marL="4585335">
              <a:lnSpc>
                <a:spcPct val="100000"/>
              </a:lnSpc>
            </a:pPr>
            <a:r>
              <a:rPr sz="2500" spc="-25" dirty="0">
                <a:latin typeface="Symbol"/>
                <a:cs typeface="Symbol"/>
              </a:rPr>
              <a:t></a:t>
            </a:r>
            <a:r>
              <a:rPr sz="2500" spc="-25" dirty="0">
                <a:latin typeface="Palatino Linotype"/>
                <a:cs typeface="Palatino Linotype"/>
              </a:rPr>
              <a:t>Q</a:t>
            </a:r>
            <a:endParaRPr sz="2500">
              <a:latin typeface="Palatino Linotype"/>
              <a:cs typeface="Palatino Linotype"/>
            </a:endParaRPr>
          </a:p>
          <a:p>
            <a:pPr marL="4585335">
              <a:lnSpc>
                <a:spcPct val="100000"/>
              </a:lnSpc>
            </a:pPr>
            <a:r>
              <a:rPr sz="2500" spc="-25" dirty="0">
                <a:latin typeface="Symbol"/>
                <a:cs typeface="Symbol"/>
              </a:rPr>
              <a:t></a:t>
            </a:r>
            <a:r>
              <a:rPr sz="2500" spc="-25" dirty="0">
                <a:latin typeface="Palatino Linotype"/>
                <a:cs typeface="Palatino Linotype"/>
              </a:rPr>
              <a:t>P</a:t>
            </a:r>
            <a:endParaRPr sz="25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340" y="4138040"/>
            <a:ext cx="7894955" cy="1930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95"/>
              </a:spcBef>
              <a:buClr>
                <a:srgbClr val="C0CF39"/>
              </a:buClr>
              <a:buSzPct val="94000"/>
              <a:buFont typeface="Wingdings 2"/>
              <a:buChar char=""/>
              <a:tabLst>
                <a:tab pos="286385" algn="l"/>
              </a:tabLst>
            </a:pPr>
            <a:r>
              <a:rPr sz="2500" dirty="0">
                <a:latin typeface="Palatino Linotype"/>
                <a:cs typeface="Palatino Linotype"/>
              </a:rPr>
              <a:t>Luật</a:t>
            </a:r>
            <a:r>
              <a:rPr sz="2500" spc="-35" dirty="0">
                <a:latin typeface="Palatino Linotype"/>
                <a:cs typeface="Palatino Linotype"/>
              </a:rPr>
              <a:t> </a:t>
            </a:r>
            <a:r>
              <a:rPr sz="2500" dirty="0">
                <a:latin typeface="Palatino Linotype"/>
                <a:cs typeface="Palatino Linotype"/>
              </a:rPr>
              <a:t>triển</a:t>
            </a:r>
            <a:r>
              <a:rPr sz="2500" spc="-55" dirty="0">
                <a:latin typeface="Palatino Linotype"/>
                <a:cs typeface="Palatino Linotype"/>
              </a:rPr>
              <a:t> </a:t>
            </a:r>
            <a:r>
              <a:rPr sz="2500" dirty="0">
                <a:latin typeface="Palatino Linotype"/>
                <a:cs typeface="Palatino Linotype"/>
              </a:rPr>
              <a:t>khai</a:t>
            </a:r>
            <a:r>
              <a:rPr sz="2500" spc="-35" dirty="0">
                <a:latin typeface="Palatino Linotype"/>
                <a:cs typeface="Palatino Linotype"/>
              </a:rPr>
              <a:t> </a:t>
            </a:r>
            <a:r>
              <a:rPr sz="2500" dirty="0">
                <a:latin typeface="Palatino Linotype"/>
                <a:cs typeface="Palatino Linotype"/>
              </a:rPr>
              <a:t>phổ</a:t>
            </a:r>
            <a:r>
              <a:rPr sz="2500" spc="-50" dirty="0">
                <a:latin typeface="Palatino Linotype"/>
                <a:cs typeface="Palatino Linotype"/>
              </a:rPr>
              <a:t> </a:t>
            </a:r>
            <a:r>
              <a:rPr sz="2500" dirty="0">
                <a:latin typeface="Palatino Linotype"/>
                <a:cs typeface="Palatino Linotype"/>
              </a:rPr>
              <a:t>biến</a:t>
            </a:r>
            <a:r>
              <a:rPr sz="2500" spc="-45" dirty="0">
                <a:latin typeface="Palatino Linotype"/>
                <a:cs typeface="Palatino Linotype"/>
              </a:rPr>
              <a:t> </a:t>
            </a:r>
            <a:r>
              <a:rPr sz="2500" dirty="0">
                <a:latin typeface="Palatino Linotype"/>
                <a:cs typeface="Palatino Linotype"/>
              </a:rPr>
              <a:t>(Universal</a:t>
            </a:r>
            <a:r>
              <a:rPr sz="2500" spc="-30" dirty="0">
                <a:latin typeface="Palatino Linotype"/>
                <a:cs typeface="Palatino Linotype"/>
              </a:rPr>
              <a:t> </a:t>
            </a:r>
            <a:r>
              <a:rPr sz="2500" dirty="0">
                <a:latin typeface="Palatino Linotype"/>
                <a:cs typeface="Palatino Linotype"/>
              </a:rPr>
              <a:t>Instantiation</a:t>
            </a:r>
            <a:r>
              <a:rPr sz="2500" spc="-55" dirty="0">
                <a:latin typeface="Palatino Linotype"/>
                <a:cs typeface="Palatino Linotype"/>
              </a:rPr>
              <a:t> </a:t>
            </a:r>
            <a:r>
              <a:rPr sz="2500" dirty="0">
                <a:latin typeface="Palatino Linotype"/>
                <a:cs typeface="Palatino Linotype"/>
              </a:rPr>
              <a:t>-</a:t>
            </a:r>
            <a:r>
              <a:rPr sz="2500" spc="-40" dirty="0">
                <a:latin typeface="Palatino Linotype"/>
                <a:cs typeface="Palatino Linotype"/>
              </a:rPr>
              <a:t> </a:t>
            </a:r>
            <a:r>
              <a:rPr sz="2500" spc="-20" dirty="0">
                <a:latin typeface="Palatino Linotype"/>
                <a:cs typeface="Palatino Linotype"/>
              </a:rPr>
              <a:t>UI):</a:t>
            </a:r>
            <a:endParaRPr sz="2500">
              <a:latin typeface="Palatino Linotype"/>
              <a:cs typeface="Palatino Linotype"/>
            </a:endParaRPr>
          </a:p>
          <a:p>
            <a:pPr marL="3670935">
              <a:lnSpc>
                <a:spcPct val="100000"/>
              </a:lnSpc>
              <a:tabLst>
                <a:tab pos="4346575" algn="l"/>
              </a:tabLst>
            </a:pPr>
            <a:r>
              <a:rPr sz="2500" spc="-25" dirty="0">
                <a:latin typeface="Symbol"/>
                <a:cs typeface="Symbol"/>
              </a:rPr>
              <a:t></a:t>
            </a:r>
            <a:r>
              <a:rPr sz="2500" spc="-25" dirty="0">
                <a:latin typeface="Palatino Linotype"/>
                <a:cs typeface="Palatino Linotype"/>
              </a:rPr>
              <a:t>X</a:t>
            </a:r>
            <a:r>
              <a:rPr sz="2500" dirty="0">
                <a:latin typeface="Palatino Linotype"/>
                <a:cs typeface="Palatino Linotype"/>
              </a:rPr>
              <a:t>	</a:t>
            </a:r>
            <a:r>
              <a:rPr sz="2500" spc="-20" dirty="0">
                <a:latin typeface="Palatino Linotype"/>
                <a:cs typeface="Palatino Linotype"/>
              </a:rPr>
              <a:t>P(X)</a:t>
            </a:r>
            <a:endParaRPr sz="2500">
              <a:latin typeface="Palatino Linotype"/>
              <a:cs typeface="Palatino Linotype"/>
            </a:endParaRPr>
          </a:p>
          <a:p>
            <a:pPr marL="3670935">
              <a:lnSpc>
                <a:spcPct val="100000"/>
              </a:lnSpc>
            </a:pPr>
            <a:r>
              <a:rPr sz="2500" dirty="0">
                <a:latin typeface="Palatino Linotype"/>
                <a:cs typeface="Palatino Linotype"/>
              </a:rPr>
              <a:t>a</a:t>
            </a:r>
            <a:r>
              <a:rPr sz="2500" spc="-45" dirty="0">
                <a:latin typeface="Palatino Linotype"/>
                <a:cs typeface="Palatino Linotype"/>
              </a:rPr>
              <a:t> </a:t>
            </a:r>
            <a:r>
              <a:rPr sz="2500" dirty="0">
                <a:latin typeface="Palatino Linotype"/>
                <a:cs typeface="Palatino Linotype"/>
              </a:rPr>
              <a:t>thuộc</a:t>
            </a:r>
            <a:r>
              <a:rPr sz="2500" spc="-35" dirty="0">
                <a:latin typeface="Palatino Linotype"/>
                <a:cs typeface="Palatino Linotype"/>
              </a:rPr>
              <a:t> </a:t>
            </a:r>
            <a:r>
              <a:rPr sz="2500" dirty="0">
                <a:latin typeface="Palatino Linotype"/>
                <a:cs typeface="Palatino Linotype"/>
              </a:rPr>
              <a:t>miền</a:t>
            </a:r>
            <a:r>
              <a:rPr sz="2500" spc="-40" dirty="0">
                <a:latin typeface="Palatino Linotype"/>
                <a:cs typeface="Palatino Linotype"/>
              </a:rPr>
              <a:t> </a:t>
            </a:r>
            <a:r>
              <a:rPr sz="2500" dirty="0">
                <a:latin typeface="Palatino Linotype"/>
                <a:cs typeface="Palatino Linotype"/>
              </a:rPr>
              <a:t>xác</a:t>
            </a:r>
            <a:r>
              <a:rPr sz="2500" spc="-40" dirty="0">
                <a:latin typeface="Palatino Linotype"/>
                <a:cs typeface="Palatino Linotype"/>
              </a:rPr>
              <a:t> </a:t>
            </a:r>
            <a:r>
              <a:rPr sz="2500" dirty="0">
                <a:latin typeface="Palatino Linotype"/>
                <a:cs typeface="Palatino Linotype"/>
              </a:rPr>
              <a:t>định</a:t>
            </a:r>
            <a:r>
              <a:rPr sz="2500" spc="-50" dirty="0">
                <a:latin typeface="Palatino Linotype"/>
                <a:cs typeface="Palatino Linotype"/>
              </a:rPr>
              <a:t> </a:t>
            </a:r>
            <a:r>
              <a:rPr sz="2500" dirty="0">
                <a:latin typeface="Palatino Linotype"/>
                <a:cs typeface="Palatino Linotype"/>
              </a:rPr>
              <a:t>của</a:t>
            </a:r>
            <a:r>
              <a:rPr sz="2500" spc="-20" dirty="0">
                <a:latin typeface="Palatino Linotype"/>
                <a:cs typeface="Palatino Linotype"/>
              </a:rPr>
              <a:t> </a:t>
            </a:r>
            <a:r>
              <a:rPr sz="2500" spc="-50" dirty="0">
                <a:latin typeface="Palatino Linotype"/>
                <a:cs typeface="Palatino Linotype"/>
              </a:rPr>
              <a:t>X</a:t>
            </a:r>
            <a:endParaRPr sz="2500">
              <a:latin typeface="Palatino Linotype"/>
              <a:cs typeface="Palatino Linotype"/>
            </a:endParaRPr>
          </a:p>
          <a:p>
            <a:pPr marL="3670935">
              <a:lnSpc>
                <a:spcPct val="100000"/>
              </a:lnSpc>
              <a:spcBef>
                <a:spcPts val="3000"/>
              </a:spcBef>
            </a:pPr>
            <a:r>
              <a:rPr sz="2500" spc="-20" dirty="0">
                <a:latin typeface="Palatino Linotype"/>
                <a:cs typeface="Palatino Linotype"/>
              </a:rPr>
              <a:t>P(a)</a:t>
            </a:r>
            <a:endParaRPr sz="250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8486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0"/>
              </a:spcBef>
            </a:pPr>
            <a:r>
              <a:rPr sz="5000" dirty="0">
                <a:solidFill>
                  <a:srgbClr val="455F51"/>
                </a:solidFill>
              </a:rPr>
              <a:t>Luật</a:t>
            </a:r>
            <a:r>
              <a:rPr sz="5000" spc="-1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suy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spc="-20" dirty="0">
                <a:solidFill>
                  <a:srgbClr val="455F51"/>
                </a:solidFill>
              </a:rPr>
              <a:t>diễn</a:t>
            </a:r>
            <a:endParaRPr sz="50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60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100954" y="3796538"/>
            <a:ext cx="1277620" cy="0"/>
          </a:xfrm>
          <a:custGeom>
            <a:avLst/>
            <a:gdLst/>
            <a:ahLst/>
            <a:cxnLst/>
            <a:rect l="l" t="t" r="r" b="b"/>
            <a:pathLst>
              <a:path w="1277620">
                <a:moveTo>
                  <a:pt x="0" y="0"/>
                </a:moveTo>
                <a:lnTo>
                  <a:pt x="1277493" y="0"/>
                </a:lnTo>
              </a:path>
            </a:pathLst>
          </a:custGeom>
          <a:ln w="6350">
            <a:solidFill>
              <a:srgbClr val="539E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37152" y="5499861"/>
            <a:ext cx="5074285" cy="22860"/>
          </a:xfrm>
          <a:custGeom>
            <a:avLst/>
            <a:gdLst/>
            <a:ahLst/>
            <a:cxnLst/>
            <a:rect l="l" t="t" r="r" b="b"/>
            <a:pathLst>
              <a:path w="5074284" h="22860">
                <a:moveTo>
                  <a:pt x="0" y="22351"/>
                </a:moveTo>
                <a:lnTo>
                  <a:pt x="5074031" y="0"/>
                </a:lnTo>
              </a:path>
            </a:pathLst>
          </a:custGeom>
          <a:ln w="6349">
            <a:solidFill>
              <a:srgbClr val="539E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830222"/>
            <a:ext cx="4740275" cy="270573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520"/>
              </a:spcBef>
              <a:buClr>
                <a:srgbClr val="C0CF3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3600" dirty="0">
                <a:latin typeface="Palatino Linotype"/>
                <a:cs typeface="Palatino Linotype"/>
              </a:rPr>
              <a:t>Luật</a:t>
            </a:r>
            <a:r>
              <a:rPr sz="3600" spc="-90" dirty="0">
                <a:latin typeface="Palatino Linotype"/>
                <a:cs typeface="Palatino Linotype"/>
              </a:rPr>
              <a:t> </a:t>
            </a:r>
            <a:r>
              <a:rPr sz="3600" spc="-25" dirty="0">
                <a:latin typeface="Palatino Linotype"/>
                <a:cs typeface="Palatino Linotype"/>
              </a:rPr>
              <a:t>Hội</a:t>
            </a:r>
            <a:endParaRPr sz="3600">
              <a:latin typeface="Palatino Linotype"/>
              <a:cs typeface="Palatino Linotype"/>
            </a:endParaRPr>
          </a:p>
          <a:p>
            <a:pPr marL="405765">
              <a:lnSpc>
                <a:spcPct val="100000"/>
              </a:lnSpc>
              <a:spcBef>
                <a:spcPts val="520"/>
              </a:spcBef>
              <a:tabLst>
                <a:tab pos="2755900" algn="l"/>
                <a:tab pos="3670300" algn="l"/>
              </a:tabLst>
            </a:pPr>
            <a:r>
              <a:rPr sz="4400" spc="-25" dirty="0">
                <a:latin typeface="Palatino Linotype"/>
                <a:cs typeface="Palatino Linotype"/>
              </a:rPr>
              <a:t>A,B</a:t>
            </a:r>
            <a:r>
              <a:rPr sz="4400" dirty="0">
                <a:latin typeface="Palatino Linotype"/>
                <a:cs typeface="Palatino Linotype"/>
              </a:rPr>
              <a:t>	</a:t>
            </a:r>
            <a:r>
              <a:rPr sz="4400" spc="-50" dirty="0">
                <a:latin typeface="Symbol"/>
                <a:cs typeface="Symbol"/>
              </a:rPr>
              <a:t></a:t>
            </a:r>
            <a:r>
              <a:rPr sz="4400" dirty="0">
                <a:latin typeface="Times New Roman"/>
                <a:cs typeface="Times New Roman"/>
              </a:rPr>
              <a:t>	</a:t>
            </a:r>
            <a:r>
              <a:rPr sz="4400" spc="-25" dirty="0">
                <a:latin typeface="Palatino Linotype"/>
                <a:cs typeface="Palatino Linotype"/>
              </a:rPr>
              <a:t>A^B</a:t>
            </a:r>
            <a:endParaRPr sz="44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440"/>
              </a:spcBef>
              <a:buClr>
                <a:srgbClr val="C0CF39"/>
              </a:buClr>
              <a:buSzPct val="94444"/>
              <a:buFont typeface="Wingdings 2"/>
              <a:buChar char=""/>
              <a:tabLst>
                <a:tab pos="286385" algn="l"/>
              </a:tabLst>
            </a:pPr>
            <a:r>
              <a:rPr sz="3600" dirty="0">
                <a:latin typeface="Palatino Linotype"/>
                <a:cs typeface="Palatino Linotype"/>
              </a:rPr>
              <a:t>Luật</a:t>
            </a:r>
            <a:r>
              <a:rPr sz="3600" spc="-90" dirty="0">
                <a:latin typeface="Palatino Linotype"/>
                <a:cs typeface="Palatino Linotype"/>
              </a:rPr>
              <a:t> </a:t>
            </a:r>
            <a:r>
              <a:rPr sz="3600" dirty="0">
                <a:latin typeface="Palatino Linotype"/>
                <a:cs typeface="Palatino Linotype"/>
              </a:rPr>
              <a:t>đơn</a:t>
            </a:r>
            <a:r>
              <a:rPr sz="3600" spc="-70" dirty="0">
                <a:latin typeface="Palatino Linotype"/>
                <a:cs typeface="Palatino Linotype"/>
              </a:rPr>
              <a:t> </a:t>
            </a:r>
            <a:r>
              <a:rPr sz="3600" spc="-20" dirty="0">
                <a:latin typeface="Palatino Linotype"/>
                <a:cs typeface="Palatino Linotype"/>
              </a:rPr>
              <a:t>giản</a:t>
            </a:r>
            <a:endParaRPr sz="3600">
              <a:latin typeface="Palatino Linotype"/>
              <a:cs typeface="Palatino Linotype"/>
            </a:endParaRPr>
          </a:p>
          <a:p>
            <a:pPr marL="405765">
              <a:lnSpc>
                <a:spcPct val="100000"/>
              </a:lnSpc>
              <a:spcBef>
                <a:spcPts val="520"/>
              </a:spcBef>
              <a:tabLst>
                <a:tab pos="1841500" algn="l"/>
                <a:tab pos="2755900" algn="l"/>
              </a:tabLst>
            </a:pPr>
            <a:r>
              <a:rPr sz="4400" spc="-25" dirty="0">
                <a:latin typeface="Palatino Linotype"/>
                <a:cs typeface="Palatino Linotype"/>
              </a:rPr>
              <a:t>A^B</a:t>
            </a:r>
            <a:r>
              <a:rPr sz="4400" dirty="0">
                <a:latin typeface="Palatino Linotype"/>
                <a:cs typeface="Palatino Linotype"/>
              </a:rPr>
              <a:t>	</a:t>
            </a:r>
            <a:r>
              <a:rPr sz="4400" spc="-50" dirty="0">
                <a:latin typeface="Symbol"/>
                <a:cs typeface="Symbol"/>
              </a:rPr>
              <a:t></a:t>
            </a:r>
            <a:r>
              <a:rPr sz="4400" dirty="0">
                <a:latin typeface="Times New Roman"/>
                <a:cs typeface="Times New Roman"/>
              </a:rPr>
              <a:t>	</a:t>
            </a:r>
            <a:r>
              <a:rPr sz="4400" spc="-50" dirty="0">
                <a:latin typeface="Palatino Linotype"/>
                <a:cs typeface="Palatino Linotype"/>
              </a:rPr>
              <a:t>A</a:t>
            </a:r>
            <a:endParaRPr sz="44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8340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105"/>
              </a:spcBef>
            </a:pPr>
            <a:r>
              <a:rPr sz="5000" dirty="0">
                <a:solidFill>
                  <a:srgbClr val="455F51"/>
                </a:solidFill>
              </a:rPr>
              <a:t>Luật</a:t>
            </a:r>
            <a:r>
              <a:rPr sz="5000" spc="-1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suy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spc="-20" dirty="0">
                <a:solidFill>
                  <a:srgbClr val="455F51"/>
                </a:solidFill>
              </a:rPr>
              <a:t>diễn</a:t>
            </a:r>
            <a:endParaRPr sz="5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61</a:t>
            </a:fld>
            <a:endParaRPr spc="-25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680210"/>
            <a:chOff x="0" y="0"/>
            <a:chExt cx="12192000" cy="16802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932" y="288036"/>
              <a:ext cx="1986533" cy="139217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0763" y="288036"/>
              <a:ext cx="1704594" cy="139217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81655" y="288036"/>
              <a:ext cx="1916430" cy="139217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88340" y="1844435"/>
            <a:ext cx="5982335" cy="397573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870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>
                <a:latin typeface="Palatino Linotype"/>
                <a:cs typeface="Palatino Linotype"/>
              </a:rPr>
              <a:t>Luật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spc="-20" dirty="0">
                <a:latin typeface="Palatino Linotype"/>
                <a:cs typeface="Palatino Linotype"/>
              </a:rPr>
              <a:t>Cộng</a:t>
            </a:r>
            <a:endParaRPr sz="3200">
              <a:latin typeface="Palatino Linotype"/>
              <a:cs typeface="Palatino Linotype"/>
            </a:endParaRPr>
          </a:p>
          <a:p>
            <a:pPr marL="405765">
              <a:lnSpc>
                <a:spcPct val="100000"/>
              </a:lnSpc>
              <a:spcBef>
                <a:spcPts val="950"/>
              </a:spcBef>
              <a:tabLst>
                <a:tab pos="2755900" algn="l"/>
                <a:tab pos="3670300" algn="l"/>
              </a:tabLst>
            </a:pPr>
            <a:r>
              <a:rPr sz="4000" spc="-50" dirty="0">
                <a:latin typeface="Palatino Linotype"/>
                <a:cs typeface="Palatino Linotype"/>
              </a:rPr>
              <a:t>A</a:t>
            </a:r>
            <a:r>
              <a:rPr sz="4000" dirty="0">
                <a:latin typeface="Palatino Linotype"/>
                <a:cs typeface="Palatino Linotype"/>
              </a:rPr>
              <a:t>	</a:t>
            </a:r>
            <a:r>
              <a:rPr sz="4000" spc="-50" dirty="0">
                <a:latin typeface="Symbol"/>
                <a:cs typeface="Symbol"/>
              </a:rPr>
              <a:t>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spc="-40" dirty="0">
                <a:latin typeface="Palatino Linotype"/>
                <a:cs typeface="Palatino Linotype"/>
              </a:rPr>
              <a:t>A</a:t>
            </a:r>
            <a:r>
              <a:rPr sz="4000" spc="-229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Palatino Linotype"/>
                <a:cs typeface="Palatino Linotype"/>
              </a:rPr>
              <a:t>v</a:t>
            </a:r>
            <a:r>
              <a:rPr sz="4000" spc="-5" dirty="0">
                <a:latin typeface="Palatino Linotype"/>
                <a:cs typeface="Palatino Linotype"/>
              </a:rPr>
              <a:t> </a:t>
            </a:r>
            <a:r>
              <a:rPr sz="4000" spc="-50" dirty="0">
                <a:latin typeface="Palatino Linotype"/>
                <a:cs typeface="Palatino Linotype"/>
              </a:rPr>
              <a:t>B</a:t>
            </a:r>
            <a:endParaRPr sz="40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775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>
                <a:latin typeface="Palatino Linotype"/>
                <a:cs typeface="Palatino Linotype"/>
              </a:rPr>
              <a:t>Luật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tam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đoạn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luận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spc="-10" dirty="0">
                <a:latin typeface="Palatino Linotype"/>
                <a:cs typeface="Palatino Linotype"/>
              </a:rPr>
              <a:t>tuyển</a:t>
            </a:r>
            <a:endParaRPr sz="3200">
              <a:latin typeface="Palatino Linotype"/>
              <a:cs typeface="Palatino Linotype"/>
            </a:endParaRPr>
          </a:p>
          <a:p>
            <a:pPr marL="405765">
              <a:lnSpc>
                <a:spcPct val="100000"/>
              </a:lnSpc>
              <a:spcBef>
                <a:spcPts val="955"/>
              </a:spcBef>
              <a:tabLst>
                <a:tab pos="2755900" algn="l"/>
                <a:tab pos="3670300" algn="l"/>
              </a:tabLst>
            </a:pPr>
            <a:r>
              <a:rPr sz="4000" spc="-40" dirty="0">
                <a:latin typeface="Palatino Linotype"/>
                <a:cs typeface="Palatino Linotype"/>
              </a:rPr>
              <a:t>AvB,</a:t>
            </a:r>
            <a:r>
              <a:rPr sz="4000" spc="-190" dirty="0">
                <a:latin typeface="Palatino Linotype"/>
                <a:cs typeface="Palatino Linotype"/>
              </a:rPr>
              <a:t> </a:t>
            </a:r>
            <a:r>
              <a:rPr sz="4000" spc="-25" dirty="0">
                <a:latin typeface="Symbol"/>
                <a:cs typeface="Symbol"/>
              </a:rPr>
              <a:t></a:t>
            </a:r>
            <a:r>
              <a:rPr sz="4000" spc="-25" dirty="0">
                <a:latin typeface="Palatino Linotype"/>
                <a:cs typeface="Palatino Linotype"/>
              </a:rPr>
              <a:t>A</a:t>
            </a:r>
            <a:r>
              <a:rPr sz="4000" dirty="0">
                <a:latin typeface="Palatino Linotype"/>
                <a:cs typeface="Palatino Linotype"/>
              </a:rPr>
              <a:t>	</a:t>
            </a:r>
            <a:r>
              <a:rPr sz="4000" spc="-50" dirty="0">
                <a:latin typeface="Symbol"/>
                <a:cs typeface="Symbol"/>
              </a:rPr>
              <a:t>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spc="-50" dirty="0">
                <a:latin typeface="Palatino Linotype"/>
                <a:cs typeface="Palatino Linotype"/>
              </a:rPr>
              <a:t>B</a:t>
            </a:r>
            <a:endParaRPr sz="40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775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>
                <a:latin typeface="Palatino Linotype"/>
                <a:cs typeface="Palatino Linotype"/>
              </a:rPr>
              <a:t>Luật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tam</a:t>
            </a:r>
            <a:r>
              <a:rPr sz="3200" spc="-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đoạn</a:t>
            </a:r>
            <a:r>
              <a:rPr sz="3200" spc="-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luận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giả</a:t>
            </a:r>
            <a:r>
              <a:rPr sz="3200" spc="-10" dirty="0">
                <a:latin typeface="Palatino Linotype"/>
                <a:cs typeface="Palatino Linotype"/>
              </a:rPr>
              <a:t> thiết</a:t>
            </a:r>
            <a:endParaRPr sz="3200">
              <a:latin typeface="Palatino Linotype"/>
              <a:cs typeface="Palatino Linotype"/>
            </a:endParaRPr>
          </a:p>
          <a:p>
            <a:pPr marL="405765">
              <a:lnSpc>
                <a:spcPct val="100000"/>
              </a:lnSpc>
              <a:spcBef>
                <a:spcPts val="955"/>
              </a:spcBef>
              <a:tabLst>
                <a:tab pos="4584700" algn="l"/>
              </a:tabLst>
            </a:pPr>
            <a:r>
              <a:rPr sz="4000" spc="-40" dirty="0">
                <a:latin typeface="Palatino Linotype"/>
                <a:cs typeface="Palatino Linotype"/>
              </a:rPr>
              <a:t>A</a:t>
            </a:r>
            <a:r>
              <a:rPr sz="4000" spc="-220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Symbol"/>
                <a:cs typeface="Symbol"/>
              </a:rPr>
              <a:t></a:t>
            </a:r>
            <a:r>
              <a:rPr sz="4000" spc="-3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Palatino Linotype"/>
                <a:cs typeface="Palatino Linotype"/>
              </a:rPr>
              <a:t>B,</a:t>
            </a:r>
            <a:r>
              <a:rPr sz="4000" spc="-25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Palatino Linotype"/>
                <a:cs typeface="Palatino Linotype"/>
              </a:rPr>
              <a:t>B</a:t>
            </a:r>
            <a:r>
              <a:rPr sz="4000" spc="-15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Symbol"/>
                <a:cs typeface="Symbol"/>
              </a:rPr>
              <a:t></a:t>
            </a:r>
            <a:r>
              <a:rPr sz="4000" spc="-2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Palatino Linotype"/>
                <a:cs typeface="Palatino Linotype"/>
              </a:rPr>
              <a:t>C</a:t>
            </a:r>
            <a:r>
              <a:rPr sz="4000" spc="-15" dirty="0">
                <a:latin typeface="Palatino Linotype"/>
                <a:cs typeface="Palatino Linotype"/>
              </a:rPr>
              <a:t> </a:t>
            </a:r>
            <a:r>
              <a:rPr sz="4000" spc="-50" dirty="0">
                <a:latin typeface="Symbol"/>
                <a:cs typeface="Symbol"/>
              </a:rPr>
              <a:t>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dirty="0">
                <a:latin typeface="Palatino Linotype"/>
                <a:cs typeface="Palatino Linotype"/>
              </a:rPr>
              <a:t>A</a:t>
            </a:r>
            <a:r>
              <a:rPr sz="4000" dirty="0">
                <a:latin typeface="Symbol"/>
                <a:cs typeface="Symbol"/>
              </a:rPr>
              <a:t>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spc="-50" dirty="0">
                <a:latin typeface="Palatino Linotype"/>
                <a:cs typeface="Palatino Linotype"/>
              </a:rPr>
              <a:t>C</a:t>
            </a:r>
            <a:endParaRPr sz="4000">
              <a:latin typeface="Palatino Linotype"/>
              <a:cs typeface="Palatino Linotype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8340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105"/>
              </a:spcBef>
            </a:pPr>
            <a:r>
              <a:rPr sz="5000" dirty="0">
                <a:solidFill>
                  <a:srgbClr val="455F51"/>
                </a:solidFill>
              </a:rPr>
              <a:t>Luật</a:t>
            </a:r>
            <a:r>
              <a:rPr sz="5000" spc="-15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suy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spc="-20" dirty="0">
                <a:solidFill>
                  <a:srgbClr val="455F51"/>
                </a:solidFill>
              </a:rPr>
              <a:t>diễn</a:t>
            </a:r>
            <a:endParaRPr sz="50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62</a:t>
            </a:fld>
            <a:endParaRPr spc="-25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899920"/>
            <a:chOff x="0" y="0"/>
            <a:chExt cx="12192000" cy="18999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171" y="560831"/>
              <a:ext cx="1399793" cy="133883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5171" y="560831"/>
              <a:ext cx="1399793" cy="13388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57171" y="560831"/>
              <a:ext cx="1094994" cy="133883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6900" y="721233"/>
            <a:ext cx="18548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36700" algn="l"/>
              </a:tabLst>
            </a:pPr>
            <a:r>
              <a:rPr sz="4800" dirty="0">
                <a:solidFill>
                  <a:srgbClr val="455F51"/>
                </a:solidFill>
              </a:rPr>
              <a:t>Ví</a:t>
            </a:r>
            <a:r>
              <a:rPr sz="4800" spc="-5" dirty="0">
                <a:solidFill>
                  <a:srgbClr val="455F51"/>
                </a:solidFill>
              </a:rPr>
              <a:t> </a:t>
            </a:r>
            <a:r>
              <a:rPr sz="4800" spc="-25" dirty="0">
                <a:solidFill>
                  <a:srgbClr val="455F51"/>
                </a:solidFill>
              </a:rPr>
              <a:t>dụ</a:t>
            </a:r>
            <a:r>
              <a:rPr sz="4800" dirty="0">
                <a:solidFill>
                  <a:srgbClr val="455F51"/>
                </a:solidFill>
              </a:rPr>
              <a:t>	</a:t>
            </a:r>
            <a:r>
              <a:rPr sz="4800" spc="-50" dirty="0">
                <a:solidFill>
                  <a:srgbClr val="455F51"/>
                </a:solidFill>
              </a:rPr>
              <a:t>1</a:t>
            </a:r>
            <a:endParaRPr sz="48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63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340" y="1856791"/>
            <a:ext cx="5518785" cy="1863089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800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b="1" dirty="0">
                <a:latin typeface="Palatino Linotype"/>
                <a:cs typeface="Palatino Linotype"/>
              </a:rPr>
              <a:t>Mệnh</a:t>
            </a:r>
            <a:r>
              <a:rPr sz="2800" b="1" spc="-45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đề</a:t>
            </a:r>
            <a:r>
              <a:rPr sz="2800" b="1" spc="-55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thực</a:t>
            </a:r>
            <a:r>
              <a:rPr sz="2800" b="1" spc="-40" dirty="0">
                <a:latin typeface="Palatino Linotype"/>
                <a:cs typeface="Palatino Linotype"/>
              </a:rPr>
              <a:t> </a:t>
            </a:r>
            <a:r>
              <a:rPr sz="2800" b="1" spc="-25" dirty="0">
                <a:latin typeface="Palatino Linotype"/>
                <a:cs typeface="Palatino Linotype"/>
              </a:rPr>
              <a:t>tế:</a:t>
            </a:r>
            <a:endParaRPr sz="28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605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“Nếu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trời</a:t>
            </a:r>
            <a:r>
              <a:rPr sz="2400" spc="-1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mưa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thì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bầu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trời</a:t>
            </a:r>
            <a:r>
              <a:rPr sz="2400" spc="-1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có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mây”.</a:t>
            </a:r>
            <a:endParaRPr sz="24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575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spc="-20" dirty="0">
                <a:latin typeface="Palatino Linotype"/>
                <a:cs typeface="Palatino Linotype"/>
              </a:rPr>
              <a:t>Trời</a:t>
            </a:r>
            <a:r>
              <a:rPr sz="2400" spc="-8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đang</a:t>
            </a:r>
            <a:r>
              <a:rPr sz="2400" spc="-75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mưa.</a:t>
            </a:r>
            <a:endParaRPr sz="2400">
              <a:latin typeface="Palatino Linotype"/>
              <a:cs typeface="Palatino Linotype"/>
            </a:endParaRPr>
          </a:p>
          <a:p>
            <a:pPr marL="652145" lvl="1" indent="-246379">
              <a:lnSpc>
                <a:spcPct val="100000"/>
              </a:lnSpc>
              <a:spcBef>
                <a:spcPts val="585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145" algn="l"/>
              </a:tabLst>
            </a:pPr>
            <a:r>
              <a:rPr sz="2400" dirty="0">
                <a:latin typeface="Palatino Linotype"/>
                <a:cs typeface="Palatino Linotype"/>
              </a:rPr>
              <a:t>Vậy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Bầu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trời</a:t>
            </a:r>
            <a:r>
              <a:rPr sz="2400" spc="-1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có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mây?</a:t>
            </a:r>
            <a:endParaRPr sz="24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899920"/>
            <a:chOff x="0" y="0"/>
            <a:chExt cx="12192000" cy="18999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171" y="560831"/>
              <a:ext cx="1399793" cy="133883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5171" y="560831"/>
              <a:ext cx="1399793" cy="13388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57171" y="560831"/>
              <a:ext cx="1094994" cy="133883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6900" y="721233"/>
            <a:ext cx="18548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36700" algn="l"/>
              </a:tabLst>
            </a:pPr>
            <a:r>
              <a:rPr sz="4800" dirty="0">
                <a:solidFill>
                  <a:srgbClr val="455F51"/>
                </a:solidFill>
              </a:rPr>
              <a:t>Ví</a:t>
            </a:r>
            <a:r>
              <a:rPr sz="4800" spc="-5" dirty="0">
                <a:solidFill>
                  <a:srgbClr val="455F51"/>
                </a:solidFill>
              </a:rPr>
              <a:t> </a:t>
            </a:r>
            <a:r>
              <a:rPr sz="4800" spc="-25" dirty="0">
                <a:solidFill>
                  <a:srgbClr val="455F51"/>
                </a:solidFill>
              </a:rPr>
              <a:t>dụ</a:t>
            </a:r>
            <a:r>
              <a:rPr sz="4800" dirty="0">
                <a:solidFill>
                  <a:srgbClr val="455F51"/>
                </a:solidFill>
              </a:rPr>
              <a:t>	</a:t>
            </a:r>
            <a:r>
              <a:rPr sz="4800" spc="-50" dirty="0">
                <a:solidFill>
                  <a:srgbClr val="455F51"/>
                </a:solidFill>
              </a:rPr>
              <a:t>1</a:t>
            </a:r>
            <a:endParaRPr sz="48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64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340" y="1856791"/>
            <a:ext cx="6019165" cy="281305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800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b="1" dirty="0">
                <a:latin typeface="Palatino Linotype"/>
                <a:cs typeface="Palatino Linotype"/>
              </a:rPr>
              <a:t>Mệnh</a:t>
            </a:r>
            <a:r>
              <a:rPr sz="2800" b="1" spc="-45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đề</a:t>
            </a:r>
            <a:r>
              <a:rPr sz="2800" b="1" spc="-55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thực</a:t>
            </a:r>
            <a:r>
              <a:rPr sz="2800" b="1" spc="-40" dirty="0">
                <a:latin typeface="Palatino Linotype"/>
                <a:cs typeface="Palatino Linotype"/>
              </a:rPr>
              <a:t> </a:t>
            </a:r>
            <a:r>
              <a:rPr sz="2800" b="1" spc="-25" dirty="0">
                <a:latin typeface="Palatino Linotype"/>
                <a:cs typeface="Palatino Linotype"/>
              </a:rPr>
              <a:t>tế:</a:t>
            </a:r>
            <a:endParaRPr sz="28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605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“Nếu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trời</a:t>
            </a:r>
            <a:r>
              <a:rPr sz="2400" spc="-1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mưa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thì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bầu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trời</a:t>
            </a:r>
            <a:r>
              <a:rPr sz="2400" spc="-1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có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mây”.</a:t>
            </a:r>
            <a:endParaRPr sz="24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585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spc="-20" dirty="0">
                <a:latin typeface="Palatino Linotype"/>
                <a:cs typeface="Palatino Linotype"/>
              </a:rPr>
              <a:t>Trời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đang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mưa.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Vậy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Bầu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trời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có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mây.</a:t>
            </a:r>
            <a:endParaRPr sz="24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635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b="1" dirty="0">
                <a:latin typeface="Palatino Linotype"/>
                <a:cs typeface="Palatino Linotype"/>
              </a:rPr>
              <a:t>Mệnh</a:t>
            </a:r>
            <a:r>
              <a:rPr sz="2800" b="1" spc="-50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đề</a:t>
            </a:r>
            <a:r>
              <a:rPr sz="2800" b="1" spc="-60" dirty="0">
                <a:latin typeface="Palatino Linotype"/>
                <a:cs typeface="Palatino Linotype"/>
              </a:rPr>
              <a:t> </a:t>
            </a:r>
            <a:r>
              <a:rPr sz="2800" b="1" spc="-10" dirty="0">
                <a:latin typeface="Palatino Linotype"/>
                <a:cs typeface="Palatino Linotype"/>
              </a:rPr>
              <a:t>logic:</a:t>
            </a:r>
            <a:endParaRPr sz="28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605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spc="-20" dirty="0">
                <a:latin typeface="Palatino Linotype"/>
                <a:cs typeface="Palatino Linotype"/>
              </a:rPr>
              <a:t>P=“Trời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mưa”;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Q=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“Bầu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trời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có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mây”</a:t>
            </a:r>
            <a:endParaRPr sz="24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575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spc="-25" dirty="0">
                <a:latin typeface="Palatino Linotype"/>
                <a:cs typeface="Palatino Linotype"/>
              </a:rPr>
              <a:t>..?</a:t>
            </a:r>
            <a:endParaRPr sz="24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899920"/>
            <a:chOff x="0" y="0"/>
            <a:chExt cx="12192000" cy="18999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171" y="560831"/>
              <a:ext cx="1399793" cy="133883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5171" y="560831"/>
              <a:ext cx="1399793" cy="13388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57171" y="560831"/>
              <a:ext cx="1094994" cy="133883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6900" y="721233"/>
            <a:ext cx="18548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36700" algn="l"/>
              </a:tabLst>
            </a:pPr>
            <a:r>
              <a:rPr sz="4800" dirty="0">
                <a:solidFill>
                  <a:srgbClr val="455F51"/>
                </a:solidFill>
              </a:rPr>
              <a:t>Ví</a:t>
            </a:r>
            <a:r>
              <a:rPr sz="4800" spc="-5" dirty="0">
                <a:solidFill>
                  <a:srgbClr val="455F51"/>
                </a:solidFill>
              </a:rPr>
              <a:t> </a:t>
            </a:r>
            <a:r>
              <a:rPr sz="4800" spc="-25" dirty="0">
                <a:solidFill>
                  <a:srgbClr val="455F51"/>
                </a:solidFill>
              </a:rPr>
              <a:t>dụ</a:t>
            </a:r>
            <a:r>
              <a:rPr sz="4800" dirty="0">
                <a:solidFill>
                  <a:srgbClr val="455F51"/>
                </a:solidFill>
              </a:rPr>
              <a:t>	</a:t>
            </a:r>
            <a:r>
              <a:rPr sz="4800" spc="-50" dirty="0">
                <a:solidFill>
                  <a:srgbClr val="455F51"/>
                </a:solidFill>
              </a:rPr>
              <a:t>1</a:t>
            </a:r>
            <a:endParaRPr sz="48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65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340" y="1855632"/>
            <a:ext cx="6688455" cy="405828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470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b="1" dirty="0">
                <a:latin typeface="Palatino Linotype"/>
                <a:cs typeface="Palatino Linotype"/>
              </a:rPr>
              <a:t>Mệnh</a:t>
            </a:r>
            <a:r>
              <a:rPr sz="2800" b="1" spc="-50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đề</a:t>
            </a:r>
            <a:r>
              <a:rPr sz="2800" b="1" spc="-60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thực</a:t>
            </a:r>
            <a:r>
              <a:rPr sz="2800" b="1" spc="-45" dirty="0">
                <a:latin typeface="Palatino Linotype"/>
                <a:cs typeface="Palatino Linotype"/>
              </a:rPr>
              <a:t> </a:t>
            </a:r>
            <a:r>
              <a:rPr sz="2800" b="1" spc="-25" dirty="0">
                <a:latin typeface="Palatino Linotype"/>
                <a:cs typeface="Palatino Linotype"/>
              </a:rPr>
              <a:t>tế:</a:t>
            </a:r>
            <a:endParaRPr sz="28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320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“Nếu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trời</a:t>
            </a:r>
            <a:r>
              <a:rPr sz="2400" spc="-1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mưa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thì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bầu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trời</a:t>
            </a:r>
            <a:r>
              <a:rPr sz="2400" spc="-1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có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mây”.</a:t>
            </a:r>
            <a:endParaRPr sz="24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300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spc="-20" dirty="0">
                <a:latin typeface="Palatino Linotype"/>
                <a:cs typeface="Palatino Linotype"/>
              </a:rPr>
              <a:t>Trời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đang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mưa.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Vậy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Bầu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trời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có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mây.</a:t>
            </a:r>
            <a:endParaRPr sz="24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295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b="1" dirty="0">
                <a:latin typeface="Palatino Linotype"/>
                <a:cs typeface="Palatino Linotype"/>
              </a:rPr>
              <a:t>Mệnh</a:t>
            </a:r>
            <a:r>
              <a:rPr sz="2800" b="1" spc="-50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đề</a:t>
            </a:r>
            <a:r>
              <a:rPr sz="2800" b="1" spc="-60" dirty="0">
                <a:latin typeface="Palatino Linotype"/>
                <a:cs typeface="Palatino Linotype"/>
              </a:rPr>
              <a:t> </a:t>
            </a:r>
            <a:r>
              <a:rPr sz="2800" b="1" spc="-10" dirty="0">
                <a:latin typeface="Palatino Linotype"/>
                <a:cs typeface="Palatino Linotype"/>
              </a:rPr>
              <a:t>logic:</a:t>
            </a:r>
            <a:endParaRPr sz="28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315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spc="-20" dirty="0">
                <a:latin typeface="Palatino Linotype"/>
                <a:cs typeface="Palatino Linotype"/>
              </a:rPr>
              <a:t>P=“Trời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mưa”;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Q=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“Bầu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trời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có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mây”</a:t>
            </a:r>
            <a:endParaRPr sz="24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290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spc="-55" dirty="0">
                <a:latin typeface="Palatino Linotype"/>
                <a:cs typeface="Palatino Linotype"/>
              </a:rPr>
              <a:t>Ta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có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hai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phát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biểu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sau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đúng:</a:t>
            </a:r>
            <a:endParaRPr sz="2400">
              <a:latin typeface="Palatino Linotype"/>
              <a:cs typeface="Palatino Linotype"/>
            </a:endParaRPr>
          </a:p>
          <a:p>
            <a:pPr marL="927100" lvl="2" indent="-247015">
              <a:lnSpc>
                <a:spcPct val="100000"/>
              </a:lnSpc>
              <a:spcBef>
                <a:spcPts val="280"/>
              </a:spcBef>
              <a:buClr>
                <a:srgbClr val="89B833"/>
              </a:buClr>
              <a:buSzPct val="70000"/>
              <a:buFont typeface="Wingdings 2"/>
              <a:buChar char=""/>
              <a:tabLst>
                <a:tab pos="927100" algn="l"/>
              </a:tabLst>
            </a:pPr>
            <a:r>
              <a:rPr sz="2000" dirty="0">
                <a:latin typeface="Palatino Linotype"/>
                <a:cs typeface="Palatino Linotype"/>
              </a:rPr>
              <a:t>P</a:t>
            </a:r>
            <a:r>
              <a:rPr sz="2000" spc="-5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Wingdings"/>
                <a:cs typeface="Wingdings"/>
              </a:rPr>
              <a:t>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Palatino Linotype"/>
                <a:cs typeface="Palatino Linotype"/>
              </a:rPr>
              <a:t>Q</a:t>
            </a:r>
            <a:endParaRPr sz="2000">
              <a:latin typeface="Palatino Linotype"/>
              <a:cs typeface="Palatino Linotype"/>
            </a:endParaRPr>
          </a:p>
          <a:p>
            <a:pPr marL="927100" lvl="2" indent="-247015">
              <a:lnSpc>
                <a:spcPct val="100000"/>
              </a:lnSpc>
              <a:spcBef>
                <a:spcPts val="229"/>
              </a:spcBef>
              <a:buClr>
                <a:srgbClr val="89B833"/>
              </a:buClr>
              <a:buSzPct val="70000"/>
              <a:buFont typeface="Wingdings 2"/>
              <a:buChar char=""/>
              <a:tabLst>
                <a:tab pos="927100" algn="l"/>
              </a:tabLst>
            </a:pPr>
            <a:r>
              <a:rPr sz="2000" spc="-50" dirty="0">
                <a:latin typeface="Palatino Linotype"/>
                <a:cs typeface="Palatino Linotype"/>
              </a:rPr>
              <a:t>P</a:t>
            </a:r>
            <a:endParaRPr sz="20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275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Áp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dụng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luật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suy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diễn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MP</a:t>
            </a:r>
            <a:r>
              <a:rPr sz="2400" spc="-6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Q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là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đúng/sai?</a:t>
            </a:r>
            <a:endParaRPr sz="24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275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Nghĩa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là: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“Bầu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trời</a:t>
            </a:r>
            <a:r>
              <a:rPr sz="2400" b="1" spc="-4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có</a:t>
            </a:r>
            <a:r>
              <a:rPr sz="2400" b="1" spc="-4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mây/không</a:t>
            </a:r>
            <a:r>
              <a:rPr sz="2400" b="1" spc="-2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có</a:t>
            </a:r>
            <a:r>
              <a:rPr sz="2400" b="1" spc="-40" dirty="0">
                <a:latin typeface="Palatino Linotype"/>
                <a:cs typeface="Palatino Linotype"/>
              </a:rPr>
              <a:t> </a:t>
            </a:r>
            <a:r>
              <a:rPr sz="2400" b="1" spc="-10" dirty="0">
                <a:latin typeface="Palatino Linotype"/>
                <a:cs typeface="Palatino Linotype"/>
              </a:rPr>
              <a:t>mây?”.</a:t>
            </a:r>
            <a:endParaRPr sz="24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899920"/>
            <a:chOff x="0" y="0"/>
            <a:chExt cx="12192000" cy="18999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171" y="560831"/>
              <a:ext cx="1399793" cy="133883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5171" y="560831"/>
              <a:ext cx="1399793" cy="13388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57171" y="560831"/>
              <a:ext cx="1094994" cy="133883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6900" y="721233"/>
            <a:ext cx="18548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36700" algn="l"/>
              </a:tabLst>
            </a:pPr>
            <a:r>
              <a:rPr sz="4800" dirty="0">
                <a:solidFill>
                  <a:srgbClr val="455F51"/>
                </a:solidFill>
              </a:rPr>
              <a:t>Ví</a:t>
            </a:r>
            <a:r>
              <a:rPr sz="4800" spc="-5" dirty="0">
                <a:solidFill>
                  <a:srgbClr val="455F51"/>
                </a:solidFill>
              </a:rPr>
              <a:t> </a:t>
            </a:r>
            <a:r>
              <a:rPr sz="4800" spc="-25" dirty="0">
                <a:solidFill>
                  <a:srgbClr val="455F51"/>
                </a:solidFill>
              </a:rPr>
              <a:t>dụ</a:t>
            </a:r>
            <a:r>
              <a:rPr sz="4800" dirty="0">
                <a:solidFill>
                  <a:srgbClr val="455F51"/>
                </a:solidFill>
              </a:rPr>
              <a:t>	</a:t>
            </a:r>
            <a:r>
              <a:rPr sz="4800" spc="-50" dirty="0">
                <a:solidFill>
                  <a:srgbClr val="455F51"/>
                </a:solidFill>
              </a:rPr>
              <a:t>1</a:t>
            </a:r>
            <a:endParaRPr sz="48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66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340" y="1855632"/>
            <a:ext cx="6157595" cy="405828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470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b="1" dirty="0">
                <a:latin typeface="Palatino Linotype"/>
                <a:cs typeface="Palatino Linotype"/>
              </a:rPr>
              <a:t>Mệnh</a:t>
            </a:r>
            <a:r>
              <a:rPr sz="2800" b="1" spc="-50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đề</a:t>
            </a:r>
            <a:r>
              <a:rPr sz="2800" b="1" spc="-60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thực</a:t>
            </a:r>
            <a:r>
              <a:rPr sz="2800" b="1" spc="-45" dirty="0">
                <a:latin typeface="Palatino Linotype"/>
                <a:cs typeface="Palatino Linotype"/>
              </a:rPr>
              <a:t> </a:t>
            </a:r>
            <a:r>
              <a:rPr sz="2800" b="1" spc="-25" dirty="0">
                <a:latin typeface="Palatino Linotype"/>
                <a:cs typeface="Palatino Linotype"/>
              </a:rPr>
              <a:t>tế:</a:t>
            </a:r>
            <a:endParaRPr sz="28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320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“Nếu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trời</a:t>
            </a:r>
            <a:r>
              <a:rPr sz="2400" spc="-1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mưa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thì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bầu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trời</a:t>
            </a:r>
            <a:r>
              <a:rPr sz="2400" spc="-1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có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mây”.</a:t>
            </a:r>
            <a:endParaRPr sz="24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300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spc="-20" dirty="0">
                <a:latin typeface="Palatino Linotype"/>
                <a:cs typeface="Palatino Linotype"/>
              </a:rPr>
              <a:t>Trời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đang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mưa.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Vậy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Bầu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trời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có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mây.</a:t>
            </a:r>
            <a:endParaRPr sz="24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295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b="1" dirty="0">
                <a:latin typeface="Palatino Linotype"/>
                <a:cs typeface="Palatino Linotype"/>
              </a:rPr>
              <a:t>Mệnh</a:t>
            </a:r>
            <a:r>
              <a:rPr sz="2800" b="1" spc="-50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đề</a:t>
            </a:r>
            <a:r>
              <a:rPr sz="2800" b="1" spc="-60" dirty="0">
                <a:latin typeface="Palatino Linotype"/>
                <a:cs typeface="Palatino Linotype"/>
              </a:rPr>
              <a:t> </a:t>
            </a:r>
            <a:r>
              <a:rPr sz="2800" b="1" spc="-10" dirty="0">
                <a:latin typeface="Palatino Linotype"/>
                <a:cs typeface="Palatino Linotype"/>
              </a:rPr>
              <a:t>logic:</a:t>
            </a:r>
            <a:endParaRPr sz="28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315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spc="-20" dirty="0">
                <a:latin typeface="Palatino Linotype"/>
                <a:cs typeface="Palatino Linotype"/>
              </a:rPr>
              <a:t>P=“Trời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mưa”;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Q=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“Bầu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trời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có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mây”</a:t>
            </a:r>
            <a:endParaRPr sz="24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290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spc="-55" dirty="0">
                <a:latin typeface="Palatino Linotype"/>
                <a:cs typeface="Palatino Linotype"/>
              </a:rPr>
              <a:t>Ta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có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hai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phát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biểu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sau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đúng:</a:t>
            </a:r>
            <a:endParaRPr sz="2400">
              <a:latin typeface="Palatino Linotype"/>
              <a:cs typeface="Palatino Linotype"/>
            </a:endParaRPr>
          </a:p>
          <a:p>
            <a:pPr marL="927100" lvl="2" indent="-247015">
              <a:lnSpc>
                <a:spcPct val="100000"/>
              </a:lnSpc>
              <a:spcBef>
                <a:spcPts val="280"/>
              </a:spcBef>
              <a:buClr>
                <a:srgbClr val="89B833"/>
              </a:buClr>
              <a:buSzPct val="70000"/>
              <a:buFont typeface="Wingdings 2"/>
              <a:buChar char=""/>
              <a:tabLst>
                <a:tab pos="927100" algn="l"/>
              </a:tabLst>
            </a:pPr>
            <a:r>
              <a:rPr sz="2000" dirty="0">
                <a:latin typeface="Palatino Linotype"/>
                <a:cs typeface="Palatino Linotype"/>
              </a:rPr>
              <a:t>P</a:t>
            </a:r>
            <a:r>
              <a:rPr sz="2000" spc="-5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Wingdings"/>
                <a:cs typeface="Wingdings"/>
              </a:rPr>
              <a:t>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Palatino Linotype"/>
                <a:cs typeface="Palatino Linotype"/>
              </a:rPr>
              <a:t>Q</a:t>
            </a:r>
            <a:endParaRPr sz="2000">
              <a:latin typeface="Palatino Linotype"/>
              <a:cs typeface="Palatino Linotype"/>
            </a:endParaRPr>
          </a:p>
          <a:p>
            <a:pPr marL="927100" lvl="2" indent="-247015">
              <a:lnSpc>
                <a:spcPct val="100000"/>
              </a:lnSpc>
              <a:spcBef>
                <a:spcPts val="229"/>
              </a:spcBef>
              <a:buClr>
                <a:srgbClr val="89B833"/>
              </a:buClr>
              <a:buSzPct val="70000"/>
              <a:buFont typeface="Wingdings 2"/>
              <a:buChar char=""/>
              <a:tabLst>
                <a:tab pos="927100" algn="l"/>
              </a:tabLst>
            </a:pPr>
            <a:r>
              <a:rPr sz="2000" spc="-50" dirty="0">
                <a:latin typeface="Palatino Linotype"/>
                <a:cs typeface="Palatino Linotype"/>
              </a:rPr>
              <a:t>P</a:t>
            </a:r>
            <a:endParaRPr sz="20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275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Vậy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theo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luật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suy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diễn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MP</a:t>
            </a:r>
            <a:r>
              <a:rPr sz="2400" spc="-8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Q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là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đúng.</a:t>
            </a:r>
            <a:endParaRPr sz="24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275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Nghĩa</a:t>
            </a:r>
            <a:r>
              <a:rPr sz="2400" spc="-1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là: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“Bầu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trời</a:t>
            </a:r>
            <a:r>
              <a:rPr sz="2400" b="1" spc="-4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có</a:t>
            </a:r>
            <a:r>
              <a:rPr sz="2400" b="1" spc="-30" dirty="0">
                <a:latin typeface="Palatino Linotype"/>
                <a:cs typeface="Palatino Linotype"/>
              </a:rPr>
              <a:t> </a:t>
            </a:r>
            <a:r>
              <a:rPr sz="2400" b="1" spc="-10" dirty="0">
                <a:latin typeface="Palatino Linotype"/>
                <a:cs typeface="Palatino Linotype"/>
              </a:rPr>
              <a:t>mây”.</a:t>
            </a:r>
            <a:endParaRPr sz="24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762760"/>
            <a:chOff x="0" y="0"/>
            <a:chExt cx="12192000" cy="17627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171" y="423672"/>
              <a:ext cx="1399793" cy="133883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5171" y="423672"/>
              <a:ext cx="1399793" cy="13388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57171" y="423672"/>
              <a:ext cx="1094994" cy="133883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6900" y="582929"/>
            <a:ext cx="18548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36700" algn="l"/>
              </a:tabLst>
            </a:pPr>
            <a:r>
              <a:rPr sz="4800" dirty="0">
                <a:solidFill>
                  <a:srgbClr val="455F51"/>
                </a:solidFill>
              </a:rPr>
              <a:t>Ví</a:t>
            </a:r>
            <a:r>
              <a:rPr sz="4800" spc="-5" dirty="0">
                <a:solidFill>
                  <a:srgbClr val="455F51"/>
                </a:solidFill>
              </a:rPr>
              <a:t> </a:t>
            </a:r>
            <a:r>
              <a:rPr sz="4800" spc="-25" dirty="0">
                <a:solidFill>
                  <a:srgbClr val="455F51"/>
                </a:solidFill>
              </a:rPr>
              <a:t>dụ</a:t>
            </a:r>
            <a:r>
              <a:rPr sz="4800" dirty="0">
                <a:solidFill>
                  <a:srgbClr val="455F51"/>
                </a:solidFill>
              </a:rPr>
              <a:t>	</a:t>
            </a:r>
            <a:r>
              <a:rPr sz="4800" spc="-50" dirty="0">
                <a:solidFill>
                  <a:srgbClr val="455F51"/>
                </a:solidFill>
              </a:rPr>
              <a:t>2</a:t>
            </a:r>
            <a:endParaRPr sz="48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67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340" y="1855632"/>
            <a:ext cx="7189470" cy="298450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470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b="1" dirty="0">
                <a:latin typeface="Palatino Linotype"/>
                <a:cs typeface="Palatino Linotype"/>
              </a:rPr>
              <a:t>Mệnh</a:t>
            </a:r>
            <a:r>
              <a:rPr sz="2800" b="1" spc="-50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đề</a:t>
            </a:r>
            <a:r>
              <a:rPr sz="2800" b="1" spc="-60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thực</a:t>
            </a:r>
            <a:r>
              <a:rPr sz="2800" b="1" spc="-45" dirty="0">
                <a:latin typeface="Palatino Linotype"/>
                <a:cs typeface="Palatino Linotype"/>
              </a:rPr>
              <a:t> </a:t>
            </a:r>
            <a:r>
              <a:rPr sz="2800" b="1" spc="-25" dirty="0">
                <a:latin typeface="Palatino Linotype"/>
                <a:cs typeface="Palatino Linotype"/>
              </a:rPr>
              <a:t>tế</a:t>
            </a:r>
            <a:endParaRPr sz="28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320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“Nếu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NAM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có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nhiều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tiền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thì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NAM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đi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mua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sắm”</a:t>
            </a:r>
            <a:endParaRPr sz="24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285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“Nam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KHÔNG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đi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mua</a:t>
            </a:r>
            <a:r>
              <a:rPr sz="2400" spc="-6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sắm”.</a:t>
            </a:r>
            <a:endParaRPr sz="24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300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Vậy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Nam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KHÔNG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có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nhiều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tiền.</a:t>
            </a:r>
            <a:endParaRPr sz="24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300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b="1" dirty="0">
                <a:latin typeface="Palatino Linotype"/>
                <a:cs typeface="Palatino Linotype"/>
              </a:rPr>
              <a:t>Mệnh</a:t>
            </a:r>
            <a:r>
              <a:rPr sz="2800" b="1" spc="-45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đề</a:t>
            </a:r>
            <a:r>
              <a:rPr sz="2800" b="1" spc="-55" dirty="0">
                <a:latin typeface="Palatino Linotype"/>
                <a:cs typeface="Palatino Linotype"/>
              </a:rPr>
              <a:t> </a:t>
            </a:r>
            <a:r>
              <a:rPr sz="2800" b="1" spc="-10" dirty="0">
                <a:latin typeface="Palatino Linotype"/>
                <a:cs typeface="Palatino Linotype"/>
              </a:rPr>
              <a:t>logic</a:t>
            </a:r>
            <a:endParaRPr sz="28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315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P=“Nam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có</a:t>
            </a:r>
            <a:r>
              <a:rPr sz="2400" spc="-5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nhiều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tiền”;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Q=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“Nam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đi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mua</a:t>
            </a:r>
            <a:r>
              <a:rPr sz="2400" spc="-65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sắm”.</a:t>
            </a:r>
            <a:endParaRPr sz="24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290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spc="-25" dirty="0">
                <a:latin typeface="Palatino Linotype"/>
                <a:cs typeface="Palatino Linotype"/>
              </a:rPr>
              <a:t>…?</a:t>
            </a:r>
            <a:endParaRPr sz="24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762760"/>
            <a:chOff x="0" y="0"/>
            <a:chExt cx="12192000" cy="17627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171" y="423672"/>
              <a:ext cx="1399793" cy="133883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5171" y="423672"/>
              <a:ext cx="1399793" cy="13388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57171" y="423672"/>
              <a:ext cx="1094994" cy="133883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6900" y="582929"/>
            <a:ext cx="18548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36700" algn="l"/>
              </a:tabLst>
            </a:pPr>
            <a:r>
              <a:rPr sz="4800" dirty="0">
                <a:solidFill>
                  <a:srgbClr val="455F51"/>
                </a:solidFill>
              </a:rPr>
              <a:t>Ví</a:t>
            </a:r>
            <a:r>
              <a:rPr sz="4800" spc="-5" dirty="0">
                <a:solidFill>
                  <a:srgbClr val="455F51"/>
                </a:solidFill>
              </a:rPr>
              <a:t> </a:t>
            </a:r>
            <a:r>
              <a:rPr sz="4800" spc="-25" dirty="0">
                <a:solidFill>
                  <a:srgbClr val="455F51"/>
                </a:solidFill>
              </a:rPr>
              <a:t>dụ</a:t>
            </a:r>
            <a:r>
              <a:rPr sz="4800" dirty="0">
                <a:solidFill>
                  <a:srgbClr val="455F51"/>
                </a:solidFill>
              </a:rPr>
              <a:t>	</a:t>
            </a:r>
            <a:r>
              <a:rPr sz="4800" spc="-50" dirty="0">
                <a:solidFill>
                  <a:srgbClr val="455F51"/>
                </a:solidFill>
              </a:rPr>
              <a:t>2</a:t>
            </a:r>
            <a:endParaRPr sz="480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68</a:t>
            </a:fld>
            <a:endParaRPr spc="-25" dirty="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81991" y="4794503"/>
            <a:ext cx="854710" cy="577215"/>
            <a:chOff x="1381991" y="4794503"/>
            <a:chExt cx="854710" cy="577215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1991" y="5026571"/>
              <a:ext cx="91218" cy="9049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56944" y="4794503"/>
              <a:ext cx="518921" cy="56464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00784" y="4806695"/>
              <a:ext cx="535686" cy="564642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5366003" y="5081015"/>
            <a:ext cx="950594" cy="692785"/>
            <a:chOff x="5366003" y="5081015"/>
            <a:chExt cx="950594" cy="692785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66003" y="5081015"/>
              <a:ext cx="622553" cy="67741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58611" y="5096255"/>
              <a:ext cx="657606" cy="67741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88340" y="1869389"/>
            <a:ext cx="7189470" cy="4051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95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b="1" dirty="0">
                <a:latin typeface="Palatino Linotype"/>
                <a:cs typeface="Palatino Linotype"/>
              </a:rPr>
              <a:t>Mệnh</a:t>
            </a:r>
            <a:r>
              <a:rPr sz="2800" b="1" spc="-50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đề</a:t>
            </a:r>
            <a:r>
              <a:rPr sz="2800" b="1" spc="-60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thực</a:t>
            </a:r>
            <a:r>
              <a:rPr sz="2800" b="1" spc="-45" dirty="0">
                <a:latin typeface="Palatino Linotype"/>
                <a:cs typeface="Palatino Linotype"/>
              </a:rPr>
              <a:t> </a:t>
            </a:r>
            <a:r>
              <a:rPr sz="2800" b="1" spc="-25" dirty="0">
                <a:latin typeface="Palatino Linotype"/>
                <a:cs typeface="Palatino Linotype"/>
              </a:rPr>
              <a:t>tế</a:t>
            </a:r>
            <a:endParaRPr sz="28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20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“Nếu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NAM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có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nhiều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tiền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thì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NAM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đi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mua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sắm”</a:t>
            </a:r>
            <a:endParaRPr sz="24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“Nam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KHÔNG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đi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mua</a:t>
            </a:r>
            <a:r>
              <a:rPr sz="2400" spc="-6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sắm”.</a:t>
            </a:r>
            <a:endParaRPr sz="2400">
              <a:latin typeface="Palatino Linotype"/>
              <a:cs typeface="Palatino Linotype"/>
            </a:endParaRPr>
          </a:p>
          <a:p>
            <a:pPr marL="652780" lvl="1" indent="-247015">
              <a:lnSpc>
                <a:spcPts val="2870"/>
              </a:lnSpc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Vậy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Nam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KHÔNG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có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nhiều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tiền.</a:t>
            </a:r>
            <a:endParaRPr sz="2400">
              <a:latin typeface="Palatino Linotype"/>
              <a:cs typeface="Palatino Linotype"/>
            </a:endParaRPr>
          </a:p>
          <a:p>
            <a:pPr marL="286385" indent="-273685">
              <a:lnSpc>
                <a:spcPts val="3350"/>
              </a:lnSpc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b="1" dirty="0">
                <a:latin typeface="Palatino Linotype"/>
                <a:cs typeface="Palatino Linotype"/>
              </a:rPr>
              <a:t>Mệnh</a:t>
            </a:r>
            <a:r>
              <a:rPr sz="2800" b="1" spc="-50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đề</a:t>
            </a:r>
            <a:r>
              <a:rPr sz="2800" b="1" spc="-60" dirty="0">
                <a:latin typeface="Palatino Linotype"/>
                <a:cs typeface="Palatino Linotype"/>
              </a:rPr>
              <a:t> </a:t>
            </a:r>
            <a:r>
              <a:rPr sz="2800" b="1" spc="-10" dirty="0">
                <a:latin typeface="Palatino Linotype"/>
                <a:cs typeface="Palatino Linotype"/>
              </a:rPr>
              <a:t>logic</a:t>
            </a:r>
            <a:endParaRPr sz="28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20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P=“Nam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có</a:t>
            </a:r>
            <a:r>
              <a:rPr sz="2400" spc="-5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nhiều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tiền”;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Q=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“Nam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đi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mua</a:t>
            </a:r>
            <a:r>
              <a:rPr sz="2400" spc="-65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sắm”.</a:t>
            </a:r>
            <a:endParaRPr sz="24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spc="-55" dirty="0">
                <a:latin typeface="Palatino Linotype"/>
                <a:cs typeface="Palatino Linotype"/>
              </a:rPr>
              <a:t>Ta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có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hai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phát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biểu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sau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đúng:</a:t>
            </a:r>
            <a:endParaRPr sz="2400">
              <a:latin typeface="Palatino Linotype"/>
              <a:cs typeface="Palatino Linotype"/>
            </a:endParaRPr>
          </a:p>
          <a:p>
            <a:pPr marL="927100" lvl="2" indent="-247015">
              <a:lnSpc>
                <a:spcPct val="100000"/>
              </a:lnSpc>
              <a:spcBef>
                <a:spcPts val="15"/>
              </a:spcBef>
              <a:buClr>
                <a:srgbClr val="89B833"/>
              </a:buClr>
              <a:buSzPct val="70000"/>
              <a:buFont typeface="Wingdings 2"/>
              <a:buChar char=""/>
              <a:tabLst>
                <a:tab pos="927100" algn="l"/>
              </a:tabLst>
            </a:pPr>
            <a:r>
              <a:rPr sz="2000" dirty="0">
                <a:latin typeface="Palatino Linotype"/>
                <a:cs typeface="Palatino Linotype"/>
              </a:rPr>
              <a:t>P</a:t>
            </a:r>
            <a:r>
              <a:rPr sz="2000" dirty="0">
                <a:latin typeface="Wingdings"/>
                <a:cs typeface="Wingdings"/>
              </a:rPr>
              <a:t>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Palatino Linotype"/>
                <a:cs typeface="Palatino Linotype"/>
              </a:rPr>
              <a:t>Q</a:t>
            </a:r>
            <a:endParaRPr sz="2000">
              <a:latin typeface="Palatino Linotype"/>
              <a:cs typeface="Palatino Linotype"/>
            </a:endParaRPr>
          </a:p>
          <a:p>
            <a:pPr marL="927100" lvl="2" indent="-247015">
              <a:lnSpc>
                <a:spcPts val="2395"/>
              </a:lnSpc>
              <a:buClr>
                <a:srgbClr val="89B833"/>
              </a:buClr>
              <a:buSzPct val="70000"/>
              <a:buFont typeface="Wingdings 2"/>
              <a:buChar char=""/>
              <a:tabLst>
                <a:tab pos="927100" algn="l"/>
              </a:tabLst>
            </a:pPr>
            <a:r>
              <a:rPr sz="2000" dirty="0">
                <a:latin typeface="Symbol"/>
                <a:cs typeface="Symbol"/>
              </a:rPr>
              <a:t>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Palatino Linotype"/>
                <a:cs typeface="Palatino Linotype"/>
              </a:rPr>
              <a:t>Q</a:t>
            </a:r>
            <a:endParaRPr sz="2000">
              <a:latin typeface="Palatino Linotype"/>
              <a:cs typeface="Palatino Linotype"/>
            </a:endParaRPr>
          </a:p>
          <a:p>
            <a:pPr marL="652780" lvl="1" indent="-247015">
              <a:lnSpc>
                <a:spcPts val="2875"/>
              </a:lnSpc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  <a:tab pos="4868545" algn="l"/>
              </a:tabLst>
            </a:pPr>
            <a:r>
              <a:rPr sz="2400" dirty="0">
                <a:latin typeface="Palatino Linotype"/>
                <a:cs typeface="Palatino Linotype"/>
              </a:rPr>
              <a:t>Vậy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theo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luật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suy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diễn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FF0000"/>
                </a:solidFill>
                <a:latin typeface="Palatino Linotype"/>
                <a:cs typeface="Palatino Linotype"/>
              </a:rPr>
              <a:t>????</a:t>
            </a:r>
            <a:r>
              <a:rPr sz="2400" spc="-6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400" spc="-50" dirty="0">
                <a:latin typeface="Wingdings"/>
                <a:cs typeface="Wingdings"/>
              </a:rPr>
              <a:t>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Symbol"/>
                <a:cs typeface="Symbol"/>
              </a:rPr>
              <a:t>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P</a:t>
            </a:r>
            <a:r>
              <a:rPr sz="2400" spc="-6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là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đúng.</a:t>
            </a:r>
            <a:endParaRPr sz="24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Nghĩa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là: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“Nam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KHÔNG</a:t>
            </a:r>
            <a:r>
              <a:rPr sz="2400" b="1" spc="-4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có</a:t>
            </a:r>
            <a:r>
              <a:rPr sz="2400" b="1" spc="-5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nhiều</a:t>
            </a:r>
            <a:r>
              <a:rPr sz="2400" b="1" spc="-55" dirty="0">
                <a:latin typeface="Palatino Linotype"/>
                <a:cs typeface="Palatino Linotype"/>
              </a:rPr>
              <a:t> </a:t>
            </a:r>
            <a:r>
              <a:rPr sz="2400" b="1" spc="-10" dirty="0">
                <a:latin typeface="Palatino Linotype"/>
                <a:cs typeface="Palatino Linotype"/>
              </a:rPr>
              <a:t>tiền”</a:t>
            </a:r>
            <a:endParaRPr sz="24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762760"/>
            <a:chOff x="0" y="0"/>
            <a:chExt cx="12192000" cy="17627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171" y="423672"/>
              <a:ext cx="1399793" cy="133883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5171" y="423672"/>
              <a:ext cx="1399793" cy="13388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57171" y="423672"/>
              <a:ext cx="1094994" cy="133883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6900" y="582929"/>
            <a:ext cx="18548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36700" algn="l"/>
              </a:tabLst>
            </a:pPr>
            <a:r>
              <a:rPr sz="4800" dirty="0">
                <a:solidFill>
                  <a:srgbClr val="455F51"/>
                </a:solidFill>
              </a:rPr>
              <a:t>Ví</a:t>
            </a:r>
            <a:r>
              <a:rPr sz="4800" spc="-5" dirty="0">
                <a:solidFill>
                  <a:srgbClr val="455F51"/>
                </a:solidFill>
              </a:rPr>
              <a:t> </a:t>
            </a:r>
            <a:r>
              <a:rPr sz="4800" spc="-25" dirty="0">
                <a:solidFill>
                  <a:srgbClr val="455F51"/>
                </a:solidFill>
              </a:rPr>
              <a:t>dụ</a:t>
            </a:r>
            <a:r>
              <a:rPr sz="4800" dirty="0">
                <a:solidFill>
                  <a:srgbClr val="455F51"/>
                </a:solidFill>
              </a:rPr>
              <a:t>	</a:t>
            </a:r>
            <a:r>
              <a:rPr sz="4800" spc="-50" dirty="0">
                <a:solidFill>
                  <a:srgbClr val="455F51"/>
                </a:solidFill>
              </a:rPr>
              <a:t>2</a:t>
            </a:r>
            <a:endParaRPr sz="480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69</a:t>
            </a:fld>
            <a:endParaRPr spc="-25" dirty="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81991" y="4794503"/>
            <a:ext cx="854710" cy="577215"/>
            <a:chOff x="1381991" y="4794503"/>
            <a:chExt cx="854710" cy="577215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1991" y="5026571"/>
              <a:ext cx="91218" cy="9049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56944" y="4794503"/>
              <a:ext cx="518921" cy="56464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00784" y="4806695"/>
              <a:ext cx="535686" cy="564642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5301996" y="5081015"/>
            <a:ext cx="950594" cy="692785"/>
            <a:chOff x="5301996" y="5081015"/>
            <a:chExt cx="950594" cy="692785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01996" y="5081015"/>
              <a:ext cx="622553" cy="67741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96128" y="5096255"/>
              <a:ext cx="656081" cy="67741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88340" y="1869389"/>
            <a:ext cx="7189470" cy="4051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95"/>
              </a:spcBef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b="1" dirty="0">
                <a:latin typeface="Palatino Linotype"/>
                <a:cs typeface="Palatino Linotype"/>
              </a:rPr>
              <a:t>Mệnh</a:t>
            </a:r>
            <a:r>
              <a:rPr sz="2800" b="1" spc="-50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đề</a:t>
            </a:r>
            <a:r>
              <a:rPr sz="2800" b="1" spc="-60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thực</a:t>
            </a:r>
            <a:r>
              <a:rPr sz="2800" b="1" spc="-45" dirty="0">
                <a:latin typeface="Palatino Linotype"/>
                <a:cs typeface="Palatino Linotype"/>
              </a:rPr>
              <a:t> </a:t>
            </a:r>
            <a:r>
              <a:rPr sz="2800" b="1" spc="-25" dirty="0">
                <a:latin typeface="Palatino Linotype"/>
                <a:cs typeface="Palatino Linotype"/>
              </a:rPr>
              <a:t>tế</a:t>
            </a:r>
            <a:endParaRPr sz="28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20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“Nếu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NAM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có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nhiều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tiền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thì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NAM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đi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mua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sắm”</a:t>
            </a:r>
            <a:endParaRPr sz="24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“Nam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KHÔNG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đi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mua</a:t>
            </a:r>
            <a:r>
              <a:rPr sz="2400" spc="-6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sắm”.</a:t>
            </a:r>
            <a:endParaRPr sz="2400">
              <a:latin typeface="Palatino Linotype"/>
              <a:cs typeface="Palatino Linotype"/>
            </a:endParaRPr>
          </a:p>
          <a:p>
            <a:pPr marL="652780" lvl="1" indent="-247015">
              <a:lnSpc>
                <a:spcPts val="2870"/>
              </a:lnSpc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Vậy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Nam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KHÔNG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có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nhiều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tiền.</a:t>
            </a:r>
            <a:endParaRPr sz="2400">
              <a:latin typeface="Palatino Linotype"/>
              <a:cs typeface="Palatino Linotype"/>
            </a:endParaRPr>
          </a:p>
          <a:p>
            <a:pPr marL="286385" indent="-273685">
              <a:lnSpc>
                <a:spcPts val="3350"/>
              </a:lnSpc>
              <a:buClr>
                <a:srgbClr val="C0CF39"/>
              </a:buClr>
              <a:buSzPct val="94642"/>
              <a:buFont typeface="Wingdings 2"/>
              <a:buChar char=""/>
              <a:tabLst>
                <a:tab pos="286385" algn="l"/>
              </a:tabLst>
            </a:pPr>
            <a:r>
              <a:rPr sz="2800" b="1" dirty="0">
                <a:latin typeface="Palatino Linotype"/>
                <a:cs typeface="Palatino Linotype"/>
              </a:rPr>
              <a:t>Mệnh</a:t>
            </a:r>
            <a:r>
              <a:rPr sz="2800" b="1" spc="-50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đề</a:t>
            </a:r>
            <a:r>
              <a:rPr sz="2800" b="1" spc="-60" dirty="0">
                <a:latin typeface="Palatino Linotype"/>
                <a:cs typeface="Palatino Linotype"/>
              </a:rPr>
              <a:t> </a:t>
            </a:r>
            <a:r>
              <a:rPr sz="2800" b="1" spc="-10" dirty="0">
                <a:latin typeface="Palatino Linotype"/>
                <a:cs typeface="Palatino Linotype"/>
              </a:rPr>
              <a:t>logic</a:t>
            </a:r>
            <a:endParaRPr sz="28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spcBef>
                <a:spcPts val="20"/>
              </a:spcBef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P=“Nam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có</a:t>
            </a:r>
            <a:r>
              <a:rPr sz="2400" spc="-5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nhiều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tiền”;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Q=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“Nam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đi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mua</a:t>
            </a:r>
            <a:r>
              <a:rPr sz="2400" spc="-65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sắm”.</a:t>
            </a:r>
            <a:endParaRPr sz="24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spc="-55" dirty="0">
                <a:latin typeface="Palatino Linotype"/>
                <a:cs typeface="Palatino Linotype"/>
              </a:rPr>
              <a:t>Ta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có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hai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phát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biểu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sau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đúng:</a:t>
            </a:r>
            <a:endParaRPr sz="2400">
              <a:latin typeface="Palatino Linotype"/>
              <a:cs typeface="Palatino Linotype"/>
            </a:endParaRPr>
          </a:p>
          <a:p>
            <a:pPr marL="927100" lvl="2" indent="-247015">
              <a:lnSpc>
                <a:spcPct val="100000"/>
              </a:lnSpc>
              <a:spcBef>
                <a:spcPts val="15"/>
              </a:spcBef>
              <a:buClr>
                <a:srgbClr val="89B833"/>
              </a:buClr>
              <a:buSzPct val="70000"/>
              <a:buFont typeface="Wingdings 2"/>
              <a:buChar char=""/>
              <a:tabLst>
                <a:tab pos="927100" algn="l"/>
              </a:tabLst>
            </a:pPr>
            <a:r>
              <a:rPr sz="2000" dirty="0">
                <a:latin typeface="Palatino Linotype"/>
                <a:cs typeface="Palatino Linotype"/>
              </a:rPr>
              <a:t>P</a:t>
            </a:r>
            <a:r>
              <a:rPr sz="2000" dirty="0">
                <a:latin typeface="Wingdings"/>
                <a:cs typeface="Wingdings"/>
              </a:rPr>
              <a:t>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Palatino Linotype"/>
                <a:cs typeface="Palatino Linotype"/>
              </a:rPr>
              <a:t>Q</a:t>
            </a:r>
            <a:endParaRPr sz="2000">
              <a:latin typeface="Palatino Linotype"/>
              <a:cs typeface="Palatino Linotype"/>
            </a:endParaRPr>
          </a:p>
          <a:p>
            <a:pPr marL="927100" lvl="2" indent="-247015">
              <a:lnSpc>
                <a:spcPts val="2395"/>
              </a:lnSpc>
              <a:buClr>
                <a:srgbClr val="89B833"/>
              </a:buClr>
              <a:buSzPct val="70000"/>
              <a:buFont typeface="Wingdings 2"/>
              <a:buChar char=""/>
              <a:tabLst>
                <a:tab pos="927100" algn="l"/>
              </a:tabLst>
            </a:pPr>
            <a:r>
              <a:rPr sz="2000" dirty="0">
                <a:latin typeface="Symbol"/>
                <a:cs typeface="Symbol"/>
              </a:rPr>
              <a:t>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Palatino Linotype"/>
                <a:cs typeface="Palatino Linotype"/>
              </a:rPr>
              <a:t>Q</a:t>
            </a:r>
            <a:endParaRPr sz="2000">
              <a:latin typeface="Palatino Linotype"/>
              <a:cs typeface="Palatino Linotype"/>
            </a:endParaRPr>
          </a:p>
          <a:p>
            <a:pPr marL="652780" lvl="1" indent="-247015">
              <a:lnSpc>
                <a:spcPts val="2875"/>
              </a:lnSpc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  <a:tab pos="4804410" algn="l"/>
              </a:tabLst>
            </a:pPr>
            <a:r>
              <a:rPr sz="2400" dirty="0">
                <a:latin typeface="Palatino Linotype"/>
                <a:cs typeface="Palatino Linotype"/>
              </a:rPr>
              <a:t>Vậy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theo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luật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FF0000"/>
                </a:solidFill>
                <a:latin typeface="Palatino Linotype"/>
                <a:cs typeface="Palatino Linotype"/>
              </a:rPr>
              <a:t>suy</a:t>
            </a:r>
            <a:r>
              <a:rPr sz="2400" spc="-5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FF0000"/>
                </a:solidFill>
                <a:latin typeface="Palatino Linotype"/>
                <a:cs typeface="Palatino Linotype"/>
              </a:rPr>
              <a:t>diễn</a:t>
            </a:r>
            <a:r>
              <a:rPr sz="2400" spc="-4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FF0000"/>
                </a:solidFill>
                <a:latin typeface="Palatino Linotype"/>
                <a:cs typeface="Palatino Linotype"/>
              </a:rPr>
              <a:t>MT</a:t>
            </a:r>
            <a:r>
              <a:rPr sz="2400" spc="-4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400" spc="-50" dirty="0">
                <a:latin typeface="Wingdings"/>
                <a:cs typeface="Wingdings"/>
              </a:rPr>
              <a:t>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Symbol"/>
                <a:cs typeface="Symbol"/>
              </a:rPr>
              <a:t>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P</a:t>
            </a:r>
            <a:r>
              <a:rPr sz="2400" spc="-8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là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đúng.</a:t>
            </a:r>
            <a:endParaRPr sz="2400">
              <a:latin typeface="Palatino Linotype"/>
              <a:cs typeface="Palatino Linotype"/>
            </a:endParaRPr>
          </a:p>
          <a:p>
            <a:pPr marL="652780" lvl="1" indent="-247015">
              <a:lnSpc>
                <a:spcPct val="100000"/>
              </a:lnSpc>
              <a:buClr>
                <a:srgbClr val="539E39"/>
              </a:buClr>
              <a:buSzPct val="85416"/>
              <a:buFont typeface="Wingdings 2"/>
              <a:buChar char=""/>
              <a:tabLst>
                <a:tab pos="652780" algn="l"/>
              </a:tabLst>
            </a:pPr>
            <a:r>
              <a:rPr sz="2400" dirty="0">
                <a:latin typeface="Palatino Linotype"/>
                <a:cs typeface="Palatino Linotype"/>
              </a:rPr>
              <a:t>Nghĩa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là: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“Nam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KHÔNG</a:t>
            </a:r>
            <a:r>
              <a:rPr sz="2400" b="1" spc="-4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có</a:t>
            </a:r>
            <a:r>
              <a:rPr sz="2400" b="1" spc="-5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nhiều</a:t>
            </a:r>
            <a:r>
              <a:rPr sz="2400" b="1" spc="-55" dirty="0">
                <a:latin typeface="Palatino Linotype"/>
                <a:cs typeface="Palatino Linotype"/>
              </a:rPr>
              <a:t> </a:t>
            </a:r>
            <a:r>
              <a:rPr sz="2400" b="1" spc="-10" dirty="0">
                <a:latin typeface="Palatino Linotype"/>
                <a:cs typeface="Palatino Linotype"/>
              </a:rPr>
              <a:t>tiền”</a:t>
            </a:r>
            <a:endParaRPr sz="24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4277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100"/>
              </a:spcBef>
            </a:pPr>
            <a:r>
              <a:rPr dirty="0"/>
              <a:t>Ví</a:t>
            </a:r>
            <a:r>
              <a:rPr spc="-15" dirty="0"/>
              <a:t> </a:t>
            </a:r>
            <a:r>
              <a:rPr dirty="0"/>
              <a:t>dụ</a:t>
            </a:r>
            <a:r>
              <a:rPr spc="-5" dirty="0"/>
              <a:t> </a:t>
            </a:r>
            <a:r>
              <a:rPr spc="-50" dirty="0"/>
              <a:t>3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70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941702"/>
            <a:ext cx="9921875" cy="196977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286385" marR="5080" indent="-274320">
              <a:lnSpc>
                <a:spcPts val="4750"/>
              </a:lnSpc>
              <a:spcBef>
                <a:spcPts val="295"/>
              </a:spcBef>
              <a:buClr>
                <a:srgbClr val="C0CF39"/>
              </a:buClr>
              <a:buSzPct val="92500"/>
              <a:buFont typeface="Wingdings 2"/>
              <a:buChar char=""/>
              <a:tabLst>
                <a:tab pos="286385" algn="l"/>
              </a:tabLst>
            </a:pPr>
            <a:r>
              <a:rPr sz="4000" spc="-120" dirty="0">
                <a:latin typeface="Palatino Linotype"/>
                <a:cs typeface="Palatino Linotype"/>
              </a:rPr>
              <a:t>Ta</a:t>
            </a:r>
            <a:r>
              <a:rPr sz="4000" spc="-130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Palatino Linotype"/>
                <a:cs typeface="Palatino Linotype"/>
              </a:rPr>
              <a:t>có</a:t>
            </a:r>
            <a:r>
              <a:rPr sz="4000" spc="-95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Palatino Linotype"/>
                <a:cs typeface="Palatino Linotype"/>
              </a:rPr>
              <a:t>các</a:t>
            </a:r>
            <a:r>
              <a:rPr sz="4000" spc="-70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Palatino Linotype"/>
                <a:cs typeface="Palatino Linotype"/>
              </a:rPr>
              <a:t>biểu</a:t>
            </a:r>
            <a:r>
              <a:rPr sz="4000" spc="-70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Palatino Linotype"/>
                <a:cs typeface="Palatino Linotype"/>
              </a:rPr>
              <a:t>thức</a:t>
            </a:r>
            <a:r>
              <a:rPr sz="4000" spc="-75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Palatino Linotype"/>
                <a:cs typeface="Palatino Linotype"/>
              </a:rPr>
              <a:t>sau:</a:t>
            </a:r>
            <a:r>
              <a:rPr sz="4000" spc="-204" dirty="0">
                <a:latin typeface="Palatino Linotype"/>
                <a:cs typeface="Palatino Linotype"/>
              </a:rPr>
              <a:t> </a:t>
            </a:r>
            <a:r>
              <a:rPr sz="4000" spc="-85" dirty="0">
                <a:latin typeface="Palatino Linotype"/>
                <a:cs typeface="Palatino Linotype"/>
              </a:rPr>
              <a:t>AvB,</a:t>
            </a:r>
            <a:r>
              <a:rPr sz="4000" spc="-165" dirty="0">
                <a:latin typeface="Palatino Linotype"/>
                <a:cs typeface="Palatino Linotype"/>
              </a:rPr>
              <a:t> </a:t>
            </a:r>
            <a:r>
              <a:rPr sz="4000" spc="-35" dirty="0">
                <a:latin typeface="Palatino Linotype"/>
                <a:cs typeface="Palatino Linotype"/>
              </a:rPr>
              <a:t>AvC,và</a:t>
            </a:r>
            <a:r>
              <a:rPr sz="4000" spc="-55" dirty="0">
                <a:latin typeface="Palatino Linotype"/>
                <a:cs typeface="Palatino Linotype"/>
              </a:rPr>
              <a:t> </a:t>
            </a:r>
            <a:r>
              <a:rPr sz="4000" spc="-30" dirty="0">
                <a:latin typeface="Symbol"/>
                <a:cs typeface="Symbol"/>
              </a:rPr>
              <a:t></a:t>
            </a:r>
            <a:r>
              <a:rPr sz="4000" spc="-30" dirty="0">
                <a:latin typeface="Palatino Linotype"/>
                <a:cs typeface="Palatino Linotype"/>
              </a:rPr>
              <a:t>A</a:t>
            </a:r>
            <a:r>
              <a:rPr sz="4000" spc="-225" dirty="0">
                <a:latin typeface="Palatino Linotype"/>
                <a:cs typeface="Palatino Linotype"/>
              </a:rPr>
              <a:t> </a:t>
            </a:r>
            <a:r>
              <a:rPr sz="4000" spc="-25" dirty="0">
                <a:latin typeface="Palatino Linotype"/>
                <a:cs typeface="Palatino Linotype"/>
              </a:rPr>
              <a:t>là </a:t>
            </a:r>
            <a:r>
              <a:rPr sz="4000" spc="-20" dirty="0">
                <a:latin typeface="Palatino Linotype"/>
                <a:cs typeface="Palatino Linotype"/>
              </a:rPr>
              <a:t>TRUE</a:t>
            </a:r>
            <a:endParaRPr sz="4000">
              <a:latin typeface="Palatino Linotype"/>
              <a:cs typeface="Palatino Linotype"/>
            </a:endParaRPr>
          </a:p>
          <a:p>
            <a:pPr marL="286385" indent="-273685">
              <a:lnSpc>
                <a:spcPct val="100000"/>
              </a:lnSpc>
              <a:spcBef>
                <a:spcPts val="810"/>
              </a:spcBef>
              <a:buClr>
                <a:srgbClr val="C0CF39"/>
              </a:buClr>
              <a:buSzPct val="92500"/>
              <a:buFont typeface="Wingdings 2"/>
              <a:buChar char=""/>
              <a:tabLst>
                <a:tab pos="286385" algn="l"/>
              </a:tabLst>
            </a:pPr>
            <a:r>
              <a:rPr sz="4000" dirty="0">
                <a:latin typeface="Palatino Linotype"/>
                <a:cs typeface="Palatino Linotype"/>
              </a:rPr>
              <a:t>Chứng</a:t>
            </a:r>
            <a:r>
              <a:rPr sz="4000" spc="-70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Palatino Linotype"/>
                <a:cs typeface="Palatino Linotype"/>
              </a:rPr>
              <a:t>minh</a:t>
            </a:r>
            <a:r>
              <a:rPr sz="4000" spc="-65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Palatino Linotype"/>
                <a:cs typeface="Palatino Linotype"/>
              </a:rPr>
              <a:t>B^C</a:t>
            </a:r>
            <a:r>
              <a:rPr sz="4000" spc="-55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Palatino Linotype"/>
                <a:cs typeface="Palatino Linotype"/>
              </a:rPr>
              <a:t>có</a:t>
            </a:r>
            <a:r>
              <a:rPr sz="4000" spc="-55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Palatino Linotype"/>
                <a:cs typeface="Palatino Linotype"/>
              </a:rPr>
              <a:t>trị</a:t>
            </a:r>
            <a:r>
              <a:rPr sz="4000" spc="-75" dirty="0">
                <a:latin typeface="Palatino Linotype"/>
                <a:cs typeface="Palatino Linotype"/>
              </a:rPr>
              <a:t> </a:t>
            </a:r>
            <a:r>
              <a:rPr sz="4000" spc="-20" dirty="0">
                <a:latin typeface="Palatino Linotype"/>
                <a:cs typeface="Palatino Linotype"/>
              </a:rPr>
              <a:t>TRUE</a:t>
            </a:r>
            <a:endParaRPr sz="40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559434"/>
            <a:ext cx="20834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Ví</a:t>
            </a:r>
            <a:r>
              <a:rPr spc="-10" dirty="0"/>
              <a:t> </a:t>
            </a:r>
            <a:r>
              <a:rPr dirty="0"/>
              <a:t>dụ</a:t>
            </a:r>
            <a:r>
              <a:rPr spc="5" dirty="0"/>
              <a:t> </a:t>
            </a:r>
            <a:r>
              <a:rPr spc="-50" dirty="0"/>
              <a:t>3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71</a:t>
            </a:fld>
            <a:endParaRPr spc="-25" dirty="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966912" y="1585912"/>
          <a:ext cx="8229600" cy="4591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910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36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36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36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36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36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spc="-25" dirty="0">
                          <a:latin typeface="Times New Roman"/>
                          <a:cs typeface="Times New Roman"/>
                        </a:rPr>
                        <a:t>AvB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3600" spc="-25" dirty="0">
                          <a:latin typeface="Times New Roman"/>
                          <a:cs typeface="Times New Roman"/>
                        </a:rPr>
                        <a:t>AvC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3600" spc="-25" dirty="0">
                          <a:latin typeface="Symbol"/>
                          <a:cs typeface="Symbol"/>
                        </a:rPr>
                        <a:t></a:t>
                      </a:r>
                      <a:r>
                        <a:rPr sz="3600" spc="-25" dirty="0">
                          <a:latin typeface="Times New Roman"/>
                          <a:cs typeface="Times New Roman"/>
                        </a:rPr>
                        <a:t>A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3600" spc="-5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3600" spc="-25" dirty="0">
                          <a:latin typeface="Times New Roman"/>
                          <a:cs typeface="Times New Roman"/>
                        </a:rPr>
                        <a:t>...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3600" spc="-25" dirty="0">
                          <a:latin typeface="Times New Roman"/>
                          <a:cs typeface="Times New Roman"/>
                        </a:rPr>
                        <a:t>B^C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just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3600" spc="-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(tiên</a:t>
                      </a:r>
                      <a:r>
                        <a:rPr sz="3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spc="-20" dirty="0">
                          <a:latin typeface="Times New Roman"/>
                          <a:cs typeface="Times New Roman"/>
                        </a:rPr>
                        <a:t>đề).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92075" marR="3307715" algn="just">
                        <a:lnSpc>
                          <a:spcPct val="120000"/>
                        </a:lnSpc>
                        <a:spcBef>
                          <a:spcPts val="5"/>
                        </a:spcBef>
                      </a:pPr>
                      <a:r>
                        <a:rPr sz="36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3600" spc="-1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(tiên</a:t>
                      </a:r>
                      <a:r>
                        <a:rPr sz="3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spc="-20" dirty="0">
                          <a:latin typeface="Times New Roman"/>
                          <a:cs typeface="Times New Roman"/>
                        </a:rPr>
                        <a:t>đề).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3600" spc="-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(tiên</a:t>
                      </a:r>
                      <a:r>
                        <a:rPr sz="3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spc="-20" dirty="0">
                          <a:latin typeface="Times New Roman"/>
                          <a:cs typeface="Times New Roman"/>
                        </a:rPr>
                        <a:t>đề).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92075" marR="675640" algn="just">
                        <a:lnSpc>
                          <a:spcPct val="120000"/>
                        </a:lnSpc>
                      </a:pPr>
                      <a:r>
                        <a:rPr sz="3600" dirty="0">
                          <a:latin typeface="Times New Roman"/>
                          <a:cs typeface="Times New Roman"/>
                        </a:rPr>
                        <a:t>1,3,</a:t>
                      </a:r>
                      <a:r>
                        <a:rPr sz="3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tam</a:t>
                      </a:r>
                      <a:r>
                        <a:rPr sz="3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đoạn</a:t>
                      </a:r>
                      <a:r>
                        <a:rPr sz="3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luận</a:t>
                      </a:r>
                      <a:r>
                        <a:rPr sz="3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spc="-10" dirty="0">
                          <a:latin typeface="Times New Roman"/>
                          <a:cs typeface="Times New Roman"/>
                        </a:rPr>
                        <a:t>tuyển.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2,3,</a:t>
                      </a:r>
                      <a:r>
                        <a:rPr sz="3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tam</a:t>
                      </a:r>
                      <a:r>
                        <a:rPr sz="3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đoạn</a:t>
                      </a:r>
                      <a:r>
                        <a:rPr sz="3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luận</a:t>
                      </a:r>
                      <a:r>
                        <a:rPr sz="3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spc="-10" dirty="0">
                          <a:latin typeface="Times New Roman"/>
                          <a:cs typeface="Times New Roman"/>
                        </a:rPr>
                        <a:t>tuyển.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4,5,</a:t>
                      </a:r>
                      <a:r>
                        <a:rPr sz="3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Luật</a:t>
                      </a:r>
                      <a:r>
                        <a:rPr sz="3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spc="-20" dirty="0">
                          <a:latin typeface="Times New Roman"/>
                          <a:cs typeface="Times New Roman"/>
                        </a:rPr>
                        <a:t>hội.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92075" algn="just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3600" dirty="0">
                          <a:latin typeface="Times New Roman"/>
                          <a:cs typeface="Times New Roman"/>
                        </a:rPr>
                        <a:t>(điều</a:t>
                      </a:r>
                      <a:r>
                        <a:rPr sz="36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phải</a:t>
                      </a:r>
                      <a:r>
                        <a:rPr sz="36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chứng</a:t>
                      </a:r>
                      <a:r>
                        <a:rPr sz="36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spc="-10" dirty="0">
                          <a:latin typeface="Times New Roman"/>
                          <a:cs typeface="Times New Roman"/>
                        </a:rPr>
                        <a:t>minh).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559434"/>
            <a:ext cx="20834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Ví</a:t>
            </a:r>
            <a:r>
              <a:rPr spc="-10" dirty="0"/>
              <a:t> </a:t>
            </a:r>
            <a:r>
              <a:rPr dirty="0"/>
              <a:t>dụ</a:t>
            </a:r>
            <a:r>
              <a:rPr spc="5" dirty="0"/>
              <a:t> </a:t>
            </a:r>
            <a:r>
              <a:rPr spc="-50" dirty="0"/>
              <a:t>3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72</a:t>
            </a:fld>
            <a:endParaRPr spc="-25" dirty="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966912" y="1585912"/>
          <a:ext cx="8229600" cy="4591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910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36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36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36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36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36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spc="-25" dirty="0">
                          <a:latin typeface="Times New Roman"/>
                          <a:cs typeface="Times New Roman"/>
                        </a:rPr>
                        <a:t>AvB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3600" spc="-25" dirty="0">
                          <a:latin typeface="Times New Roman"/>
                          <a:cs typeface="Times New Roman"/>
                        </a:rPr>
                        <a:t>AvC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91440" marR="1137285">
                        <a:lnSpc>
                          <a:spcPct val="119900"/>
                        </a:lnSpc>
                        <a:spcBef>
                          <a:spcPts val="15"/>
                        </a:spcBef>
                      </a:pPr>
                      <a:r>
                        <a:rPr sz="3600" spc="-25" dirty="0">
                          <a:latin typeface="Symbol"/>
                          <a:cs typeface="Symbol"/>
                        </a:rPr>
                        <a:t></a:t>
                      </a:r>
                      <a:r>
                        <a:rPr sz="3600" spc="-25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3600" spc="-50" dirty="0">
                          <a:latin typeface="Times New Roman"/>
                          <a:cs typeface="Times New Roman"/>
                        </a:rPr>
                        <a:t>B C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3600" spc="-25" dirty="0">
                          <a:latin typeface="Times New Roman"/>
                          <a:cs typeface="Times New Roman"/>
                        </a:rPr>
                        <a:t>B^C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just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36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3600" spc="-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(tiên</a:t>
                      </a:r>
                      <a:r>
                        <a:rPr sz="3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spc="-20" dirty="0">
                          <a:latin typeface="Times New Roman"/>
                          <a:cs typeface="Times New Roman"/>
                        </a:rPr>
                        <a:t>đề).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92075" marR="3307715" algn="just">
                        <a:lnSpc>
                          <a:spcPct val="120000"/>
                        </a:lnSpc>
                        <a:spcBef>
                          <a:spcPts val="5"/>
                        </a:spcBef>
                      </a:pPr>
                      <a:r>
                        <a:rPr sz="36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3600" spc="-1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(tiên</a:t>
                      </a:r>
                      <a:r>
                        <a:rPr sz="3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spc="-20" dirty="0">
                          <a:latin typeface="Times New Roman"/>
                          <a:cs typeface="Times New Roman"/>
                        </a:rPr>
                        <a:t>đề).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3600" spc="-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(tiên</a:t>
                      </a:r>
                      <a:r>
                        <a:rPr sz="3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spc="-20" dirty="0">
                          <a:latin typeface="Times New Roman"/>
                          <a:cs typeface="Times New Roman"/>
                        </a:rPr>
                        <a:t>đề).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92075" marR="675640" algn="just">
                        <a:lnSpc>
                          <a:spcPct val="120000"/>
                        </a:lnSpc>
                      </a:pPr>
                      <a:r>
                        <a:rPr sz="3600" dirty="0">
                          <a:latin typeface="Times New Roman"/>
                          <a:cs typeface="Times New Roman"/>
                        </a:rPr>
                        <a:t>1,3,</a:t>
                      </a:r>
                      <a:r>
                        <a:rPr sz="3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tam</a:t>
                      </a:r>
                      <a:r>
                        <a:rPr sz="3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đoạn</a:t>
                      </a:r>
                      <a:r>
                        <a:rPr sz="3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luận</a:t>
                      </a:r>
                      <a:r>
                        <a:rPr sz="3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spc="-10" dirty="0">
                          <a:latin typeface="Times New Roman"/>
                          <a:cs typeface="Times New Roman"/>
                        </a:rPr>
                        <a:t>tuyển.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2,3,</a:t>
                      </a:r>
                      <a:r>
                        <a:rPr sz="3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tam</a:t>
                      </a:r>
                      <a:r>
                        <a:rPr sz="3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đoạn</a:t>
                      </a:r>
                      <a:r>
                        <a:rPr sz="3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luận</a:t>
                      </a:r>
                      <a:r>
                        <a:rPr sz="3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spc="-10" dirty="0">
                          <a:latin typeface="Times New Roman"/>
                          <a:cs typeface="Times New Roman"/>
                        </a:rPr>
                        <a:t>tuyển.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4,5,</a:t>
                      </a:r>
                      <a:r>
                        <a:rPr sz="3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Luật</a:t>
                      </a:r>
                      <a:r>
                        <a:rPr sz="3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spc="-20" dirty="0">
                          <a:latin typeface="Times New Roman"/>
                          <a:cs typeface="Times New Roman"/>
                        </a:rPr>
                        <a:t>hội.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92075" algn="just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3600" dirty="0">
                          <a:latin typeface="Times New Roman"/>
                          <a:cs typeface="Times New Roman"/>
                        </a:rPr>
                        <a:t>(điều</a:t>
                      </a:r>
                      <a:r>
                        <a:rPr sz="36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phải</a:t>
                      </a:r>
                      <a:r>
                        <a:rPr sz="36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dirty="0">
                          <a:latin typeface="Times New Roman"/>
                          <a:cs typeface="Times New Roman"/>
                        </a:rPr>
                        <a:t>chứng</a:t>
                      </a:r>
                      <a:r>
                        <a:rPr sz="36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600" spc="-10" dirty="0">
                          <a:latin typeface="Times New Roman"/>
                          <a:cs typeface="Times New Roman"/>
                        </a:rPr>
                        <a:t>minh).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019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100"/>
              </a:spcBef>
            </a:pPr>
            <a:r>
              <a:rPr dirty="0"/>
              <a:t>Ví</a:t>
            </a:r>
            <a:r>
              <a:rPr spc="-10" dirty="0"/>
              <a:t> </a:t>
            </a:r>
            <a:r>
              <a:rPr dirty="0"/>
              <a:t>dụ</a:t>
            </a:r>
            <a:r>
              <a:rPr spc="5" dirty="0"/>
              <a:t> </a:t>
            </a:r>
            <a:r>
              <a:rPr spc="-50" dirty="0"/>
              <a:t>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73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813616"/>
            <a:ext cx="7409180" cy="250698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55"/>
              </a:spcBef>
              <a:buClr>
                <a:srgbClr val="C0CF39"/>
              </a:buClr>
              <a:buSzPct val="92500"/>
              <a:buFont typeface="Wingdings 2"/>
              <a:buChar char=""/>
              <a:tabLst>
                <a:tab pos="286385" algn="l"/>
              </a:tabLst>
            </a:pPr>
            <a:r>
              <a:rPr sz="4000" spc="-120" dirty="0">
                <a:latin typeface="Palatino Linotype"/>
                <a:cs typeface="Palatino Linotype"/>
              </a:rPr>
              <a:t>Ta</a:t>
            </a:r>
            <a:r>
              <a:rPr sz="4000" spc="-60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Palatino Linotype"/>
                <a:cs typeface="Palatino Linotype"/>
              </a:rPr>
              <a:t>có</a:t>
            </a:r>
            <a:r>
              <a:rPr sz="4000" spc="-55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Palatino Linotype"/>
                <a:cs typeface="Palatino Linotype"/>
              </a:rPr>
              <a:t>các</a:t>
            </a:r>
            <a:r>
              <a:rPr sz="4000" spc="-55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Palatino Linotype"/>
                <a:cs typeface="Palatino Linotype"/>
              </a:rPr>
              <a:t>biểu</a:t>
            </a:r>
            <a:r>
              <a:rPr sz="4000" spc="-55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Palatino Linotype"/>
                <a:cs typeface="Palatino Linotype"/>
              </a:rPr>
              <a:t>thức</a:t>
            </a:r>
            <a:r>
              <a:rPr sz="4000" spc="-60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Palatino Linotype"/>
                <a:cs typeface="Palatino Linotype"/>
              </a:rPr>
              <a:t>sau</a:t>
            </a:r>
            <a:r>
              <a:rPr sz="4000" spc="-60" dirty="0">
                <a:latin typeface="Palatino Linotype"/>
                <a:cs typeface="Palatino Linotype"/>
              </a:rPr>
              <a:t> </a:t>
            </a:r>
            <a:r>
              <a:rPr sz="4000" dirty="0">
                <a:latin typeface="Palatino Linotype"/>
                <a:cs typeface="Palatino Linotype"/>
              </a:rPr>
              <a:t>là</a:t>
            </a:r>
            <a:r>
              <a:rPr sz="4000" spc="-60" dirty="0">
                <a:latin typeface="Palatino Linotype"/>
                <a:cs typeface="Palatino Linotype"/>
              </a:rPr>
              <a:t> </a:t>
            </a:r>
            <a:r>
              <a:rPr sz="4000" spc="-10" dirty="0">
                <a:latin typeface="Palatino Linotype"/>
                <a:cs typeface="Palatino Linotype"/>
              </a:rPr>
              <a:t>đúng:</a:t>
            </a:r>
            <a:endParaRPr sz="4000">
              <a:latin typeface="Palatino Linotype"/>
              <a:cs typeface="Palatino Linotype"/>
            </a:endParaRPr>
          </a:p>
          <a:p>
            <a:pPr marL="405765">
              <a:lnSpc>
                <a:spcPct val="100000"/>
              </a:lnSpc>
              <a:spcBef>
                <a:spcPts val="1155"/>
              </a:spcBef>
            </a:pPr>
            <a:r>
              <a:rPr sz="4800" spc="-105" dirty="0">
                <a:latin typeface="Palatino Linotype"/>
                <a:cs typeface="Palatino Linotype"/>
              </a:rPr>
              <a:t>AvB,</a:t>
            </a:r>
            <a:r>
              <a:rPr sz="4800" spc="-190" dirty="0">
                <a:latin typeface="Palatino Linotype"/>
                <a:cs typeface="Palatino Linotype"/>
              </a:rPr>
              <a:t> </a:t>
            </a:r>
            <a:r>
              <a:rPr sz="4800" dirty="0">
                <a:latin typeface="Palatino Linotype"/>
                <a:cs typeface="Palatino Linotype"/>
              </a:rPr>
              <a:t>A</a:t>
            </a:r>
            <a:r>
              <a:rPr sz="4800" dirty="0">
                <a:latin typeface="Symbol"/>
                <a:cs typeface="Symbol"/>
              </a:rPr>
              <a:t></a:t>
            </a:r>
            <a:r>
              <a:rPr sz="4800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Palatino Linotype"/>
                <a:cs typeface="Palatino Linotype"/>
              </a:rPr>
              <a:t>C,</a:t>
            </a:r>
            <a:r>
              <a:rPr sz="4800" spc="-20" dirty="0">
                <a:latin typeface="Palatino Linotype"/>
                <a:cs typeface="Palatino Linotype"/>
              </a:rPr>
              <a:t> </a:t>
            </a:r>
            <a:r>
              <a:rPr sz="4800" dirty="0">
                <a:latin typeface="Palatino Linotype"/>
                <a:cs typeface="Palatino Linotype"/>
              </a:rPr>
              <a:t>B</a:t>
            </a:r>
            <a:r>
              <a:rPr sz="4800" dirty="0">
                <a:latin typeface="Symbol"/>
                <a:cs typeface="Symbol"/>
              </a:rPr>
              <a:t></a:t>
            </a:r>
            <a:r>
              <a:rPr sz="4800" spc="-10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Palatino Linotype"/>
                <a:cs typeface="Palatino Linotype"/>
              </a:rPr>
              <a:t>D,</a:t>
            </a:r>
            <a:r>
              <a:rPr sz="4800" spc="-25" dirty="0">
                <a:latin typeface="Palatino Linotype"/>
                <a:cs typeface="Palatino Linotype"/>
              </a:rPr>
              <a:t> </a:t>
            </a:r>
            <a:r>
              <a:rPr sz="4800" spc="-25" dirty="0">
                <a:latin typeface="Symbol"/>
                <a:cs typeface="Symbol"/>
              </a:rPr>
              <a:t></a:t>
            </a:r>
            <a:r>
              <a:rPr sz="4800" spc="-25" dirty="0">
                <a:latin typeface="Palatino Linotype"/>
                <a:cs typeface="Palatino Linotype"/>
              </a:rPr>
              <a:t>D.</a:t>
            </a:r>
            <a:endParaRPr sz="4800">
              <a:latin typeface="Palatino Linotype"/>
              <a:cs typeface="Palatino Linotype"/>
            </a:endParaRPr>
          </a:p>
          <a:p>
            <a:pPr marL="405765">
              <a:lnSpc>
                <a:spcPct val="100000"/>
              </a:lnSpc>
              <a:spcBef>
                <a:spcPts val="1105"/>
              </a:spcBef>
            </a:pPr>
            <a:r>
              <a:rPr sz="4800" b="1" dirty="0">
                <a:latin typeface="Palatino Linotype"/>
                <a:cs typeface="Palatino Linotype"/>
              </a:rPr>
              <a:t>Chứng</a:t>
            </a:r>
            <a:r>
              <a:rPr sz="4800" b="1" spc="-114" dirty="0">
                <a:latin typeface="Palatino Linotype"/>
                <a:cs typeface="Palatino Linotype"/>
              </a:rPr>
              <a:t> </a:t>
            </a:r>
            <a:r>
              <a:rPr sz="4800" b="1" dirty="0">
                <a:latin typeface="Palatino Linotype"/>
                <a:cs typeface="Palatino Linotype"/>
              </a:rPr>
              <a:t>minh</a:t>
            </a:r>
            <a:r>
              <a:rPr sz="4800" b="1" spc="-70" dirty="0">
                <a:latin typeface="Palatino Linotype"/>
                <a:cs typeface="Palatino Linotype"/>
              </a:rPr>
              <a:t> </a:t>
            </a:r>
            <a:r>
              <a:rPr sz="4800" b="1" dirty="0">
                <a:latin typeface="Palatino Linotype"/>
                <a:cs typeface="Palatino Linotype"/>
              </a:rPr>
              <a:t>C</a:t>
            </a:r>
            <a:r>
              <a:rPr sz="4800" b="1" spc="-105" dirty="0">
                <a:latin typeface="Palatino Linotype"/>
                <a:cs typeface="Palatino Linotype"/>
              </a:rPr>
              <a:t> </a:t>
            </a:r>
            <a:r>
              <a:rPr sz="4800" spc="-10" dirty="0">
                <a:latin typeface="Palatino Linotype"/>
                <a:cs typeface="Palatino Linotype"/>
              </a:rPr>
              <a:t>đúng?</a:t>
            </a:r>
            <a:endParaRPr sz="48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559434"/>
            <a:ext cx="20834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Ví</a:t>
            </a:r>
            <a:r>
              <a:rPr spc="-10" dirty="0"/>
              <a:t> </a:t>
            </a:r>
            <a:r>
              <a:rPr dirty="0"/>
              <a:t>dụ</a:t>
            </a:r>
            <a:r>
              <a:rPr spc="5" dirty="0"/>
              <a:t> </a:t>
            </a:r>
            <a:r>
              <a:rPr spc="-50" dirty="0"/>
              <a:t>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74</a:t>
            </a:fld>
            <a:endParaRPr spc="-25" dirty="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966912" y="1585912"/>
          <a:ext cx="8230234" cy="3764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0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5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4915">
                <a:tc>
                  <a:txBody>
                    <a:bodyPr/>
                    <a:lstStyle/>
                    <a:p>
                      <a:pPr marL="90170" algn="ctr">
                        <a:lnSpc>
                          <a:spcPts val="326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8953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89535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9017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89535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8953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9017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3260"/>
                        </a:lnSpc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AvB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91440" marR="1807210">
                        <a:lnSpc>
                          <a:spcPct val="120000"/>
                        </a:lnSpc>
                        <a:spcBef>
                          <a:spcPts val="15"/>
                        </a:spcBef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spc="-25" dirty="0">
                          <a:latin typeface="Symbol"/>
                          <a:cs typeface="Symbol"/>
                        </a:rPr>
                        <a:t>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C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800" dirty="0">
                          <a:latin typeface="Symbol"/>
                          <a:cs typeface="Symbol"/>
                        </a:rPr>
                        <a:t></a:t>
                      </a:r>
                      <a:r>
                        <a:rPr sz="2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2800" spc="-25" dirty="0">
                          <a:latin typeface="Symbol"/>
                          <a:cs typeface="Symbol"/>
                        </a:rPr>
                        <a:t>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D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2800" b="1" spc="-5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91440" marR="2385060">
                        <a:lnSpc>
                          <a:spcPct val="120000"/>
                        </a:lnSpc>
                      </a:pPr>
                      <a:r>
                        <a:rPr sz="2800" b="1" spc="-50" dirty="0">
                          <a:latin typeface="Times New Roman"/>
                          <a:cs typeface="Times New Roman"/>
                        </a:rPr>
                        <a:t>… C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algn="just">
                        <a:lnSpc>
                          <a:spcPts val="326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(tiên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đề)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91440" marR="2898140" algn="just">
                        <a:lnSpc>
                          <a:spcPct val="12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(tiên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đề)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(tiên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đề)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(tiên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đề)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559434"/>
            <a:ext cx="20834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Ví</a:t>
            </a:r>
            <a:r>
              <a:rPr spc="-10" dirty="0"/>
              <a:t> </a:t>
            </a:r>
            <a:r>
              <a:rPr dirty="0"/>
              <a:t>dụ</a:t>
            </a:r>
            <a:r>
              <a:rPr spc="5" dirty="0"/>
              <a:t> </a:t>
            </a:r>
            <a:r>
              <a:rPr spc="-50" dirty="0"/>
              <a:t>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75</a:t>
            </a:fld>
            <a:endParaRPr spc="-25" dirty="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966912" y="1585912"/>
          <a:ext cx="8230234" cy="3764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0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5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4915">
                <a:tc>
                  <a:txBody>
                    <a:bodyPr/>
                    <a:lstStyle/>
                    <a:p>
                      <a:pPr marL="90170" algn="ctr">
                        <a:lnSpc>
                          <a:spcPts val="3260"/>
                        </a:lnSpc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8953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89535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9017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89535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8953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9017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3260"/>
                        </a:lnSpc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AvB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91440" marR="1807210">
                        <a:lnSpc>
                          <a:spcPct val="120000"/>
                        </a:lnSpc>
                        <a:spcBef>
                          <a:spcPts val="15"/>
                        </a:spcBef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spc="-25" dirty="0">
                          <a:latin typeface="Symbol"/>
                          <a:cs typeface="Symbol"/>
                        </a:rPr>
                        <a:t>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C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800" dirty="0">
                          <a:latin typeface="Symbol"/>
                          <a:cs typeface="Symbol"/>
                        </a:rPr>
                        <a:t></a:t>
                      </a:r>
                      <a:r>
                        <a:rPr sz="2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2800" spc="-25" dirty="0">
                          <a:latin typeface="Symbol"/>
                          <a:cs typeface="Symbol"/>
                        </a:rPr>
                        <a:t>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D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91440" marR="2249170">
                        <a:lnSpc>
                          <a:spcPct val="119800"/>
                        </a:lnSpc>
                        <a:spcBef>
                          <a:spcPts val="10"/>
                        </a:spcBef>
                      </a:pPr>
                      <a:r>
                        <a:rPr sz="2800" spc="-25" dirty="0">
                          <a:latin typeface="Symbol"/>
                          <a:cs typeface="Symbol"/>
                        </a:rPr>
                        <a:t>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B 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2800" b="1" spc="-50" dirty="0">
                          <a:latin typeface="Times New Roman"/>
                          <a:cs typeface="Times New Roman"/>
                        </a:rPr>
                        <a:t>C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algn="just">
                        <a:lnSpc>
                          <a:spcPts val="326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(tiên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đề)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91440" marR="2898140" algn="just">
                        <a:lnSpc>
                          <a:spcPct val="12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(tiên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đề)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(tiên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đề)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800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(tiên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đề)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91440" algn="just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3,</a:t>
                      </a:r>
                      <a:r>
                        <a:rPr sz="2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4,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Modus</a:t>
                      </a:r>
                      <a:r>
                        <a:rPr sz="28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Tollens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91440" marR="765175" algn="just">
                        <a:lnSpc>
                          <a:spcPct val="12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1,5,</a:t>
                      </a:r>
                      <a:r>
                        <a:rPr sz="2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45" dirty="0">
                          <a:latin typeface="Times New Roman"/>
                          <a:cs typeface="Times New Roman"/>
                        </a:rPr>
                        <a:t>Tam</a:t>
                      </a:r>
                      <a:r>
                        <a:rPr sz="2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đoạn</a:t>
                      </a:r>
                      <a:r>
                        <a:rPr sz="2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luận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tuyển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6,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MP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385952"/>
            <a:ext cx="1931670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dirty="0">
                <a:solidFill>
                  <a:srgbClr val="455F51"/>
                </a:solidFill>
              </a:rPr>
              <a:t>Ví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dụ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spc="-50" dirty="0">
                <a:solidFill>
                  <a:srgbClr val="455F51"/>
                </a:solidFill>
              </a:rPr>
              <a:t>5</a:t>
            </a:r>
            <a:endParaRPr sz="5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76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191615"/>
            <a:ext cx="10325735" cy="185483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60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>
                <a:latin typeface="Palatino Linotype"/>
                <a:cs typeface="Palatino Linotype"/>
              </a:rPr>
              <a:t>Ví</a:t>
            </a:r>
            <a:r>
              <a:rPr sz="3200" spc="-5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dụ: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“Tất</a:t>
            </a:r>
            <a:r>
              <a:rPr sz="3200" spc="-6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cả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mọi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người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đều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chết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và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Socrates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là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spc="-10" dirty="0">
                <a:latin typeface="Palatino Linotype"/>
                <a:cs typeface="Palatino Linotype"/>
              </a:rPr>
              <a:t>người”</a:t>
            </a:r>
            <a:endParaRPr sz="3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3000" dirty="0">
                <a:solidFill>
                  <a:srgbClr val="C0CF39"/>
                </a:solidFill>
                <a:latin typeface="Symbol"/>
                <a:cs typeface="Symbol"/>
              </a:rPr>
              <a:t></a:t>
            </a:r>
            <a:r>
              <a:rPr sz="3200" dirty="0">
                <a:latin typeface="Palatino Linotype"/>
                <a:cs typeface="Palatino Linotype"/>
              </a:rPr>
              <a:t>Hãy</a:t>
            </a:r>
            <a:r>
              <a:rPr sz="3200" spc="-6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biểu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diễn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các</a:t>
            </a:r>
            <a:r>
              <a:rPr sz="3200" spc="-6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phát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biểu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trên</a:t>
            </a:r>
            <a:r>
              <a:rPr sz="3200" spc="-5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theo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logic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vị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từ</a:t>
            </a:r>
            <a:endParaRPr sz="3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3000" dirty="0">
                <a:solidFill>
                  <a:srgbClr val="C0CF39"/>
                </a:solidFill>
                <a:latin typeface="Symbol"/>
                <a:cs typeface="Symbol"/>
              </a:rPr>
              <a:t></a:t>
            </a:r>
            <a:r>
              <a:rPr sz="3200" dirty="0">
                <a:latin typeface="Palatino Linotype"/>
                <a:cs typeface="Palatino Linotype"/>
              </a:rPr>
              <a:t>Hãy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chứng</a:t>
            </a:r>
            <a:r>
              <a:rPr sz="3200" spc="-5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mình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Socrates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sẽ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spc="-20" dirty="0">
                <a:latin typeface="Palatino Linotype"/>
                <a:cs typeface="Palatino Linotype"/>
              </a:rPr>
              <a:t>chết</a:t>
            </a:r>
            <a:endParaRPr sz="3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385952"/>
            <a:ext cx="1931670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dirty="0">
                <a:solidFill>
                  <a:srgbClr val="455F51"/>
                </a:solidFill>
              </a:rPr>
              <a:t>Ví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dụ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spc="-50" dirty="0">
                <a:solidFill>
                  <a:srgbClr val="455F51"/>
                </a:solidFill>
              </a:rPr>
              <a:t>5</a:t>
            </a:r>
            <a:endParaRPr sz="5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3685">
              <a:lnSpc>
                <a:spcPts val="3745"/>
              </a:lnSpc>
              <a:spcBef>
                <a:spcPts val="105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/>
              <a:t>Ví</a:t>
            </a:r>
            <a:r>
              <a:rPr sz="3200" spc="-55" dirty="0"/>
              <a:t> </a:t>
            </a:r>
            <a:r>
              <a:rPr sz="3200" dirty="0"/>
              <a:t>dụ:</a:t>
            </a:r>
            <a:r>
              <a:rPr sz="3200" spc="-45" dirty="0"/>
              <a:t> </a:t>
            </a:r>
            <a:r>
              <a:rPr sz="3200" dirty="0"/>
              <a:t>“Tất</a:t>
            </a:r>
            <a:r>
              <a:rPr sz="3200" spc="-65" dirty="0"/>
              <a:t> </a:t>
            </a:r>
            <a:r>
              <a:rPr sz="3200" dirty="0"/>
              <a:t>cả</a:t>
            </a:r>
            <a:r>
              <a:rPr sz="3200" spc="-45" dirty="0"/>
              <a:t> </a:t>
            </a:r>
            <a:r>
              <a:rPr sz="3200" dirty="0"/>
              <a:t>mọi</a:t>
            </a:r>
            <a:r>
              <a:rPr sz="3200" spc="-45" dirty="0"/>
              <a:t> </a:t>
            </a:r>
            <a:r>
              <a:rPr sz="3200" dirty="0"/>
              <a:t>người</a:t>
            </a:r>
            <a:r>
              <a:rPr sz="3200" spc="-40" dirty="0"/>
              <a:t> </a:t>
            </a:r>
            <a:r>
              <a:rPr sz="3200" dirty="0"/>
              <a:t>đều</a:t>
            </a:r>
            <a:r>
              <a:rPr sz="3200" spc="-55" dirty="0"/>
              <a:t> </a:t>
            </a:r>
            <a:r>
              <a:rPr sz="3200" dirty="0"/>
              <a:t>chết</a:t>
            </a:r>
            <a:r>
              <a:rPr sz="3200" spc="-40" dirty="0"/>
              <a:t> </a:t>
            </a:r>
            <a:r>
              <a:rPr sz="3200" dirty="0"/>
              <a:t>và</a:t>
            </a:r>
            <a:r>
              <a:rPr sz="3200" spc="-50" dirty="0"/>
              <a:t> </a:t>
            </a:r>
            <a:r>
              <a:rPr sz="3200" dirty="0"/>
              <a:t>Socrates</a:t>
            </a:r>
            <a:r>
              <a:rPr sz="3200" spc="-50" dirty="0"/>
              <a:t> </a:t>
            </a:r>
            <a:r>
              <a:rPr sz="3200" dirty="0"/>
              <a:t>là</a:t>
            </a:r>
            <a:r>
              <a:rPr sz="3200" spc="-40" dirty="0"/>
              <a:t> </a:t>
            </a:r>
            <a:r>
              <a:rPr sz="3200" dirty="0"/>
              <a:t>người,</a:t>
            </a:r>
            <a:r>
              <a:rPr sz="3200" spc="-40" dirty="0"/>
              <a:t> </a:t>
            </a:r>
            <a:r>
              <a:rPr sz="3200" spc="-25" dirty="0"/>
              <a:t>do</a:t>
            </a:r>
            <a:endParaRPr sz="3200"/>
          </a:p>
          <a:p>
            <a:pPr marL="286385">
              <a:lnSpc>
                <a:spcPts val="3745"/>
              </a:lnSpc>
            </a:pPr>
            <a:r>
              <a:rPr sz="3200" dirty="0"/>
              <a:t>đó</a:t>
            </a:r>
            <a:r>
              <a:rPr sz="3200" spc="-60" dirty="0"/>
              <a:t> </a:t>
            </a:r>
            <a:r>
              <a:rPr sz="3200" dirty="0"/>
              <a:t>Socrates</a:t>
            </a:r>
            <a:r>
              <a:rPr sz="3200" spc="-50" dirty="0"/>
              <a:t> </a:t>
            </a:r>
            <a:r>
              <a:rPr sz="3200" dirty="0"/>
              <a:t>sẽ</a:t>
            </a:r>
            <a:r>
              <a:rPr sz="3200" spc="-45" dirty="0"/>
              <a:t> </a:t>
            </a:r>
            <a:r>
              <a:rPr sz="3200" spc="-10" dirty="0"/>
              <a:t>chết”</a:t>
            </a:r>
            <a:endParaRPr sz="3200"/>
          </a:p>
          <a:p>
            <a:pPr marL="388620" marR="4711065" indent="-376555">
              <a:lnSpc>
                <a:spcPct val="124100"/>
              </a:lnSpc>
              <a:spcBef>
                <a:spcPts val="70"/>
              </a:spcBef>
              <a:tabLst>
                <a:tab pos="5601970" algn="l"/>
              </a:tabLst>
            </a:pPr>
            <a:r>
              <a:rPr sz="3200" dirty="0"/>
              <a:t>=&gt;</a:t>
            </a:r>
            <a:r>
              <a:rPr sz="3200" spc="-25" dirty="0"/>
              <a:t> </a:t>
            </a:r>
            <a:r>
              <a:rPr sz="3200" dirty="0">
                <a:latin typeface="Symbol"/>
                <a:cs typeface="Symbol"/>
              </a:rPr>
              <a:t></a:t>
            </a:r>
            <a:r>
              <a:rPr sz="3200" dirty="0"/>
              <a:t>X (man(X)</a:t>
            </a:r>
            <a:r>
              <a:rPr sz="3200" spc="-40" dirty="0"/>
              <a:t> </a:t>
            </a:r>
            <a:r>
              <a:rPr sz="3200" dirty="0">
                <a:latin typeface="Symbol"/>
                <a:cs typeface="Symbol"/>
              </a:rPr>
              <a:t>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10" dirty="0"/>
              <a:t>mortal(X))</a:t>
            </a:r>
            <a:r>
              <a:rPr sz="3200" dirty="0"/>
              <a:t>	</a:t>
            </a:r>
            <a:r>
              <a:rPr sz="3200" spc="-25" dirty="0"/>
              <a:t>(1) </a:t>
            </a:r>
            <a:r>
              <a:rPr sz="3200" spc="-10" dirty="0"/>
              <a:t>man(socrates)</a:t>
            </a:r>
            <a:r>
              <a:rPr sz="3200" dirty="0"/>
              <a:t>	</a:t>
            </a:r>
            <a:r>
              <a:rPr sz="3200" spc="-25" dirty="0"/>
              <a:t>(2)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77</a:t>
            </a:fld>
            <a:endParaRPr spc="-25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385952"/>
            <a:ext cx="1931670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dirty="0">
                <a:solidFill>
                  <a:srgbClr val="455F51"/>
                </a:solidFill>
              </a:rPr>
              <a:t>Ví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dụ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spc="-50" dirty="0">
                <a:solidFill>
                  <a:srgbClr val="455F51"/>
                </a:solidFill>
              </a:rPr>
              <a:t>5</a:t>
            </a:r>
            <a:endParaRPr sz="5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3685">
              <a:lnSpc>
                <a:spcPts val="3745"/>
              </a:lnSpc>
              <a:spcBef>
                <a:spcPts val="105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/>
              <a:t>Ví</a:t>
            </a:r>
            <a:r>
              <a:rPr sz="3200" spc="-55" dirty="0"/>
              <a:t> </a:t>
            </a:r>
            <a:r>
              <a:rPr sz="3200" dirty="0"/>
              <a:t>dụ:</a:t>
            </a:r>
            <a:r>
              <a:rPr sz="3200" spc="-45" dirty="0"/>
              <a:t> </a:t>
            </a:r>
            <a:r>
              <a:rPr sz="3200" dirty="0"/>
              <a:t>“Tất</a:t>
            </a:r>
            <a:r>
              <a:rPr sz="3200" spc="-65" dirty="0"/>
              <a:t> </a:t>
            </a:r>
            <a:r>
              <a:rPr sz="3200" dirty="0"/>
              <a:t>cả</a:t>
            </a:r>
            <a:r>
              <a:rPr sz="3200" spc="-45" dirty="0"/>
              <a:t> </a:t>
            </a:r>
            <a:r>
              <a:rPr sz="3200" dirty="0"/>
              <a:t>mọi</a:t>
            </a:r>
            <a:r>
              <a:rPr sz="3200" spc="-45" dirty="0"/>
              <a:t> </a:t>
            </a:r>
            <a:r>
              <a:rPr sz="3200" dirty="0"/>
              <a:t>người</a:t>
            </a:r>
            <a:r>
              <a:rPr sz="3200" spc="-40" dirty="0"/>
              <a:t> </a:t>
            </a:r>
            <a:r>
              <a:rPr sz="3200" dirty="0"/>
              <a:t>đều</a:t>
            </a:r>
            <a:r>
              <a:rPr sz="3200" spc="-55" dirty="0"/>
              <a:t> </a:t>
            </a:r>
            <a:r>
              <a:rPr sz="3200" dirty="0"/>
              <a:t>chết</a:t>
            </a:r>
            <a:r>
              <a:rPr sz="3200" spc="-40" dirty="0"/>
              <a:t> </a:t>
            </a:r>
            <a:r>
              <a:rPr sz="3200" dirty="0"/>
              <a:t>và</a:t>
            </a:r>
            <a:r>
              <a:rPr sz="3200" spc="-50" dirty="0"/>
              <a:t> </a:t>
            </a:r>
            <a:r>
              <a:rPr sz="3200" dirty="0"/>
              <a:t>Socrates</a:t>
            </a:r>
            <a:r>
              <a:rPr sz="3200" spc="-50" dirty="0"/>
              <a:t> </a:t>
            </a:r>
            <a:r>
              <a:rPr sz="3200" dirty="0"/>
              <a:t>là</a:t>
            </a:r>
            <a:r>
              <a:rPr sz="3200" spc="-40" dirty="0"/>
              <a:t> </a:t>
            </a:r>
            <a:r>
              <a:rPr sz="3200" dirty="0"/>
              <a:t>người,</a:t>
            </a:r>
            <a:r>
              <a:rPr sz="3200" spc="-40" dirty="0"/>
              <a:t> </a:t>
            </a:r>
            <a:r>
              <a:rPr sz="3200" spc="-25" dirty="0"/>
              <a:t>do</a:t>
            </a:r>
            <a:endParaRPr sz="3200"/>
          </a:p>
          <a:p>
            <a:pPr marL="286385">
              <a:lnSpc>
                <a:spcPts val="3745"/>
              </a:lnSpc>
            </a:pPr>
            <a:r>
              <a:rPr sz="3200" dirty="0"/>
              <a:t>đó</a:t>
            </a:r>
            <a:r>
              <a:rPr sz="3200" spc="-60" dirty="0"/>
              <a:t> </a:t>
            </a:r>
            <a:r>
              <a:rPr sz="3200" dirty="0"/>
              <a:t>Socrates</a:t>
            </a:r>
            <a:r>
              <a:rPr sz="3200" spc="-50" dirty="0"/>
              <a:t> </a:t>
            </a:r>
            <a:r>
              <a:rPr sz="3200" dirty="0"/>
              <a:t>sẽ</a:t>
            </a:r>
            <a:r>
              <a:rPr sz="3200" spc="-45" dirty="0"/>
              <a:t> </a:t>
            </a:r>
            <a:r>
              <a:rPr sz="3200" spc="-10" dirty="0"/>
              <a:t>chết”</a:t>
            </a:r>
            <a:endParaRPr sz="3200"/>
          </a:p>
          <a:p>
            <a:pPr marL="388620" marR="4711065" indent="-376555">
              <a:lnSpc>
                <a:spcPct val="124100"/>
              </a:lnSpc>
              <a:spcBef>
                <a:spcPts val="70"/>
              </a:spcBef>
              <a:tabLst>
                <a:tab pos="5601970" algn="l"/>
              </a:tabLst>
            </a:pPr>
            <a:r>
              <a:rPr sz="3200" dirty="0"/>
              <a:t>=&gt;</a:t>
            </a:r>
            <a:r>
              <a:rPr sz="3200" spc="-25" dirty="0"/>
              <a:t> </a:t>
            </a:r>
            <a:r>
              <a:rPr sz="3200" dirty="0">
                <a:latin typeface="Symbol"/>
                <a:cs typeface="Symbol"/>
              </a:rPr>
              <a:t></a:t>
            </a:r>
            <a:r>
              <a:rPr sz="3200" dirty="0"/>
              <a:t>X (man(X)</a:t>
            </a:r>
            <a:r>
              <a:rPr sz="3200" spc="-40" dirty="0"/>
              <a:t> </a:t>
            </a:r>
            <a:r>
              <a:rPr sz="3200" dirty="0">
                <a:latin typeface="Symbol"/>
                <a:cs typeface="Symbol"/>
              </a:rPr>
              <a:t>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10" dirty="0"/>
              <a:t>mortal(X))</a:t>
            </a:r>
            <a:r>
              <a:rPr sz="3200" dirty="0"/>
              <a:t>	</a:t>
            </a:r>
            <a:r>
              <a:rPr sz="3200" spc="-25" dirty="0"/>
              <a:t>(1) </a:t>
            </a:r>
            <a:r>
              <a:rPr sz="3200" spc="-10" dirty="0"/>
              <a:t>man(socrates)</a:t>
            </a:r>
            <a:r>
              <a:rPr sz="3200" dirty="0"/>
              <a:t>	</a:t>
            </a:r>
            <a:r>
              <a:rPr sz="3200" spc="-25" dirty="0"/>
              <a:t>(2)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3200" dirty="0"/>
              <a:t>Từ</a:t>
            </a:r>
            <a:r>
              <a:rPr sz="3200" spc="-20" dirty="0"/>
              <a:t> </a:t>
            </a:r>
            <a:r>
              <a:rPr sz="3200" dirty="0"/>
              <a:t>(1),(2)</a:t>
            </a:r>
            <a:r>
              <a:rPr sz="3200" spc="-50" dirty="0"/>
              <a:t> </a:t>
            </a:r>
            <a:r>
              <a:rPr sz="3200" dirty="0"/>
              <a:t>bằng</a:t>
            </a:r>
            <a:r>
              <a:rPr sz="3200" spc="-25" dirty="0"/>
              <a:t> </a:t>
            </a:r>
            <a:r>
              <a:rPr sz="3200" dirty="0"/>
              <a:t>luật</a:t>
            </a:r>
            <a:r>
              <a:rPr sz="3200" spc="-20" dirty="0"/>
              <a:t> </a:t>
            </a:r>
            <a:r>
              <a:rPr sz="3200" dirty="0"/>
              <a:t>UI,</a:t>
            </a:r>
            <a:r>
              <a:rPr sz="3200" spc="-5" dirty="0"/>
              <a:t> </a:t>
            </a:r>
            <a:r>
              <a:rPr sz="3200" dirty="0"/>
              <a:t>ta</a:t>
            </a:r>
            <a:r>
              <a:rPr sz="3200" spc="-25" dirty="0"/>
              <a:t> có: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78</a:t>
            </a:fld>
            <a:endParaRPr spc="-25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385952"/>
            <a:ext cx="1931670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dirty="0">
                <a:solidFill>
                  <a:srgbClr val="455F51"/>
                </a:solidFill>
              </a:rPr>
              <a:t>Ví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dụ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spc="-50" dirty="0">
                <a:solidFill>
                  <a:srgbClr val="455F51"/>
                </a:solidFill>
              </a:rPr>
              <a:t>5</a:t>
            </a:r>
            <a:endParaRPr sz="5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3685">
              <a:lnSpc>
                <a:spcPts val="3745"/>
              </a:lnSpc>
              <a:spcBef>
                <a:spcPts val="105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/>
              <a:t>Ví</a:t>
            </a:r>
            <a:r>
              <a:rPr sz="3200" spc="-55" dirty="0"/>
              <a:t> </a:t>
            </a:r>
            <a:r>
              <a:rPr sz="3200" dirty="0"/>
              <a:t>dụ:</a:t>
            </a:r>
            <a:r>
              <a:rPr sz="3200" spc="-45" dirty="0"/>
              <a:t> </a:t>
            </a:r>
            <a:r>
              <a:rPr sz="3200" dirty="0"/>
              <a:t>“Tất</a:t>
            </a:r>
            <a:r>
              <a:rPr sz="3200" spc="-65" dirty="0"/>
              <a:t> </a:t>
            </a:r>
            <a:r>
              <a:rPr sz="3200" dirty="0"/>
              <a:t>cả</a:t>
            </a:r>
            <a:r>
              <a:rPr sz="3200" spc="-45" dirty="0"/>
              <a:t> </a:t>
            </a:r>
            <a:r>
              <a:rPr sz="3200" dirty="0"/>
              <a:t>mọi</a:t>
            </a:r>
            <a:r>
              <a:rPr sz="3200" spc="-45" dirty="0"/>
              <a:t> </a:t>
            </a:r>
            <a:r>
              <a:rPr sz="3200" dirty="0"/>
              <a:t>người</a:t>
            </a:r>
            <a:r>
              <a:rPr sz="3200" spc="-40" dirty="0"/>
              <a:t> </a:t>
            </a:r>
            <a:r>
              <a:rPr sz="3200" dirty="0"/>
              <a:t>đều</a:t>
            </a:r>
            <a:r>
              <a:rPr sz="3200" spc="-55" dirty="0"/>
              <a:t> </a:t>
            </a:r>
            <a:r>
              <a:rPr sz="3200" dirty="0"/>
              <a:t>chết</a:t>
            </a:r>
            <a:r>
              <a:rPr sz="3200" spc="-40" dirty="0"/>
              <a:t> </a:t>
            </a:r>
            <a:r>
              <a:rPr sz="3200" dirty="0"/>
              <a:t>và</a:t>
            </a:r>
            <a:r>
              <a:rPr sz="3200" spc="-50" dirty="0"/>
              <a:t> </a:t>
            </a:r>
            <a:r>
              <a:rPr sz="3200" dirty="0"/>
              <a:t>Socrates</a:t>
            </a:r>
            <a:r>
              <a:rPr sz="3200" spc="-50" dirty="0"/>
              <a:t> </a:t>
            </a:r>
            <a:r>
              <a:rPr sz="3200" dirty="0"/>
              <a:t>là</a:t>
            </a:r>
            <a:r>
              <a:rPr sz="3200" spc="-40" dirty="0"/>
              <a:t> </a:t>
            </a:r>
            <a:r>
              <a:rPr sz="3200" dirty="0"/>
              <a:t>người,</a:t>
            </a:r>
            <a:r>
              <a:rPr sz="3200" spc="-40" dirty="0"/>
              <a:t> </a:t>
            </a:r>
            <a:r>
              <a:rPr sz="3200" spc="-25" dirty="0"/>
              <a:t>do</a:t>
            </a:r>
            <a:endParaRPr sz="3200"/>
          </a:p>
          <a:p>
            <a:pPr marL="286385">
              <a:lnSpc>
                <a:spcPts val="3745"/>
              </a:lnSpc>
            </a:pPr>
            <a:r>
              <a:rPr sz="3200" dirty="0"/>
              <a:t>đó</a:t>
            </a:r>
            <a:r>
              <a:rPr sz="3200" spc="-60" dirty="0"/>
              <a:t> </a:t>
            </a:r>
            <a:r>
              <a:rPr sz="3200" dirty="0"/>
              <a:t>Socrates</a:t>
            </a:r>
            <a:r>
              <a:rPr sz="3200" spc="-50" dirty="0"/>
              <a:t> </a:t>
            </a:r>
            <a:r>
              <a:rPr sz="3200" dirty="0"/>
              <a:t>sẽ</a:t>
            </a:r>
            <a:r>
              <a:rPr sz="3200" spc="-45" dirty="0"/>
              <a:t> </a:t>
            </a:r>
            <a:r>
              <a:rPr sz="3200" spc="-10" dirty="0"/>
              <a:t>chết”</a:t>
            </a:r>
            <a:endParaRPr sz="3200"/>
          </a:p>
          <a:p>
            <a:pPr marL="388620" marR="4711065" indent="-376555">
              <a:lnSpc>
                <a:spcPct val="124100"/>
              </a:lnSpc>
              <a:spcBef>
                <a:spcPts val="70"/>
              </a:spcBef>
              <a:tabLst>
                <a:tab pos="5601970" algn="l"/>
              </a:tabLst>
            </a:pPr>
            <a:r>
              <a:rPr sz="3200" dirty="0"/>
              <a:t>=&gt;</a:t>
            </a:r>
            <a:r>
              <a:rPr sz="3200" spc="-25" dirty="0"/>
              <a:t> </a:t>
            </a:r>
            <a:r>
              <a:rPr sz="3200" dirty="0">
                <a:latin typeface="Symbol"/>
                <a:cs typeface="Symbol"/>
              </a:rPr>
              <a:t></a:t>
            </a:r>
            <a:r>
              <a:rPr sz="3200" dirty="0"/>
              <a:t>X (man(X)</a:t>
            </a:r>
            <a:r>
              <a:rPr sz="3200" spc="-40" dirty="0"/>
              <a:t> </a:t>
            </a:r>
            <a:r>
              <a:rPr sz="3200" dirty="0">
                <a:latin typeface="Symbol"/>
                <a:cs typeface="Symbol"/>
              </a:rPr>
              <a:t>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10" dirty="0"/>
              <a:t>mortal(X))</a:t>
            </a:r>
            <a:r>
              <a:rPr sz="3200" dirty="0"/>
              <a:t>	</a:t>
            </a:r>
            <a:r>
              <a:rPr sz="3200" spc="-25" dirty="0"/>
              <a:t>(1) </a:t>
            </a:r>
            <a:r>
              <a:rPr sz="3200" spc="-10" dirty="0"/>
              <a:t>man(socrates)</a:t>
            </a:r>
            <a:r>
              <a:rPr sz="3200" dirty="0"/>
              <a:t>	</a:t>
            </a:r>
            <a:r>
              <a:rPr sz="3200" spc="-25" dirty="0"/>
              <a:t>(2)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3200" dirty="0"/>
              <a:t>Từ</a:t>
            </a:r>
            <a:r>
              <a:rPr sz="3200" spc="-20" dirty="0"/>
              <a:t> </a:t>
            </a:r>
            <a:r>
              <a:rPr sz="3200" dirty="0"/>
              <a:t>(1),(2)</a:t>
            </a:r>
            <a:r>
              <a:rPr sz="3200" spc="-50" dirty="0"/>
              <a:t> </a:t>
            </a:r>
            <a:r>
              <a:rPr sz="3200" dirty="0"/>
              <a:t>bằng</a:t>
            </a:r>
            <a:r>
              <a:rPr sz="3200" spc="-25" dirty="0"/>
              <a:t> </a:t>
            </a:r>
            <a:r>
              <a:rPr sz="3200" dirty="0"/>
              <a:t>luật</a:t>
            </a:r>
            <a:r>
              <a:rPr sz="3200" spc="-20" dirty="0"/>
              <a:t> </a:t>
            </a:r>
            <a:r>
              <a:rPr sz="3200" dirty="0"/>
              <a:t>UI,</a:t>
            </a:r>
            <a:r>
              <a:rPr sz="3200" spc="-5" dirty="0"/>
              <a:t> </a:t>
            </a:r>
            <a:r>
              <a:rPr sz="3200" dirty="0"/>
              <a:t>ta</a:t>
            </a:r>
            <a:r>
              <a:rPr sz="3200" spc="-25" dirty="0"/>
              <a:t> có:</a:t>
            </a:r>
            <a:endParaRPr sz="3200"/>
          </a:p>
          <a:p>
            <a:pPr marL="927100">
              <a:lnSpc>
                <a:spcPct val="100000"/>
              </a:lnSpc>
              <a:spcBef>
                <a:spcPts val="994"/>
              </a:spcBef>
              <a:tabLst>
                <a:tab pos="7735570" algn="l"/>
              </a:tabLst>
            </a:pPr>
            <a:r>
              <a:rPr sz="3200" dirty="0"/>
              <a:t>man(socrates)</a:t>
            </a:r>
            <a:r>
              <a:rPr sz="3200" spc="-80" dirty="0"/>
              <a:t> </a:t>
            </a:r>
            <a:r>
              <a:rPr sz="3200" dirty="0">
                <a:latin typeface="Symbol"/>
                <a:cs typeface="Symbol"/>
              </a:rPr>
              <a:t>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0" dirty="0"/>
              <a:t>mortal(socrates)</a:t>
            </a:r>
            <a:r>
              <a:rPr sz="3200" dirty="0"/>
              <a:t>	</a:t>
            </a:r>
            <a:r>
              <a:rPr sz="3200" spc="-25" dirty="0"/>
              <a:t>(3)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79</a:t>
            </a:fld>
            <a:endParaRPr spc="-25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385952"/>
            <a:ext cx="1931670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dirty="0">
                <a:solidFill>
                  <a:srgbClr val="455F51"/>
                </a:solidFill>
              </a:rPr>
              <a:t>Ví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dirty="0">
                <a:solidFill>
                  <a:srgbClr val="455F51"/>
                </a:solidFill>
              </a:rPr>
              <a:t>dụ</a:t>
            </a:r>
            <a:r>
              <a:rPr sz="5000" spc="-10" dirty="0">
                <a:solidFill>
                  <a:srgbClr val="455F51"/>
                </a:solidFill>
              </a:rPr>
              <a:t> </a:t>
            </a:r>
            <a:r>
              <a:rPr sz="5000" spc="-50" dirty="0">
                <a:solidFill>
                  <a:srgbClr val="455F51"/>
                </a:solidFill>
              </a:rPr>
              <a:t>5</a:t>
            </a:r>
            <a:endParaRPr sz="5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3685">
              <a:lnSpc>
                <a:spcPts val="3745"/>
              </a:lnSpc>
              <a:spcBef>
                <a:spcPts val="105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dirty="0"/>
              <a:t>Ví</a:t>
            </a:r>
            <a:r>
              <a:rPr sz="3200" spc="-55" dirty="0"/>
              <a:t> </a:t>
            </a:r>
            <a:r>
              <a:rPr sz="3200" dirty="0"/>
              <a:t>dụ:</a:t>
            </a:r>
            <a:r>
              <a:rPr sz="3200" spc="-45" dirty="0"/>
              <a:t> </a:t>
            </a:r>
            <a:r>
              <a:rPr sz="3200" dirty="0"/>
              <a:t>“Tất</a:t>
            </a:r>
            <a:r>
              <a:rPr sz="3200" spc="-65" dirty="0"/>
              <a:t> </a:t>
            </a:r>
            <a:r>
              <a:rPr sz="3200" dirty="0"/>
              <a:t>cả</a:t>
            </a:r>
            <a:r>
              <a:rPr sz="3200" spc="-45" dirty="0"/>
              <a:t> </a:t>
            </a:r>
            <a:r>
              <a:rPr sz="3200" dirty="0"/>
              <a:t>mọi</a:t>
            </a:r>
            <a:r>
              <a:rPr sz="3200" spc="-45" dirty="0"/>
              <a:t> </a:t>
            </a:r>
            <a:r>
              <a:rPr sz="3200" dirty="0"/>
              <a:t>người</a:t>
            </a:r>
            <a:r>
              <a:rPr sz="3200" spc="-40" dirty="0"/>
              <a:t> </a:t>
            </a:r>
            <a:r>
              <a:rPr sz="3200" dirty="0"/>
              <a:t>đều</a:t>
            </a:r>
            <a:r>
              <a:rPr sz="3200" spc="-55" dirty="0"/>
              <a:t> </a:t>
            </a:r>
            <a:r>
              <a:rPr sz="3200" dirty="0"/>
              <a:t>chết</a:t>
            </a:r>
            <a:r>
              <a:rPr sz="3200" spc="-40" dirty="0"/>
              <a:t> </a:t>
            </a:r>
            <a:r>
              <a:rPr sz="3200" dirty="0"/>
              <a:t>và</a:t>
            </a:r>
            <a:r>
              <a:rPr sz="3200" spc="-50" dirty="0"/>
              <a:t> </a:t>
            </a:r>
            <a:r>
              <a:rPr sz="3200" dirty="0"/>
              <a:t>Socrates</a:t>
            </a:r>
            <a:r>
              <a:rPr sz="3200" spc="-50" dirty="0"/>
              <a:t> </a:t>
            </a:r>
            <a:r>
              <a:rPr sz="3200" dirty="0"/>
              <a:t>là</a:t>
            </a:r>
            <a:r>
              <a:rPr sz="3200" spc="-40" dirty="0"/>
              <a:t> </a:t>
            </a:r>
            <a:r>
              <a:rPr sz="3200" dirty="0"/>
              <a:t>người,</a:t>
            </a:r>
            <a:r>
              <a:rPr sz="3200" spc="-40" dirty="0"/>
              <a:t> </a:t>
            </a:r>
            <a:r>
              <a:rPr sz="3200" spc="-25" dirty="0"/>
              <a:t>do</a:t>
            </a:r>
            <a:endParaRPr sz="3200"/>
          </a:p>
          <a:p>
            <a:pPr marL="286385">
              <a:lnSpc>
                <a:spcPts val="3745"/>
              </a:lnSpc>
            </a:pPr>
            <a:r>
              <a:rPr sz="3200" dirty="0"/>
              <a:t>đó</a:t>
            </a:r>
            <a:r>
              <a:rPr sz="3200" spc="-60" dirty="0"/>
              <a:t> </a:t>
            </a:r>
            <a:r>
              <a:rPr sz="3200" dirty="0"/>
              <a:t>Socrates</a:t>
            </a:r>
            <a:r>
              <a:rPr sz="3200" spc="-50" dirty="0"/>
              <a:t> </a:t>
            </a:r>
            <a:r>
              <a:rPr sz="3200" dirty="0"/>
              <a:t>sẽ</a:t>
            </a:r>
            <a:r>
              <a:rPr sz="3200" spc="-45" dirty="0"/>
              <a:t> </a:t>
            </a:r>
            <a:r>
              <a:rPr sz="3200" spc="-10" dirty="0"/>
              <a:t>chết”</a:t>
            </a:r>
            <a:endParaRPr sz="3200"/>
          </a:p>
          <a:p>
            <a:pPr marL="388620" marR="4711065" indent="-376555">
              <a:lnSpc>
                <a:spcPct val="124100"/>
              </a:lnSpc>
              <a:spcBef>
                <a:spcPts val="70"/>
              </a:spcBef>
              <a:tabLst>
                <a:tab pos="5601970" algn="l"/>
              </a:tabLst>
            </a:pPr>
            <a:r>
              <a:rPr sz="3200" dirty="0"/>
              <a:t>=&gt;</a:t>
            </a:r>
            <a:r>
              <a:rPr sz="3200" spc="-25" dirty="0"/>
              <a:t> </a:t>
            </a:r>
            <a:r>
              <a:rPr sz="3200" dirty="0">
                <a:latin typeface="Symbol"/>
                <a:cs typeface="Symbol"/>
              </a:rPr>
              <a:t></a:t>
            </a:r>
            <a:r>
              <a:rPr sz="3200" dirty="0"/>
              <a:t>X (man(X)</a:t>
            </a:r>
            <a:r>
              <a:rPr sz="3200" spc="-40" dirty="0"/>
              <a:t> </a:t>
            </a:r>
            <a:r>
              <a:rPr sz="3200" dirty="0">
                <a:latin typeface="Symbol"/>
                <a:cs typeface="Symbol"/>
              </a:rPr>
              <a:t>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10" dirty="0"/>
              <a:t>mortal(X))</a:t>
            </a:r>
            <a:r>
              <a:rPr sz="3200" dirty="0"/>
              <a:t>	</a:t>
            </a:r>
            <a:r>
              <a:rPr sz="3200" spc="-25" dirty="0"/>
              <a:t>(1) </a:t>
            </a:r>
            <a:r>
              <a:rPr sz="3200" spc="-10" dirty="0"/>
              <a:t>man(socrates)</a:t>
            </a:r>
            <a:r>
              <a:rPr sz="3200" dirty="0"/>
              <a:t>	</a:t>
            </a:r>
            <a:r>
              <a:rPr sz="3200" spc="-25" dirty="0"/>
              <a:t>(2)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3200" dirty="0"/>
              <a:t>Từ</a:t>
            </a:r>
            <a:r>
              <a:rPr sz="3200" spc="-20" dirty="0"/>
              <a:t> </a:t>
            </a:r>
            <a:r>
              <a:rPr sz="3200" dirty="0"/>
              <a:t>(1),(2)</a:t>
            </a:r>
            <a:r>
              <a:rPr sz="3200" spc="-50" dirty="0"/>
              <a:t> </a:t>
            </a:r>
            <a:r>
              <a:rPr sz="3200" dirty="0"/>
              <a:t>bằng</a:t>
            </a:r>
            <a:r>
              <a:rPr sz="3200" spc="-25" dirty="0"/>
              <a:t> </a:t>
            </a:r>
            <a:r>
              <a:rPr sz="3200" dirty="0"/>
              <a:t>luật</a:t>
            </a:r>
            <a:r>
              <a:rPr sz="3200" spc="-20" dirty="0"/>
              <a:t> </a:t>
            </a:r>
            <a:r>
              <a:rPr sz="3200" dirty="0"/>
              <a:t>UI,</a:t>
            </a:r>
            <a:r>
              <a:rPr sz="3200" spc="-5" dirty="0"/>
              <a:t> </a:t>
            </a:r>
            <a:r>
              <a:rPr sz="3200" dirty="0"/>
              <a:t>ta</a:t>
            </a:r>
            <a:r>
              <a:rPr sz="3200" spc="-25" dirty="0"/>
              <a:t> có:</a:t>
            </a:r>
            <a:endParaRPr sz="3200"/>
          </a:p>
          <a:p>
            <a:pPr marL="927100">
              <a:lnSpc>
                <a:spcPct val="100000"/>
              </a:lnSpc>
              <a:spcBef>
                <a:spcPts val="994"/>
              </a:spcBef>
              <a:tabLst>
                <a:tab pos="7735570" algn="l"/>
              </a:tabLst>
            </a:pPr>
            <a:r>
              <a:rPr sz="3200" dirty="0"/>
              <a:t>man(socrates)</a:t>
            </a:r>
            <a:r>
              <a:rPr sz="3200" spc="-80" dirty="0"/>
              <a:t> </a:t>
            </a:r>
            <a:r>
              <a:rPr sz="3200" dirty="0">
                <a:latin typeface="Symbol"/>
                <a:cs typeface="Symbol"/>
              </a:rPr>
              <a:t>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0" dirty="0"/>
              <a:t>mortal(socrates)</a:t>
            </a:r>
            <a:r>
              <a:rPr sz="3200" dirty="0"/>
              <a:t>	</a:t>
            </a:r>
            <a:r>
              <a:rPr sz="3200" spc="-25" dirty="0"/>
              <a:t>(3)</a:t>
            </a:r>
            <a:endParaRPr sz="3200">
              <a:latin typeface="Times New Roman"/>
              <a:cs typeface="Times New Roman"/>
            </a:endParaRPr>
          </a:p>
          <a:p>
            <a:pPr marL="927100" marR="4959350" indent="-915035">
              <a:lnSpc>
                <a:spcPts val="4800"/>
              </a:lnSpc>
              <a:spcBef>
                <a:spcPts val="85"/>
              </a:spcBef>
            </a:pPr>
            <a:r>
              <a:rPr sz="3200" dirty="0"/>
              <a:t>Từ</a:t>
            </a:r>
            <a:r>
              <a:rPr sz="3200" spc="-35" dirty="0"/>
              <a:t> </a:t>
            </a:r>
            <a:r>
              <a:rPr sz="3200" dirty="0"/>
              <a:t>(3)</a:t>
            </a:r>
            <a:r>
              <a:rPr sz="3200" spc="-35" dirty="0"/>
              <a:t> </a:t>
            </a:r>
            <a:r>
              <a:rPr sz="3200" dirty="0"/>
              <a:t>và</a:t>
            </a:r>
            <a:r>
              <a:rPr sz="3200" spc="-25" dirty="0"/>
              <a:t> </a:t>
            </a:r>
            <a:r>
              <a:rPr sz="3200" dirty="0"/>
              <a:t>(2)</a:t>
            </a:r>
            <a:r>
              <a:rPr sz="3200" spc="-35" dirty="0"/>
              <a:t> </a:t>
            </a:r>
            <a:r>
              <a:rPr sz="3200" dirty="0"/>
              <a:t>bằng</a:t>
            </a:r>
            <a:r>
              <a:rPr sz="3200" spc="-35" dirty="0"/>
              <a:t> </a:t>
            </a:r>
            <a:r>
              <a:rPr sz="3200" dirty="0"/>
              <a:t>luật</a:t>
            </a:r>
            <a:r>
              <a:rPr sz="3200" spc="-30" dirty="0"/>
              <a:t> </a:t>
            </a:r>
            <a:r>
              <a:rPr sz="3200" spc="-120" dirty="0"/>
              <a:t>MP,</a:t>
            </a:r>
            <a:r>
              <a:rPr sz="3200" spc="-20" dirty="0"/>
              <a:t> </a:t>
            </a:r>
            <a:r>
              <a:rPr sz="3200" dirty="0"/>
              <a:t>ta</a:t>
            </a:r>
            <a:r>
              <a:rPr sz="3200" spc="-15" dirty="0"/>
              <a:t> </a:t>
            </a:r>
            <a:r>
              <a:rPr sz="3200" spc="-25" dirty="0"/>
              <a:t>có: </a:t>
            </a:r>
            <a:r>
              <a:rPr sz="3200" spc="-10" dirty="0"/>
              <a:t>mortal(socrates)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80</a:t>
            </a:fld>
            <a:endParaRPr spc="-25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498728"/>
            <a:ext cx="86245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455F51"/>
                </a:solidFill>
              </a:rPr>
              <a:t>Đối sánh</a:t>
            </a:r>
            <a:r>
              <a:rPr sz="4800" spc="-1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mẫu</a:t>
            </a:r>
            <a:r>
              <a:rPr sz="4800" spc="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và</a:t>
            </a:r>
            <a:r>
              <a:rPr sz="4800" spc="-10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phép</a:t>
            </a:r>
            <a:r>
              <a:rPr sz="4800" spc="-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hợp</a:t>
            </a:r>
            <a:r>
              <a:rPr sz="4800" spc="-10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nhất </a:t>
            </a:r>
            <a:r>
              <a:rPr sz="4800" spc="-25" dirty="0">
                <a:solidFill>
                  <a:srgbClr val="455F51"/>
                </a:solidFill>
              </a:rPr>
              <a:t>(1)</a:t>
            </a:r>
            <a:endParaRPr sz="48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32358" rIns="0" bIns="0" rtlCol="0">
            <a:spAutoFit/>
          </a:bodyPr>
          <a:lstStyle/>
          <a:p>
            <a:pPr marL="286385" marR="153035" indent="-274320">
              <a:lnSpc>
                <a:spcPct val="85000"/>
              </a:lnSpc>
              <a:spcBef>
                <a:spcPts val="815"/>
              </a:spcBef>
              <a:buClr>
                <a:srgbClr val="C0CF39"/>
              </a:buClr>
              <a:buSzPct val="92500"/>
              <a:buFont typeface="Wingdings 2"/>
              <a:buChar char=""/>
              <a:tabLst>
                <a:tab pos="286385" algn="l"/>
              </a:tabLst>
            </a:pPr>
            <a:r>
              <a:rPr dirty="0"/>
              <a:t>Phép</a:t>
            </a:r>
            <a:r>
              <a:rPr spc="-75" dirty="0"/>
              <a:t> </a:t>
            </a:r>
            <a:r>
              <a:rPr dirty="0"/>
              <a:t>hợp</a:t>
            </a:r>
            <a:r>
              <a:rPr spc="-65" dirty="0"/>
              <a:t> </a:t>
            </a:r>
            <a:r>
              <a:rPr dirty="0"/>
              <a:t>nhất</a:t>
            </a:r>
            <a:r>
              <a:rPr spc="-60" dirty="0"/>
              <a:t> </a:t>
            </a:r>
            <a:r>
              <a:rPr dirty="0"/>
              <a:t>(unification)</a:t>
            </a:r>
            <a:r>
              <a:rPr spc="-40" dirty="0"/>
              <a:t> </a:t>
            </a:r>
            <a:r>
              <a:rPr dirty="0"/>
              <a:t>là</a:t>
            </a:r>
            <a:r>
              <a:rPr spc="-55" dirty="0"/>
              <a:t> </a:t>
            </a:r>
            <a:r>
              <a:rPr dirty="0"/>
              <a:t>một</a:t>
            </a:r>
            <a:r>
              <a:rPr spc="-40" dirty="0"/>
              <a:t> </a:t>
            </a:r>
            <a:r>
              <a:rPr dirty="0"/>
              <a:t>giải</a:t>
            </a:r>
            <a:r>
              <a:rPr spc="-55" dirty="0"/>
              <a:t> </a:t>
            </a:r>
            <a:r>
              <a:rPr spc="-10" dirty="0"/>
              <a:t>thuật </a:t>
            </a:r>
            <a:r>
              <a:rPr dirty="0"/>
              <a:t>dùng</a:t>
            </a:r>
            <a:r>
              <a:rPr spc="-45" dirty="0"/>
              <a:t> </a:t>
            </a:r>
            <a:r>
              <a:rPr dirty="0"/>
              <a:t>để</a:t>
            </a:r>
            <a:r>
              <a:rPr spc="-45" dirty="0"/>
              <a:t> </a:t>
            </a:r>
            <a:r>
              <a:rPr dirty="0"/>
              <a:t>xác</a:t>
            </a:r>
            <a:r>
              <a:rPr spc="-50" dirty="0"/>
              <a:t> </a:t>
            </a:r>
            <a:r>
              <a:rPr dirty="0"/>
              <a:t>định</a:t>
            </a:r>
            <a:r>
              <a:rPr spc="-50" dirty="0"/>
              <a:t> </a:t>
            </a:r>
            <a:r>
              <a:rPr dirty="0"/>
              <a:t>những</a:t>
            </a:r>
            <a:r>
              <a:rPr spc="-35" dirty="0"/>
              <a:t> </a:t>
            </a:r>
            <a:r>
              <a:rPr dirty="0"/>
              <a:t>phép</a:t>
            </a:r>
            <a:r>
              <a:rPr spc="-60" dirty="0"/>
              <a:t> </a:t>
            </a:r>
            <a:r>
              <a:rPr dirty="0"/>
              <a:t>thế</a:t>
            </a:r>
            <a:r>
              <a:rPr spc="-50" dirty="0"/>
              <a:t> </a:t>
            </a:r>
            <a:r>
              <a:rPr dirty="0"/>
              <a:t>cần</a:t>
            </a:r>
            <a:r>
              <a:rPr spc="-40" dirty="0"/>
              <a:t> </a:t>
            </a:r>
            <a:r>
              <a:rPr dirty="0"/>
              <a:t>thiết</a:t>
            </a:r>
            <a:r>
              <a:rPr spc="-65" dirty="0"/>
              <a:t> </a:t>
            </a:r>
            <a:r>
              <a:rPr spc="-25" dirty="0"/>
              <a:t>để </a:t>
            </a:r>
            <a:r>
              <a:rPr dirty="0"/>
              <a:t>làm</a:t>
            </a:r>
            <a:r>
              <a:rPr spc="-25" dirty="0"/>
              <a:t> </a:t>
            </a:r>
            <a:r>
              <a:rPr dirty="0"/>
              <a:t>cho</a:t>
            </a:r>
            <a:r>
              <a:rPr spc="-40" dirty="0"/>
              <a:t> </a:t>
            </a:r>
            <a:r>
              <a:rPr dirty="0"/>
              <a:t>hai</a:t>
            </a:r>
            <a:r>
              <a:rPr spc="-25" dirty="0"/>
              <a:t> </a:t>
            </a:r>
            <a:r>
              <a:rPr dirty="0"/>
              <a:t>biểu</a:t>
            </a:r>
            <a:r>
              <a:rPr spc="-40" dirty="0"/>
              <a:t> </a:t>
            </a:r>
            <a:r>
              <a:rPr dirty="0"/>
              <a:t>thức</a:t>
            </a:r>
            <a:r>
              <a:rPr spc="-55" dirty="0"/>
              <a:t> </a:t>
            </a:r>
            <a:r>
              <a:rPr dirty="0"/>
              <a:t>vị</a:t>
            </a:r>
            <a:r>
              <a:rPr spc="-25" dirty="0"/>
              <a:t> </a:t>
            </a:r>
            <a:r>
              <a:rPr dirty="0"/>
              <a:t>từ</a:t>
            </a:r>
            <a:r>
              <a:rPr spc="-50" dirty="0"/>
              <a:t> </a:t>
            </a:r>
            <a:r>
              <a:rPr dirty="0"/>
              <a:t>đối</a:t>
            </a:r>
            <a:r>
              <a:rPr spc="-30" dirty="0"/>
              <a:t> </a:t>
            </a:r>
            <a:r>
              <a:rPr dirty="0"/>
              <a:t>sánh</a:t>
            </a:r>
            <a:r>
              <a:rPr spc="-35" dirty="0"/>
              <a:t> </a:t>
            </a:r>
            <a:r>
              <a:rPr spc="-10" dirty="0"/>
              <a:t>(match) </a:t>
            </a:r>
            <a:r>
              <a:rPr spc="-20" dirty="0"/>
              <a:t>nhau</a:t>
            </a:r>
          </a:p>
          <a:p>
            <a:pPr marL="286385" marR="5080" indent="-274320">
              <a:lnSpc>
                <a:spcPct val="85000"/>
              </a:lnSpc>
              <a:spcBef>
                <a:spcPts val="1440"/>
              </a:spcBef>
              <a:buClr>
                <a:srgbClr val="C0CF39"/>
              </a:buClr>
              <a:buSzPct val="92500"/>
              <a:buFont typeface="Wingdings 2"/>
              <a:buChar char=""/>
              <a:tabLst>
                <a:tab pos="286385" algn="l"/>
              </a:tabLst>
            </a:pPr>
            <a:r>
              <a:rPr dirty="0"/>
              <a:t>Một</a:t>
            </a:r>
            <a:r>
              <a:rPr spc="-20" dirty="0"/>
              <a:t> </a:t>
            </a:r>
            <a:r>
              <a:rPr dirty="0"/>
              <a:t>biến</a:t>
            </a:r>
            <a:r>
              <a:rPr spc="-40" dirty="0"/>
              <a:t> </a:t>
            </a:r>
            <a:r>
              <a:rPr dirty="0"/>
              <a:t>có</a:t>
            </a:r>
            <a:r>
              <a:rPr spc="-25" dirty="0"/>
              <a:t> </a:t>
            </a:r>
            <a:r>
              <a:rPr dirty="0"/>
              <a:t>thể</a:t>
            </a:r>
            <a:r>
              <a:rPr spc="-35" dirty="0"/>
              <a:t> </a:t>
            </a:r>
            <a:r>
              <a:rPr dirty="0"/>
              <a:t>được</a:t>
            </a:r>
            <a:r>
              <a:rPr spc="-45" dirty="0"/>
              <a:t> </a:t>
            </a:r>
            <a:r>
              <a:rPr dirty="0"/>
              <a:t>thay</a:t>
            </a:r>
            <a:r>
              <a:rPr spc="-35" dirty="0"/>
              <a:t> </a:t>
            </a:r>
            <a:r>
              <a:rPr dirty="0"/>
              <a:t>thế</a:t>
            </a:r>
            <a:r>
              <a:rPr spc="-35" dirty="0"/>
              <a:t> </a:t>
            </a:r>
            <a:r>
              <a:rPr dirty="0"/>
              <a:t>bởi</a:t>
            </a:r>
            <a:r>
              <a:rPr spc="-40" dirty="0"/>
              <a:t> </a:t>
            </a:r>
            <a:r>
              <a:rPr dirty="0"/>
              <a:t>một</a:t>
            </a:r>
            <a:r>
              <a:rPr spc="-15" dirty="0"/>
              <a:t> </a:t>
            </a:r>
            <a:r>
              <a:rPr dirty="0"/>
              <a:t>mục</a:t>
            </a:r>
            <a:r>
              <a:rPr spc="-25" dirty="0"/>
              <a:t> bất </a:t>
            </a:r>
            <a:r>
              <a:rPr dirty="0"/>
              <a:t>kỳ</a:t>
            </a:r>
            <a:r>
              <a:rPr spc="-30" dirty="0"/>
              <a:t> </a:t>
            </a:r>
            <a:r>
              <a:rPr dirty="0"/>
              <a:t>(hằng,</a:t>
            </a:r>
            <a:r>
              <a:rPr spc="-25" dirty="0"/>
              <a:t> </a:t>
            </a:r>
            <a:r>
              <a:rPr dirty="0"/>
              <a:t>biến,</a:t>
            </a:r>
            <a:r>
              <a:rPr spc="-40" dirty="0"/>
              <a:t> </a:t>
            </a:r>
            <a:r>
              <a:rPr dirty="0"/>
              <a:t>biểu</a:t>
            </a:r>
            <a:r>
              <a:rPr spc="-30" dirty="0"/>
              <a:t> </a:t>
            </a:r>
            <a:r>
              <a:rPr dirty="0"/>
              <a:t>thức</a:t>
            </a:r>
            <a:r>
              <a:rPr spc="-30" dirty="0"/>
              <a:t> </a:t>
            </a:r>
            <a:r>
              <a:rPr dirty="0"/>
              <a:t>hàm</a:t>
            </a:r>
            <a:r>
              <a:rPr spc="-35" dirty="0"/>
              <a:t> </a:t>
            </a:r>
            <a:r>
              <a:rPr dirty="0"/>
              <a:t>có</a:t>
            </a:r>
            <a:r>
              <a:rPr spc="-15" dirty="0"/>
              <a:t> </a:t>
            </a:r>
            <a:r>
              <a:rPr dirty="0"/>
              <a:t>thể</a:t>
            </a:r>
            <a:r>
              <a:rPr spc="-35" dirty="0"/>
              <a:t> </a:t>
            </a:r>
            <a:r>
              <a:rPr dirty="0"/>
              <a:t>chứa</a:t>
            </a:r>
            <a:r>
              <a:rPr spc="-35" dirty="0"/>
              <a:t> </a:t>
            </a:r>
            <a:r>
              <a:rPr spc="-25" dirty="0"/>
              <a:t>các </a:t>
            </a:r>
            <a:r>
              <a:rPr dirty="0"/>
              <a:t>biến </a:t>
            </a:r>
            <a:r>
              <a:rPr spc="-10" dirty="0"/>
              <a:t>khác)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81</a:t>
            </a:fld>
            <a:endParaRPr spc="-25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498728"/>
            <a:ext cx="86245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455F51"/>
                </a:solidFill>
              </a:rPr>
              <a:t>Đối sánh</a:t>
            </a:r>
            <a:r>
              <a:rPr sz="4800" spc="-1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mẫu</a:t>
            </a:r>
            <a:r>
              <a:rPr sz="4800" spc="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và</a:t>
            </a:r>
            <a:r>
              <a:rPr sz="4800" spc="-10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phép</a:t>
            </a:r>
            <a:r>
              <a:rPr sz="4800" spc="-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hợp</a:t>
            </a:r>
            <a:r>
              <a:rPr sz="4800" spc="-10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nhất </a:t>
            </a:r>
            <a:r>
              <a:rPr sz="4800" spc="-25" dirty="0">
                <a:solidFill>
                  <a:srgbClr val="455F51"/>
                </a:solidFill>
              </a:rPr>
              <a:t>(2)</a:t>
            </a:r>
            <a:endParaRPr sz="48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430"/>
              </a:lnSpc>
            </a:pPr>
            <a:fld id="{81D60167-4931-47E6-BA6A-407CBD079E47}" type="slidenum">
              <a:rPr spc="-25" dirty="0">
                <a:latin typeface="Arial"/>
                <a:cs typeface="Arial"/>
              </a:rPr>
              <a:t>82</a:t>
            </a:fld>
            <a:endParaRPr spc="-2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492097"/>
            <a:ext cx="5534025" cy="11474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675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Ví</a:t>
            </a:r>
            <a:r>
              <a:rPr sz="3200" u="sng" spc="-1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3200" u="sng" spc="-2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dụ:</a:t>
            </a:r>
            <a:endParaRPr sz="3200">
              <a:latin typeface="Palatino Linotype"/>
              <a:cs typeface="Palatino Linotype"/>
            </a:endParaRPr>
          </a:p>
          <a:p>
            <a:pPr marL="286385">
              <a:lnSpc>
                <a:spcPct val="100000"/>
              </a:lnSpc>
              <a:spcBef>
                <a:spcPts val="575"/>
              </a:spcBef>
            </a:pPr>
            <a:r>
              <a:rPr sz="3200" dirty="0">
                <a:latin typeface="Palatino Linotype"/>
                <a:cs typeface="Palatino Linotype"/>
              </a:rPr>
              <a:t>Đối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sánh</a:t>
            </a:r>
            <a:r>
              <a:rPr sz="3200" spc="-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foo(X,a,goo(Y))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spc="-20" dirty="0">
                <a:latin typeface="Palatino Linotype"/>
                <a:cs typeface="Palatino Linotype"/>
              </a:rPr>
              <a:t>với:</a:t>
            </a:r>
            <a:endParaRPr sz="32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6105" y="2613209"/>
            <a:ext cx="3844925" cy="3392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55980">
              <a:lnSpc>
                <a:spcPct val="114999"/>
              </a:lnSpc>
              <a:spcBef>
                <a:spcPts val="100"/>
              </a:spcBef>
            </a:pPr>
            <a:r>
              <a:rPr sz="3200" spc="-10" dirty="0">
                <a:latin typeface="Palatino Linotype"/>
                <a:cs typeface="Palatino Linotype"/>
              </a:rPr>
              <a:t>foo(X,b,foo(Y)) foo(X,Y) moo(X,a,goo(Y))</a:t>
            </a:r>
            <a:endParaRPr sz="3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3200" dirty="0">
                <a:latin typeface="Palatino Linotype"/>
                <a:cs typeface="Palatino Linotype"/>
              </a:rPr>
              <a:t>foo(fred,a,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spc="-10" dirty="0">
                <a:latin typeface="Palatino Linotype"/>
                <a:cs typeface="Palatino Linotype"/>
              </a:rPr>
              <a:t>goo(Z))</a:t>
            </a:r>
            <a:endParaRPr sz="3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3200" spc="-10" dirty="0">
                <a:latin typeface="Palatino Linotype"/>
                <a:cs typeface="Palatino Linotype"/>
              </a:rPr>
              <a:t>foo(W,a,goo(jack))</a:t>
            </a:r>
            <a:endParaRPr sz="3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3200" spc="-10" dirty="0">
                <a:latin typeface="Palatino Linotype"/>
                <a:cs typeface="Palatino Linotype"/>
              </a:rPr>
              <a:t>foo(Z,a,goo(moo(Z)))</a:t>
            </a:r>
            <a:endParaRPr sz="320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75628" y="2613209"/>
            <a:ext cx="2821305" cy="3392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30" algn="just">
              <a:lnSpc>
                <a:spcPct val="114999"/>
              </a:lnSpc>
              <a:spcBef>
                <a:spcPts val="100"/>
              </a:spcBef>
            </a:pPr>
            <a:r>
              <a:rPr sz="3200" dirty="0">
                <a:latin typeface="Palatino Linotype"/>
                <a:cs typeface="Palatino Linotype"/>
              </a:rPr>
              <a:t>không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đối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spc="-20" dirty="0">
                <a:latin typeface="Palatino Linotype"/>
                <a:cs typeface="Palatino Linotype"/>
              </a:rPr>
              <a:t>sánh </a:t>
            </a:r>
            <a:r>
              <a:rPr sz="3200" dirty="0">
                <a:latin typeface="Palatino Linotype"/>
                <a:cs typeface="Palatino Linotype"/>
              </a:rPr>
              <a:t>không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đối</a:t>
            </a:r>
            <a:r>
              <a:rPr sz="3200" spc="-20" dirty="0">
                <a:latin typeface="Palatino Linotype"/>
                <a:cs typeface="Palatino Linotype"/>
              </a:rPr>
              <a:t> sánh </a:t>
            </a:r>
            <a:r>
              <a:rPr sz="3200" dirty="0">
                <a:latin typeface="Palatino Linotype"/>
                <a:cs typeface="Palatino Linotype"/>
              </a:rPr>
              <a:t>không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đối</a:t>
            </a:r>
            <a:r>
              <a:rPr sz="3200" spc="-20" dirty="0">
                <a:latin typeface="Palatino Linotype"/>
                <a:cs typeface="Palatino Linotype"/>
              </a:rPr>
              <a:t> sánh</a:t>
            </a:r>
            <a:endParaRPr sz="3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3200" dirty="0">
                <a:latin typeface="Palatino Linotype"/>
                <a:cs typeface="Palatino Linotype"/>
              </a:rPr>
              <a:t>{fred/X,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spc="-20" dirty="0">
                <a:latin typeface="Palatino Linotype"/>
                <a:cs typeface="Palatino Linotype"/>
              </a:rPr>
              <a:t>Z/Y}</a:t>
            </a:r>
            <a:endParaRPr sz="3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3200" spc="-10" dirty="0">
                <a:latin typeface="Palatino Linotype"/>
                <a:cs typeface="Palatino Linotype"/>
              </a:rPr>
              <a:t>{W/X,jack/Y}</a:t>
            </a:r>
            <a:endParaRPr sz="3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3200" spc="-10" dirty="0">
                <a:latin typeface="Palatino Linotype"/>
                <a:cs typeface="Palatino Linotype"/>
              </a:rPr>
              <a:t>{Z/X,moo(Z)/Y}</a:t>
            </a:r>
            <a:endParaRPr sz="3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296926"/>
            <a:ext cx="86245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455F51"/>
                </a:solidFill>
              </a:rPr>
              <a:t>Đối sánh</a:t>
            </a:r>
            <a:r>
              <a:rPr sz="4800" spc="-1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mẫu</a:t>
            </a:r>
            <a:r>
              <a:rPr sz="4800" spc="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và</a:t>
            </a:r>
            <a:r>
              <a:rPr sz="4800" spc="-10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phép</a:t>
            </a:r>
            <a:r>
              <a:rPr sz="4800" spc="-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hợp</a:t>
            </a:r>
            <a:r>
              <a:rPr sz="4800" spc="-10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nhất </a:t>
            </a:r>
            <a:r>
              <a:rPr sz="4800" spc="-25" dirty="0">
                <a:solidFill>
                  <a:srgbClr val="455F51"/>
                </a:solidFill>
              </a:rPr>
              <a:t>(3)</a:t>
            </a:r>
            <a:endParaRPr sz="4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390">
              <a:lnSpc>
                <a:spcPts val="1220"/>
              </a:lnSpc>
            </a:pPr>
            <a:fld id="{81D60167-4931-47E6-BA6A-407CBD079E47}" type="slidenum">
              <a:rPr spc="-25" dirty="0"/>
              <a:t>83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1234541"/>
            <a:ext cx="10116820" cy="528447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300" b="1" dirty="0">
                <a:latin typeface="Palatino Linotype"/>
                <a:cs typeface="Palatino Linotype"/>
              </a:rPr>
              <a:t>Giải</a:t>
            </a:r>
            <a:r>
              <a:rPr sz="2300" b="1" spc="-25" dirty="0">
                <a:latin typeface="Palatino Linotype"/>
                <a:cs typeface="Palatino Linotype"/>
              </a:rPr>
              <a:t> </a:t>
            </a:r>
            <a:r>
              <a:rPr sz="2300" b="1" dirty="0">
                <a:latin typeface="Palatino Linotype"/>
                <a:cs typeface="Palatino Linotype"/>
              </a:rPr>
              <a:t>thuật</a:t>
            </a:r>
            <a:r>
              <a:rPr sz="2300" b="1" spc="-30" dirty="0">
                <a:latin typeface="Palatino Linotype"/>
                <a:cs typeface="Palatino Linotype"/>
              </a:rPr>
              <a:t> </a:t>
            </a:r>
            <a:r>
              <a:rPr sz="2300" b="1" dirty="0">
                <a:latin typeface="Palatino Linotype"/>
                <a:cs typeface="Palatino Linotype"/>
              </a:rPr>
              <a:t>đối</a:t>
            </a:r>
            <a:r>
              <a:rPr sz="2300" b="1" spc="-15" dirty="0">
                <a:latin typeface="Palatino Linotype"/>
                <a:cs typeface="Palatino Linotype"/>
              </a:rPr>
              <a:t> </a:t>
            </a:r>
            <a:r>
              <a:rPr sz="2300" b="1" dirty="0">
                <a:latin typeface="Palatino Linotype"/>
                <a:cs typeface="Palatino Linotype"/>
              </a:rPr>
              <a:t>sánh</a:t>
            </a:r>
            <a:r>
              <a:rPr sz="2300" b="1" spc="-25" dirty="0">
                <a:latin typeface="Palatino Linotype"/>
                <a:cs typeface="Palatino Linotype"/>
              </a:rPr>
              <a:t> mẫu</a:t>
            </a:r>
            <a:endParaRPr sz="2300">
              <a:latin typeface="Palatino Linotype"/>
              <a:cs typeface="Palatino Linotype"/>
            </a:endParaRPr>
          </a:p>
          <a:p>
            <a:pPr marL="393700" marR="3035300" indent="-381000">
              <a:lnSpc>
                <a:spcPct val="110000"/>
              </a:lnSpc>
              <a:buClr>
                <a:srgbClr val="C0CF39"/>
              </a:buClr>
              <a:buSzPct val="93478"/>
              <a:buAutoNum type="arabicPeriod"/>
              <a:tabLst>
                <a:tab pos="393700" algn="l"/>
                <a:tab pos="1841500" algn="l"/>
              </a:tabLst>
            </a:pPr>
            <a:r>
              <a:rPr sz="2300" b="1" i="1" dirty="0">
                <a:latin typeface="Palatino Linotype"/>
                <a:cs typeface="Palatino Linotype"/>
              </a:rPr>
              <a:t>Hằng</a:t>
            </a:r>
            <a:r>
              <a:rPr sz="2300" b="1" i="1" spc="-40" dirty="0">
                <a:latin typeface="Palatino Linotype"/>
                <a:cs typeface="Palatino Linotype"/>
              </a:rPr>
              <a:t> </a:t>
            </a:r>
            <a:r>
              <a:rPr sz="2300" b="1" i="1" dirty="0">
                <a:latin typeface="Palatino Linotype"/>
                <a:cs typeface="Palatino Linotype"/>
              </a:rPr>
              <a:t>/ hằng</a:t>
            </a:r>
            <a:r>
              <a:rPr sz="2300" b="1" i="1" spc="-50" dirty="0">
                <a:latin typeface="Palatino Linotype"/>
                <a:cs typeface="Palatino Linotype"/>
              </a:rPr>
              <a:t> </a:t>
            </a:r>
            <a:r>
              <a:rPr sz="2300" b="1" i="1" dirty="0">
                <a:latin typeface="Palatino Linotype"/>
                <a:cs typeface="Palatino Linotype"/>
              </a:rPr>
              <a:t>đối</a:t>
            </a:r>
            <a:r>
              <a:rPr sz="2300" b="1" i="1" spc="-30" dirty="0">
                <a:latin typeface="Palatino Linotype"/>
                <a:cs typeface="Palatino Linotype"/>
              </a:rPr>
              <a:t> </a:t>
            </a:r>
            <a:r>
              <a:rPr sz="2300" b="1" i="1" dirty="0">
                <a:latin typeface="Palatino Linotype"/>
                <a:cs typeface="Palatino Linotype"/>
              </a:rPr>
              <a:t>sánh:</a:t>
            </a:r>
            <a:r>
              <a:rPr sz="2300" b="1" i="1" spc="-3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chỉ</a:t>
            </a:r>
            <a:r>
              <a:rPr sz="2300" spc="-1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khi</a:t>
            </a:r>
            <a:r>
              <a:rPr sz="2300" spc="-1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chúng</a:t>
            </a:r>
            <a:r>
              <a:rPr sz="2300" spc="-2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giống</a:t>
            </a:r>
            <a:r>
              <a:rPr sz="2300" spc="-4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hệt</a:t>
            </a:r>
            <a:r>
              <a:rPr sz="2300" spc="-15" dirty="0">
                <a:latin typeface="Palatino Linotype"/>
                <a:cs typeface="Palatino Linotype"/>
              </a:rPr>
              <a:t> </a:t>
            </a:r>
            <a:r>
              <a:rPr sz="2300" spc="-20" dirty="0">
                <a:latin typeface="Palatino Linotype"/>
                <a:cs typeface="Palatino Linotype"/>
              </a:rPr>
              <a:t>nhau </a:t>
            </a:r>
            <a:r>
              <a:rPr sz="2300" spc="-25" dirty="0">
                <a:latin typeface="Palatino Linotype"/>
                <a:cs typeface="Palatino Linotype"/>
              </a:rPr>
              <a:t>VD:</a:t>
            </a:r>
            <a:r>
              <a:rPr sz="2300" dirty="0">
                <a:latin typeface="Palatino Linotype"/>
                <a:cs typeface="Palatino Linotype"/>
              </a:rPr>
              <a:t>	alice</a:t>
            </a:r>
            <a:r>
              <a:rPr sz="2300" spc="-2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không</a:t>
            </a:r>
            <a:r>
              <a:rPr sz="2300" spc="-5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đối</a:t>
            </a:r>
            <a:r>
              <a:rPr sz="2300" spc="-3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sánh</a:t>
            </a:r>
            <a:r>
              <a:rPr sz="2300" spc="-2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với</a:t>
            </a:r>
            <a:r>
              <a:rPr sz="2300" spc="-20" dirty="0">
                <a:latin typeface="Palatino Linotype"/>
                <a:cs typeface="Palatino Linotype"/>
              </a:rPr>
              <a:t> mary</a:t>
            </a:r>
            <a:endParaRPr sz="2300">
              <a:latin typeface="Palatino Linotype"/>
              <a:cs typeface="Palatino Linotype"/>
            </a:endParaRPr>
          </a:p>
          <a:p>
            <a:pPr marL="469900" indent="-457200">
              <a:lnSpc>
                <a:spcPct val="100000"/>
              </a:lnSpc>
              <a:spcBef>
                <a:spcPts val="275"/>
              </a:spcBef>
              <a:buClr>
                <a:srgbClr val="C0CF39"/>
              </a:buClr>
              <a:buSzPct val="93478"/>
              <a:buAutoNum type="arabicPeriod"/>
              <a:tabLst>
                <a:tab pos="469900" algn="l"/>
              </a:tabLst>
            </a:pPr>
            <a:r>
              <a:rPr sz="2300" b="1" i="1" dirty="0">
                <a:latin typeface="Palatino Linotype"/>
                <a:cs typeface="Palatino Linotype"/>
              </a:rPr>
              <a:t>Hằng</a:t>
            </a:r>
            <a:r>
              <a:rPr sz="2300" b="1" i="1" spc="-35" dirty="0">
                <a:latin typeface="Palatino Linotype"/>
                <a:cs typeface="Palatino Linotype"/>
              </a:rPr>
              <a:t> </a:t>
            </a:r>
            <a:r>
              <a:rPr sz="2300" b="1" i="1" dirty="0">
                <a:latin typeface="Palatino Linotype"/>
                <a:cs typeface="Palatino Linotype"/>
              </a:rPr>
              <a:t>a</a:t>
            </a:r>
            <a:r>
              <a:rPr sz="2300" b="1" i="1" spc="-15" dirty="0">
                <a:latin typeface="Palatino Linotype"/>
                <a:cs typeface="Palatino Linotype"/>
              </a:rPr>
              <a:t> </a:t>
            </a:r>
            <a:r>
              <a:rPr sz="2300" b="1" i="1" dirty="0">
                <a:latin typeface="Palatino Linotype"/>
                <a:cs typeface="Palatino Linotype"/>
              </a:rPr>
              <a:t>/ biến</a:t>
            </a:r>
            <a:r>
              <a:rPr sz="2300" b="1" i="1" spc="-20" dirty="0">
                <a:latin typeface="Palatino Linotype"/>
                <a:cs typeface="Palatino Linotype"/>
              </a:rPr>
              <a:t> </a:t>
            </a:r>
            <a:r>
              <a:rPr sz="2300" b="1" i="1" dirty="0">
                <a:latin typeface="Palatino Linotype"/>
                <a:cs typeface="Palatino Linotype"/>
              </a:rPr>
              <a:t>X</a:t>
            </a:r>
            <a:r>
              <a:rPr sz="2300" b="1" i="1" spc="-15" dirty="0">
                <a:latin typeface="Palatino Linotype"/>
                <a:cs typeface="Palatino Linotype"/>
              </a:rPr>
              <a:t> </a:t>
            </a:r>
            <a:r>
              <a:rPr sz="2300" b="1" i="1" dirty="0">
                <a:latin typeface="Palatino Linotype"/>
                <a:cs typeface="Palatino Linotype"/>
              </a:rPr>
              <a:t>đối</a:t>
            </a:r>
            <a:r>
              <a:rPr sz="2300" b="1" i="1" spc="-25" dirty="0">
                <a:latin typeface="Palatino Linotype"/>
                <a:cs typeface="Palatino Linotype"/>
              </a:rPr>
              <a:t> </a:t>
            </a:r>
            <a:r>
              <a:rPr sz="2300" b="1" i="1" spc="-20" dirty="0">
                <a:latin typeface="Palatino Linotype"/>
                <a:cs typeface="Palatino Linotype"/>
              </a:rPr>
              <a:t>sánh:</a:t>
            </a:r>
            <a:endParaRPr sz="2300">
              <a:latin typeface="Palatino Linotype"/>
              <a:cs typeface="Palatino Linotype"/>
            </a:endParaRPr>
          </a:p>
          <a:p>
            <a:pPr marL="927100" lvl="1" indent="-457200">
              <a:lnSpc>
                <a:spcPct val="100000"/>
              </a:lnSpc>
              <a:spcBef>
                <a:spcPts val="280"/>
              </a:spcBef>
              <a:buClr>
                <a:srgbClr val="539E39"/>
              </a:buClr>
              <a:buSzPct val="84782"/>
              <a:buAutoNum type="arabicPeriod" startAt="2"/>
              <a:tabLst>
                <a:tab pos="927100" algn="l"/>
              </a:tabLst>
            </a:pPr>
            <a:r>
              <a:rPr sz="2300" dirty="0">
                <a:latin typeface="Palatino Linotype"/>
                <a:cs typeface="Palatino Linotype"/>
              </a:rPr>
              <a:t>Biến</a:t>
            </a:r>
            <a:r>
              <a:rPr sz="2300" spc="-2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chưa</a:t>
            </a:r>
            <a:r>
              <a:rPr sz="2300" spc="-2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kết</a:t>
            </a:r>
            <a:r>
              <a:rPr sz="2300" spc="-2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buộc:</a:t>
            </a:r>
            <a:r>
              <a:rPr sz="2300" spc="-2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biến</a:t>
            </a:r>
            <a:r>
              <a:rPr sz="2300" spc="-1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trở</a:t>
            </a:r>
            <a:r>
              <a:rPr sz="2300" spc="-1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thành</a:t>
            </a:r>
            <a:r>
              <a:rPr sz="2300" spc="-3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kết</a:t>
            </a:r>
            <a:r>
              <a:rPr sz="2300" spc="-2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buộc</a:t>
            </a:r>
            <a:r>
              <a:rPr sz="2300" spc="-2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với</a:t>
            </a:r>
            <a:r>
              <a:rPr sz="2300" spc="-1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hằng</a:t>
            </a:r>
            <a:r>
              <a:rPr sz="2300" spc="-25" dirty="0">
                <a:latin typeface="Palatino Linotype"/>
                <a:cs typeface="Palatino Linotype"/>
              </a:rPr>
              <a:t> </a:t>
            </a:r>
            <a:r>
              <a:rPr sz="2300" spc="-10" dirty="0">
                <a:latin typeface="Palatino Linotype"/>
                <a:cs typeface="Palatino Linotype"/>
              </a:rPr>
              <a:t>{a/X}</a:t>
            </a:r>
            <a:endParaRPr sz="2300">
              <a:latin typeface="Palatino Linotype"/>
              <a:cs typeface="Palatino Linotype"/>
            </a:endParaRPr>
          </a:p>
          <a:p>
            <a:pPr marL="927100" lvl="1" indent="-457200">
              <a:lnSpc>
                <a:spcPct val="100000"/>
              </a:lnSpc>
              <a:spcBef>
                <a:spcPts val="275"/>
              </a:spcBef>
              <a:buClr>
                <a:srgbClr val="539E39"/>
              </a:buClr>
              <a:buSzPct val="84782"/>
              <a:buAutoNum type="arabicPeriod" startAt="2"/>
              <a:tabLst>
                <a:tab pos="927100" algn="l"/>
              </a:tabLst>
            </a:pPr>
            <a:r>
              <a:rPr sz="2300" dirty="0">
                <a:latin typeface="Palatino Linotype"/>
                <a:cs typeface="Palatino Linotype"/>
              </a:rPr>
              <a:t>Biến</a:t>
            </a:r>
            <a:r>
              <a:rPr sz="2300" spc="-2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đã</a:t>
            </a:r>
            <a:r>
              <a:rPr sz="2300" spc="-2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kết</a:t>
            </a:r>
            <a:r>
              <a:rPr sz="2300" spc="-1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buộc</a:t>
            </a:r>
            <a:r>
              <a:rPr sz="2300" spc="-1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:</a:t>
            </a:r>
            <a:r>
              <a:rPr sz="2300" spc="-1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xem</a:t>
            </a:r>
            <a:r>
              <a:rPr sz="2300" spc="-20" dirty="0">
                <a:latin typeface="Palatino Linotype"/>
                <a:cs typeface="Palatino Linotype"/>
              </a:rPr>
              <a:t> </a:t>
            </a:r>
            <a:r>
              <a:rPr sz="2300" spc="-25" dirty="0">
                <a:latin typeface="Palatino Linotype"/>
                <a:cs typeface="Palatino Linotype"/>
              </a:rPr>
              <a:t>(1)</a:t>
            </a:r>
            <a:endParaRPr sz="2300">
              <a:latin typeface="Palatino Linotype"/>
              <a:cs typeface="Palatino Linotype"/>
            </a:endParaRPr>
          </a:p>
          <a:p>
            <a:pPr marL="393065" indent="-380365">
              <a:lnSpc>
                <a:spcPct val="100000"/>
              </a:lnSpc>
              <a:spcBef>
                <a:spcPts val="275"/>
              </a:spcBef>
              <a:buClr>
                <a:srgbClr val="C0CF39"/>
              </a:buClr>
              <a:buSzPct val="93478"/>
              <a:buAutoNum type="arabicPeriod"/>
              <a:tabLst>
                <a:tab pos="393065" algn="l"/>
              </a:tabLst>
            </a:pPr>
            <a:r>
              <a:rPr sz="2300" b="1" i="1" dirty="0">
                <a:latin typeface="Palatino Linotype"/>
                <a:cs typeface="Palatino Linotype"/>
              </a:rPr>
              <a:t>Biến</a:t>
            </a:r>
            <a:r>
              <a:rPr sz="2300" b="1" i="1" spc="-15" dirty="0">
                <a:latin typeface="Palatino Linotype"/>
                <a:cs typeface="Palatino Linotype"/>
              </a:rPr>
              <a:t> </a:t>
            </a:r>
            <a:r>
              <a:rPr sz="2300" b="1" i="1" dirty="0">
                <a:latin typeface="Palatino Linotype"/>
                <a:cs typeface="Palatino Linotype"/>
              </a:rPr>
              <a:t>X</a:t>
            </a:r>
            <a:r>
              <a:rPr sz="2300" b="1" i="1" spc="-10" dirty="0">
                <a:latin typeface="Palatino Linotype"/>
                <a:cs typeface="Palatino Linotype"/>
              </a:rPr>
              <a:t> </a:t>
            </a:r>
            <a:r>
              <a:rPr sz="2300" b="1" i="1" dirty="0">
                <a:latin typeface="Palatino Linotype"/>
                <a:cs typeface="Palatino Linotype"/>
              </a:rPr>
              <a:t>/</a:t>
            </a:r>
            <a:r>
              <a:rPr sz="2300" b="1" i="1" spc="-10" dirty="0">
                <a:latin typeface="Palatino Linotype"/>
                <a:cs typeface="Palatino Linotype"/>
              </a:rPr>
              <a:t> </a:t>
            </a:r>
            <a:r>
              <a:rPr sz="2300" b="1" i="1" dirty="0">
                <a:latin typeface="Palatino Linotype"/>
                <a:cs typeface="Palatino Linotype"/>
              </a:rPr>
              <a:t>biến</a:t>
            </a:r>
            <a:r>
              <a:rPr sz="2300" b="1" i="1" spc="-20" dirty="0">
                <a:latin typeface="Palatino Linotype"/>
                <a:cs typeface="Palatino Linotype"/>
              </a:rPr>
              <a:t> </a:t>
            </a:r>
            <a:r>
              <a:rPr sz="2300" b="1" i="1" dirty="0">
                <a:latin typeface="Palatino Linotype"/>
                <a:cs typeface="Palatino Linotype"/>
              </a:rPr>
              <a:t>Y</a:t>
            </a:r>
            <a:r>
              <a:rPr sz="2300" b="1" i="1" spc="-10" dirty="0">
                <a:latin typeface="Palatino Linotype"/>
                <a:cs typeface="Palatino Linotype"/>
              </a:rPr>
              <a:t> </a:t>
            </a:r>
            <a:r>
              <a:rPr sz="2300" b="1" i="1" dirty="0">
                <a:latin typeface="Palatino Linotype"/>
                <a:cs typeface="Palatino Linotype"/>
              </a:rPr>
              <a:t>đối</a:t>
            </a:r>
            <a:r>
              <a:rPr sz="2300" b="1" i="1" spc="-20" dirty="0">
                <a:latin typeface="Palatino Linotype"/>
                <a:cs typeface="Palatino Linotype"/>
              </a:rPr>
              <a:t> sánh:</a:t>
            </a:r>
            <a:endParaRPr sz="2300">
              <a:latin typeface="Palatino Linotype"/>
              <a:cs typeface="Palatino Linotype"/>
            </a:endParaRPr>
          </a:p>
          <a:p>
            <a:pPr marL="812800" indent="-342900">
              <a:lnSpc>
                <a:spcPct val="100000"/>
              </a:lnSpc>
              <a:spcBef>
                <a:spcPts val="275"/>
              </a:spcBef>
              <a:buClr>
                <a:srgbClr val="539E39"/>
              </a:buClr>
              <a:buSzPct val="84782"/>
              <a:buAutoNum type="alphaLcPeriod"/>
              <a:tabLst>
                <a:tab pos="812800" algn="l"/>
              </a:tabLst>
            </a:pPr>
            <a:r>
              <a:rPr sz="2300" dirty="0">
                <a:latin typeface="Palatino Linotype"/>
                <a:cs typeface="Palatino Linotype"/>
              </a:rPr>
              <a:t>Hai</a:t>
            </a:r>
            <a:r>
              <a:rPr sz="2300" spc="-2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biến</a:t>
            </a:r>
            <a:r>
              <a:rPr sz="2300" spc="-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chưa</a:t>
            </a:r>
            <a:r>
              <a:rPr sz="2300" spc="-2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kết</a:t>
            </a:r>
            <a:r>
              <a:rPr sz="2300" spc="-1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buộc:</a:t>
            </a:r>
            <a:r>
              <a:rPr sz="2300" spc="-2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luôn</a:t>
            </a:r>
            <a:r>
              <a:rPr sz="2300" spc="-1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luôn</a:t>
            </a:r>
            <a:r>
              <a:rPr sz="2300" spc="-2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đối</a:t>
            </a:r>
            <a:r>
              <a:rPr sz="2300" spc="-2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sánh</a:t>
            </a:r>
            <a:r>
              <a:rPr sz="2300" spc="-15" dirty="0">
                <a:latin typeface="Palatino Linotype"/>
                <a:cs typeface="Palatino Linotype"/>
              </a:rPr>
              <a:t> </a:t>
            </a:r>
            <a:r>
              <a:rPr sz="2300" spc="-10" dirty="0">
                <a:latin typeface="Palatino Linotype"/>
                <a:cs typeface="Palatino Linotype"/>
              </a:rPr>
              <a:t>{X/Y}</a:t>
            </a:r>
            <a:endParaRPr sz="2300">
              <a:latin typeface="Palatino Linotype"/>
              <a:cs typeface="Palatino Linotype"/>
            </a:endParaRPr>
          </a:p>
          <a:p>
            <a:pPr marL="812800" indent="-342900">
              <a:lnSpc>
                <a:spcPct val="100000"/>
              </a:lnSpc>
              <a:spcBef>
                <a:spcPts val="280"/>
              </a:spcBef>
              <a:buClr>
                <a:srgbClr val="539E39"/>
              </a:buClr>
              <a:buSzPct val="84782"/>
              <a:buAutoNum type="alphaLcPeriod"/>
              <a:tabLst>
                <a:tab pos="812800" algn="l"/>
              </a:tabLst>
            </a:pPr>
            <a:r>
              <a:rPr sz="2300" dirty="0">
                <a:latin typeface="Palatino Linotype"/>
                <a:cs typeface="Palatino Linotype"/>
              </a:rPr>
              <a:t>Một</a:t>
            </a:r>
            <a:r>
              <a:rPr sz="2300" spc="-2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biến</a:t>
            </a:r>
            <a:r>
              <a:rPr sz="2300" spc="-1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kết</a:t>
            </a:r>
            <a:r>
              <a:rPr sz="2300" spc="-1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buộc</a:t>
            </a:r>
            <a:r>
              <a:rPr sz="2300" spc="-1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và</a:t>
            </a:r>
            <a:r>
              <a:rPr sz="2300" spc="-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một</a:t>
            </a:r>
            <a:r>
              <a:rPr sz="2300" spc="-3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biến</a:t>
            </a:r>
            <a:r>
              <a:rPr sz="2300" spc="-1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chưa</a:t>
            </a:r>
            <a:r>
              <a:rPr sz="2300" spc="-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kết</a:t>
            </a:r>
            <a:r>
              <a:rPr sz="2300" spc="-2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buộc:</a:t>
            </a:r>
            <a:r>
              <a:rPr sz="2300" spc="-2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xem</a:t>
            </a:r>
            <a:r>
              <a:rPr sz="2300" spc="-15" dirty="0">
                <a:latin typeface="Palatino Linotype"/>
                <a:cs typeface="Palatino Linotype"/>
              </a:rPr>
              <a:t> </a:t>
            </a:r>
            <a:r>
              <a:rPr sz="2300" spc="-25" dirty="0">
                <a:latin typeface="Palatino Linotype"/>
                <a:cs typeface="Palatino Linotype"/>
              </a:rPr>
              <a:t>(2)</a:t>
            </a:r>
            <a:endParaRPr sz="2300">
              <a:latin typeface="Palatino Linotype"/>
              <a:cs typeface="Palatino Linotype"/>
            </a:endParaRPr>
          </a:p>
          <a:p>
            <a:pPr marL="812800" indent="-342900">
              <a:lnSpc>
                <a:spcPct val="100000"/>
              </a:lnSpc>
              <a:spcBef>
                <a:spcPts val="275"/>
              </a:spcBef>
              <a:buClr>
                <a:srgbClr val="539E39"/>
              </a:buClr>
              <a:buSzPct val="84782"/>
              <a:buAutoNum type="alphaLcPeriod"/>
              <a:tabLst>
                <a:tab pos="812800" algn="l"/>
              </a:tabLst>
            </a:pPr>
            <a:r>
              <a:rPr sz="2300" dirty="0">
                <a:latin typeface="Palatino Linotype"/>
                <a:cs typeface="Palatino Linotype"/>
              </a:rPr>
              <a:t>Hai</a:t>
            </a:r>
            <a:r>
              <a:rPr sz="2300" spc="-1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biến</a:t>
            </a:r>
            <a:r>
              <a:rPr sz="2300" spc="-1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kết</a:t>
            </a:r>
            <a:r>
              <a:rPr sz="2300" spc="-1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buộc:</a:t>
            </a:r>
            <a:r>
              <a:rPr sz="2300" spc="-1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xem</a:t>
            </a:r>
            <a:r>
              <a:rPr sz="2300" spc="-20" dirty="0">
                <a:latin typeface="Palatino Linotype"/>
                <a:cs typeface="Palatino Linotype"/>
              </a:rPr>
              <a:t> </a:t>
            </a:r>
            <a:r>
              <a:rPr sz="2300" spc="-25" dirty="0">
                <a:latin typeface="Palatino Linotype"/>
                <a:cs typeface="Palatino Linotype"/>
              </a:rPr>
              <a:t>(1)</a:t>
            </a:r>
            <a:endParaRPr sz="2300">
              <a:latin typeface="Palatino Linotype"/>
              <a:cs typeface="Palatino Linotype"/>
            </a:endParaRPr>
          </a:p>
          <a:p>
            <a:pPr marL="12700">
              <a:lnSpc>
                <a:spcPts val="2485"/>
              </a:lnSpc>
              <a:spcBef>
                <a:spcPts val="275"/>
              </a:spcBef>
              <a:tabLst>
                <a:tab pos="393065" algn="l"/>
              </a:tabLst>
            </a:pPr>
            <a:r>
              <a:rPr sz="2150" b="1" i="1" spc="-25" dirty="0">
                <a:solidFill>
                  <a:srgbClr val="C0CF39"/>
                </a:solidFill>
                <a:latin typeface="Palatino Linotype"/>
                <a:cs typeface="Palatino Linotype"/>
              </a:rPr>
              <a:t>4.</a:t>
            </a:r>
            <a:r>
              <a:rPr sz="2150" b="1" i="1" dirty="0">
                <a:solidFill>
                  <a:srgbClr val="C0CF39"/>
                </a:solidFill>
                <a:latin typeface="Palatino Linotype"/>
                <a:cs typeface="Palatino Linotype"/>
              </a:rPr>
              <a:t>	</a:t>
            </a:r>
            <a:r>
              <a:rPr sz="2300" b="1" i="1" dirty="0">
                <a:latin typeface="Palatino Linotype"/>
                <a:cs typeface="Palatino Linotype"/>
              </a:rPr>
              <a:t>Biểu</a:t>
            </a:r>
            <a:r>
              <a:rPr sz="2300" b="1" i="1" spc="-20" dirty="0">
                <a:latin typeface="Palatino Linotype"/>
                <a:cs typeface="Palatino Linotype"/>
              </a:rPr>
              <a:t> </a:t>
            </a:r>
            <a:r>
              <a:rPr sz="2300" b="1" i="1" dirty="0">
                <a:latin typeface="Palatino Linotype"/>
                <a:cs typeface="Palatino Linotype"/>
              </a:rPr>
              <a:t>thức</a:t>
            </a:r>
            <a:r>
              <a:rPr sz="2300" b="1" i="1" spc="-30" dirty="0">
                <a:latin typeface="Palatino Linotype"/>
                <a:cs typeface="Palatino Linotype"/>
              </a:rPr>
              <a:t> </a:t>
            </a:r>
            <a:r>
              <a:rPr sz="2300" b="1" i="1" dirty="0">
                <a:latin typeface="Palatino Linotype"/>
                <a:cs typeface="Palatino Linotype"/>
              </a:rPr>
              <a:t>/</a:t>
            </a:r>
            <a:r>
              <a:rPr sz="2300" b="1" i="1" spc="-15" dirty="0">
                <a:latin typeface="Palatino Linotype"/>
                <a:cs typeface="Palatino Linotype"/>
              </a:rPr>
              <a:t> </a:t>
            </a:r>
            <a:r>
              <a:rPr sz="2300" b="1" i="1" dirty="0">
                <a:latin typeface="Palatino Linotype"/>
                <a:cs typeface="Palatino Linotype"/>
              </a:rPr>
              <a:t>biểu</a:t>
            </a:r>
            <a:r>
              <a:rPr sz="2300" b="1" i="1" spc="-10" dirty="0">
                <a:latin typeface="Palatino Linotype"/>
                <a:cs typeface="Palatino Linotype"/>
              </a:rPr>
              <a:t> </a:t>
            </a:r>
            <a:r>
              <a:rPr sz="2300" b="1" i="1" dirty="0">
                <a:latin typeface="Palatino Linotype"/>
                <a:cs typeface="Palatino Linotype"/>
              </a:rPr>
              <a:t>thức</a:t>
            </a:r>
            <a:r>
              <a:rPr sz="2300" b="1" i="1" spc="-25" dirty="0">
                <a:latin typeface="Palatino Linotype"/>
                <a:cs typeface="Palatino Linotype"/>
              </a:rPr>
              <a:t> </a:t>
            </a:r>
            <a:r>
              <a:rPr sz="2300" b="1" i="1" dirty="0">
                <a:latin typeface="Palatino Linotype"/>
                <a:cs typeface="Palatino Linotype"/>
              </a:rPr>
              <a:t>đối</a:t>
            </a:r>
            <a:r>
              <a:rPr sz="2300" b="1" i="1" spc="-40" dirty="0">
                <a:latin typeface="Palatino Linotype"/>
                <a:cs typeface="Palatino Linotype"/>
              </a:rPr>
              <a:t> </a:t>
            </a:r>
            <a:r>
              <a:rPr sz="2300" b="1" i="1" dirty="0">
                <a:latin typeface="Palatino Linotype"/>
                <a:cs typeface="Palatino Linotype"/>
              </a:rPr>
              <a:t>sánh:</a:t>
            </a:r>
            <a:r>
              <a:rPr sz="2300" b="1" i="1" spc="-3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chỉ khi</a:t>
            </a:r>
            <a:r>
              <a:rPr sz="2300" spc="-3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các</a:t>
            </a:r>
            <a:r>
              <a:rPr sz="2300" spc="-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tên</a:t>
            </a:r>
            <a:r>
              <a:rPr sz="2300" spc="-1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hàm</a:t>
            </a:r>
            <a:r>
              <a:rPr sz="2300" spc="-4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hoặc</a:t>
            </a:r>
            <a:r>
              <a:rPr sz="2300" spc="-2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vị từ,</a:t>
            </a:r>
            <a:r>
              <a:rPr sz="2300" spc="-2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số</a:t>
            </a:r>
            <a:r>
              <a:rPr sz="2300" spc="-1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ngôi</a:t>
            </a:r>
            <a:r>
              <a:rPr sz="2300" spc="-30" dirty="0">
                <a:latin typeface="Palatino Linotype"/>
                <a:cs typeface="Palatino Linotype"/>
              </a:rPr>
              <a:t> </a:t>
            </a:r>
            <a:r>
              <a:rPr sz="2300" spc="-10" dirty="0">
                <a:latin typeface="Palatino Linotype"/>
                <a:cs typeface="Palatino Linotype"/>
              </a:rPr>
              <a:t>giống</a:t>
            </a:r>
            <a:endParaRPr sz="2300">
              <a:latin typeface="Palatino Linotype"/>
              <a:cs typeface="Palatino Linotype"/>
            </a:endParaRPr>
          </a:p>
          <a:p>
            <a:pPr marL="393700">
              <a:lnSpc>
                <a:spcPts val="2485"/>
              </a:lnSpc>
            </a:pPr>
            <a:r>
              <a:rPr sz="2300" dirty="0">
                <a:latin typeface="Palatino Linotype"/>
                <a:cs typeface="Palatino Linotype"/>
              </a:rPr>
              <a:t>nhau</a:t>
            </a:r>
            <a:r>
              <a:rPr sz="2300" spc="-3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thì</a:t>
            </a:r>
            <a:r>
              <a:rPr sz="2300" spc="-2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áp</a:t>
            </a:r>
            <a:r>
              <a:rPr sz="2300" spc="-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dụng</a:t>
            </a:r>
            <a:r>
              <a:rPr sz="2300" spc="-3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đối</a:t>
            </a:r>
            <a:r>
              <a:rPr sz="2300" spc="-2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sánh</a:t>
            </a:r>
            <a:r>
              <a:rPr sz="2300" spc="-2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từng</a:t>
            </a:r>
            <a:r>
              <a:rPr sz="2300" spc="-3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đối</a:t>
            </a:r>
            <a:r>
              <a:rPr sz="2300" spc="-2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số</a:t>
            </a:r>
            <a:r>
              <a:rPr sz="2300" spc="-20" dirty="0">
                <a:latin typeface="Palatino Linotype"/>
                <a:cs typeface="Palatino Linotype"/>
              </a:rPr>
              <a:t> một.</a:t>
            </a:r>
            <a:endParaRPr sz="2300">
              <a:latin typeface="Palatino Linotype"/>
              <a:cs typeface="Palatino Linotype"/>
            </a:endParaRPr>
          </a:p>
          <a:p>
            <a:pPr marL="393700">
              <a:lnSpc>
                <a:spcPct val="100000"/>
              </a:lnSpc>
              <a:spcBef>
                <a:spcPts val="280"/>
              </a:spcBef>
              <a:tabLst>
                <a:tab pos="1049020" algn="l"/>
                <a:tab pos="2428240" algn="l"/>
              </a:tabLst>
            </a:pPr>
            <a:r>
              <a:rPr sz="2300" spc="-25" dirty="0">
                <a:latin typeface="Palatino Linotype"/>
                <a:cs typeface="Palatino Linotype"/>
              </a:rPr>
              <a:t>VD:</a:t>
            </a:r>
            <a:r>
              <a:rPr sz="2300" dirty="0">
                <a:latin typeface="Palatino Linotype"/>
                <a:cs typeface="Palatino Linotype"/>
              </a:rPr>
              <a:t>	</a:t>
            </a:r>
            <a:r>
              <a:rPr sz="2300" spc="-10" dirty="0">
                <a:latin typeface="Palatino Linotype"/>
                <a:cs typeface="Palatino Linotype"/>
              </a:rPr>
              <a:t>goo(X)</a:t>
            </a:r>
            <a:r>
              <a:rPr sz="2300" dirty="0">
                <a:latin typeface="Palatino Linotype"/>
                <a:cs typeface="Palatino Linotype"/>
              </a:rPr>
              <a:t>	-</a:t>
            </a:r>
            <a:r>
              <a:rPr sz="2300" spc="-1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không</a:t>
            </a:r>
            <a:r>
              <a:rPr sz="2300" spc="-4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đối</a:t>
            </a:r>
            <a:r>
              <a:rPr sz="2300" spc="-2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sánh</a:t>
            </a:r>
            <a:r>
              <a:rPr sz="2300" spc="-1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với</a:t>
            </a:r>
            <a:r>
              <a:rPr sz="2300" spc="-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foo(X)</a:t>
            </a:r>
            <a:r>
              <a:rPr sz="2300" spc="-4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hay</a:t>
            </a:r>
            <a:r>
              <a:rPr sz="2300" spc="-20" dirty="0">
                <a:latin typeface="Palatino Linotype"/>
                <a:cs typeface="Palatino Linotype"/>
              </a:rPr>
              <a:t> </a:t>
            </a:r>
            <a:r>
              <a:rPr sz="2300" spc="-10" dirty="0">
                <a:latin typeface="Palatino Linotype"/>
                <a:cs typeface="Palatino Linotype"/>
              </a:rPr>
              <a:t>goo(X,Y)</a:t>
            </a:r>
            <a:endParaRPr sz="2300">
              <a:latin typeface="Palatino Linotype"/>
              <a:cs typeface="Palatino Linotype"/>
            </a:endParaRPr>
          </a:p>
          <a:p>
            <a:pPr marL="1841500">
              <a:lnSpc>
                <a:spcPct val="100000"/>
              </a:lnSpc>
              <a:tabLst>
                <a:tab pos="5304790" algn="l"/>
              </a:tabLst>
            </a:pPr>
            <a:r>
              <a:rPr sz="2300" dirty="0">
                <a:latin typeface="Palatino Linotype"/>
                <a:cs typeface="Palatino Linotype"/>
              </a:rPr>
              <a:t>-</a:t>
            </a:r>
            <a:r>
              <a:rPr sz="2300" spc="-3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đối</a:t>
            </a:r>
            <a:r>
              <a:rPr sz="2300" spc="-2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sánh</a:t>
            </a:r>
            <a:r>
              <a:rPr sz="2300" spc="-2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với</a:t>
            </a:r>
            <a:r>
              <a:rPr sz="2300" spc="-10" dirty="0">
                <a:latin typeface="Palatino Linotype"/>
                <a:cs typeface="Palatino Linotype"/>
              </a:rPr>
              <a:t> goo(foo(Y))</a:t>
            </a:r>
            <a:r>
              <a:rPr sz="2300" dirty="0">
                <a:latin typeface="Palatino Linotype"/>
                <a:cs typeface="Palatino Linotype"/>
              </a:rPr>
              <a:t>	với</a:t>
            </a:r>
            <a:r>
              <a:rPr sz="2300" spc="-1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phép</a:t>
            </a:r>
            <a:r>
              <a:rPr sz="2300" spc="-1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thế</a:t>
            </a:r>
            <a:r>
              <a:rPr sz="2300" spc="-20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{foo(Y)</a:t>
            </a:r>
            <a:r>
              <a:rPr sz="2300" spc="-55" dirty="0">
                <a:latin typeface="Palatino Linotype"/>
                <a:cs typeface="Palatino Linotype"/>
              </a:rPr>
              <a:t> </a:t>
            </a:r>
            <a:r>
              <a:rPr sz="2300" dirty="0">
                <a:latin typeface="Palatino Linotype"/>
                <a:cs typeface="Palatino Linotype"/>
              </a:rPr>
              <a:t>/</a:t>
            </a:r>
            <a:r>
              <a:rPr sz="2300" spc="-10" dirty="0">
                <a:latin typeface="Palatino Linotype"/>
                <a:cs typeface="Palatino Linotype"/>
              </a:rPr>
              <a:t> </a:t>
            </a:r>
            <a:r>
              <a:rPr sz="2300" spc="-25" dirty="0">
                <a:latin typeface="Palatino Linotype"/>
                <a:cs typeface="Palatino Linotype"/>
              </a:rPr>
              <a:t>X}</a:t>
            </a:r>
            <a:endParaRPr sz="23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404621"/>
            <a:ext cx="86245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455F51"/>
                </a:solidFill>
              </a:rPr>
              <a:t>Đối sánh</a:t>
            </a:r>
            <a:r>
              <a:rPr sz="4800" spc="-1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mẫu</a:t>
            </a:r>
            <a:r>
              <a:rPr sz="4800" spc="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và</a:t>
            </a:r>
            <a:r>
              <a:rPr sz="4800" spc="-10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phép</a:t>
            </a:r>
            <a:r>
              <a:rPr sz="4800" spc="-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hợp</a:t>
            </a:r>
            <a:r>
              <a:rPr sz="4800" spc="-10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nhất </a:t>
            </a:r>
            <a:r>
              <a:rPr sz="4800" spc="-25" dirty="0">
                <a:solidFill>
                  <a:srgbClr val="455F51"/>
                </a:solidFill>
              </a:rPr>
              <a:t>(4)</a:t>
            </a:r>
            <a:endParaRPr sz="4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390">
              <a:lnSpc>
                <a:spcPts val="1220"/>
              </a:lnSpc>
            </a:pPr>
            <a:fld id="{81D60167-4931-47E6-BA6A-407CBD079E47}" type="slidenum">
              <a:rPr spc="-25" dirty="0"/>
              <a:t>84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1367849"/>
            <a:ext cx="9777095" cy="299656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860"/>
              </a:spcBef>
              <a:buClr>
                <a:srgbClr val="C0CF39"/>
              </a:buClr>
              <a:buSzPct val="92500"/>
              <a:buFont typeface="Wingdings 2"/>
              <a:buChar char=""/>
              <a:tabLst>
                <a:tab pos="286385" algn="l"/>
              </a:tabLst>
            </a:pPr>
            <a:r>
              <a:rPr sz="4000" dirty="0">
                <a:latin typeface="Palatino Linotype"/>
                <a:cs typeface="Palatino Linotype"/>
              </a:rPr>
              <a:t>Chú</a:t>
            </a:r>
            <a:r>
              <a:rPr sz="4000" spc="-80" dirty="0">
                <a:latin typeface="Palatino Linotype"/>
                <a:cs typeface="Palatino Linotype"/>
              </a:rPr>
              <a:t> </a:t>
            </a:r>
            <a:r>
              <a:rPr sz="4000" spc="-35" dirty="0">
                <a:latin typeface="Palatino Linotype"/>
                <a:cs typeface="Palatino Linotype"/>
              </a:rPr>
              <a:t>ý:</a:t>
            </a:r>
            <a:endParaRPr sz="4000">
              <a:latin typeface="Palatino Linotype"/>
              <a:cs typeface="Palatino Linotype"/>
            </a:endParaRPr>
          </a:p>
          <a:p>
            <a:pPr marL="652145" lvl="1" indent="-246379">
              <a:lnSpc>
                <a:spcPct val="100000"/>
              </a:lnSpc>
              <a:spcBef>
                <a:spcPts val="730"/>
              </a:spcBef>
              <a:buClr>
                <a:srgbClr val="539E39"/>
              </a:buClr>
              <a:buSzPct val="84210"/>
              <a:buFont typeface="Wingdings 2"/>
              <a:buChar char=""/>
              <a:tabLst>
                <a:tab pos="652145" algn="l"/>
              </a:tabLst>
            </a:pPr>
            <a:r>
              <a:rPr sz="3800" dirty="0">
                <a:latin typeface="Palatino Linotype"/>
                <a:cs typeface="Palatino Linotype"/>
              </a:rPr>
              <a:t>Phạm</a:t>
            </a:r>
            <a:r>
              <a:rPr sz="3800" spc="-20" dirty="0">
                <a:latin typeface="Palatino Linotype"/>
                <a:cs typeface="Palatino Linotype"/>
              </a:rPr>
              <a:t> </a:t>
            </a:r>
            <a:r>
              <a:rPr sz="3800" dirty="0">
                <a:latin typeface="Palatino Linotype"/>
                <a:cs typeface="Palatino Linotype"/>
              </a:rPr>
              <a:t>vi</a:t>
            </a:r>
            <a:r>
              <a:rPr sz="3800" spc="-15" dirty="0">
                <a:latin typeface="Palatino Linotype"/>
                <a:cs typeface="Palatino Linotype"/>
              </a:rPr>
              <a:t> </a:t>
            </a:r>
            <a:r>
              <a:rPr sz="3800" dirty="0">
                <a:latin typeface="Palatino Linotype"/>
                <a:cs typeface="Palatino Linotype"/>
              </a:rPr>
              <a:t>của</a:t>
            </a:r>
            <a:r>
              <a:rPr sz="3800" spc="-25" dirty="0">
                <a:latin typeface="Palatino Linotype"/>
                <a:cs typeface="Palatino Linotype"/>
              </a:rPr>
              <a:t> </a:t>
            </a:r>
            <a:r>
              <a:rPr sz="3800" dirty="0">
                <a:latin typeface="Palatino Linotype"/>
                <a:cs typeface="Palatino Linotype"/>
              </a:rPr>
              <a:t>một</a:t>
            </a:r>
            <a:r>
              <a:rPr sz="3800" spc="-15" dirty="0">
                <a:latin typeface="Palatino Linotype"/>
                <a:cs typeface="Palatino Linotype"/>
              </a:rPr>
              <a:t> </a:t>
            </a:r>
            <a:r>
              <a:rPr sz="3800" dirty="0">
                <a:latin typeface="Palatino Linotype"/>
                <a:cs typeface="Palatino Linotype"/>
              </a:rPr>
              <a:t>biến:</a:t>
            </a:r>
            <a:r>
              <a:rPr sz="3800" spc="-25" dirty="0">
                <a:latin typeface="Palatino Linotype"/>
                <a:cs typeface="Palatino Linotype"/>
              </a:rPr>
              <a:t> </a:t>
            </a:r>
            <a:r>
              <a:rPr sz="3800" dirty="0">
                <a:latin typeface="Palatino Linotype"/>
                <a:cs typeface="Palatino Linotype"/>
              </a:rPr>
              <a:t>là</a:t>
            </a:r>
            <a:r>
              <a:rPr sz="3800" spc="-15" dirty="0">
                <a:latin typeface="Palatino Linotype"/>
                <a:cs typeface="Palatino Linotype"/>
              </a:rPr>
              <a:t> </a:t>
            </a:r>
            <a:r>
              <a:rPr sz="3800" dirty="0">
                <a:latin typeface="Palatino Linotype"/>
                <a:cs typeface="Palatino Linotype"/>
              </a:rPr>
              <a:t>một</a:t>
            </a:r>
            <a:r>
              <a:rPr sz="3800" spc="-10" dirty="0">
                <a:latin typeface="Palatino Linotype"/>
                <a:cs typeface="Palatino Linotype"/>
              </a:rPr>
              <a:t> </a:t>
            </a:r>
            <a:r>
              <a:rPr sz="3800" spc="-25" dirty="0">
                <a:latin typeface="Palatino Linotype"/>
                <a:cs typeface="Palatino Linotype"/>
              </a:rPr>
              <a:t>câu</a:t>
            </a:r>
            <a:endParaRPr sz="3800">
              <a:latin typeface="Palatino Linotype"/>
              <a:cs typeface="Palatino Linotype"/>
            </a:endParaRPr>
          </a:p>
          <a:p>
            <a:pPr marL="651510" marR="5080" lvl="1" indent="-246379">
              <a:lnSpc>
                <a:spcPct val="80000"/>
              </a:lnSpc>
              <a:spcBef>
                <a:spcPts val="1595"/>
              </a:spcBef>
              <a:buClr>
                <a:srgbClr val="539E39"/>
              </a:buClr>
              <a:buSzPct val="84210"/>
              <a:buFont typeface="Wingdings 2"/>
              <a:buChar char=""/>
              <a:tabLst>
                <a:tab pos="652780" algn="l"/>
              </a:tabLst>
            </a:pPr>
            <a:r>
              <a:rPr sz="3800" dirty="0">
                <a:latin typeface="Palatino Linotype"/>
                <a:cs typeface="Palatino Linotype"/>
              </a:rPr>
              <a:t>Khi</a:t>
            </a:r>
            <a:r>
              <a:rPr sz="3800" spc="-30" dirty="0">
                <a:latin typeface="Palatino Linotype"/>
                <a:cs typeface="Palatino Linotype"/>
              </a:rPr>
              <a:t> </a:t>
            </a:r>
            <a:r>
              <a:rPr sz="3800" dirty="0">
                <a:latin typeface="Palatino Linotype"/>
                <a:cs typeface="Palatino Linotype"/>
              </a:rPr>
              <a:t>biến</a:t>
            </a:r>
            <a:r>
              <a:rPr sz="3800" spc="-15" dirty="0">
                <a:latin typeface="Palatino Linotype"/>
                <a:cs typeface="Palatino Linotype"/>
              </a:rPr>
              <a:t> </a:t>
            </a:r>
            <a:r>
              <a:rPr sz="3800" dirty="0">
                <a:latin typeface="Palatino Linotype"/>
                <a:cs typeface="Palatino Linotype"/>
              </a:rPr>
              <a:t>đã</a:t>
            </a:r>
            <a:r>
              <a:rPr sz="3800" spc="-20" dirty="0">
                <a:latin typeface="Palatino Linotype"/>
                <a:cs typeface="Palatino Linotype"/>
              </a:rPr>
              <a:t> </a:t>
            </a:r>
            <a:r>
              <a:rPr sz="3800" dirty="0">
                <a:latin typeface="Palatino Linotype"/>
                <a:cs typeface="Palatino Linotype"/>
              </a:rPr>
              <a:t>bị</a:t>
            </a:r>
            <a:r>
              <a:rPr sz="3800" spc="-20" dirty="0">
                <a:latin typeface="Palatino Linotype"/>
                <a:cs typeface="Palatino Linotype"/>
              </a:rPr>
              <a:t> </a:t>
            </a:r>
            <a:r>
              <a:rPr sz="3800" dirty="0">
                <a:latin typeface="Palatino Linotype"/>
                <a:cs typeface="Palatino Linotype"/>
              </a:rPr>
              <a:t>kết</a:t>
            </a:r>
            <a:r>
              <a:rPr sz="3800" spc="-20" dirty="0">
                <a:latin typeface="Palatino Linotype"/>
                <a:cs typeface="Palatino Linotype"/>
              </a:rPr>
              <a:t> </a:t>
            </a:r>
            <a:r>
              <a:rPr sz="3800" dirty="0">
                <a:latin typeface="Palatino Linotype"/>
                <a:cs typeface="Palatino Linotype"/>
              </a:rPr>
              <a:t>buộc,</a:t>
            </a:r>
            <a:r>
              <a:rPr sz="3800" spc="-15" dirty="0">
                <a:latin typeface="Palatino Linotype"/>
                <a:cs typeface="Palatino Linotype"/>
              </a:rPr>
              <a:t> </a:t>
            </a:r>
            <a:r>
              <a:rPr sz="3800" dirty="0">
                <a:latin typeface="Palatino Linotype"/>
                <a:cs typeface="Palatino Linotype"/>
              </a:rPr>
              <a:t>các</a:t>
            </a:r>
            <a:r>
              <a:rPr sz="3800" spc="-25" dirty="0">
                <a:latin typeface="Palatino Linotype"/>
                <a:cs typeface="Palatino Linotype"/>
              </a:rPr>
              <a:t> </a:t>
            </a:r>
            <a:r>
              <a:rPr sz="3800" dirty="0">
                <a:latin typeface="Palatino Linotype"/>
                <a:cs typeface="Palatino Linotype"/>
              </a:rPr>
              <a:t>phép</a:t>
            </a:r>
            <a:r>
              <a:rPr sz="3800" spc="-15" dirty="0">
                <a:latin typeface="Palatino Linotype"/>
                <a:cs typeface="Palatino Linotype"/>
              </a:rPr>
              <a:t> </a:t>
            </a:r>
            <a:r>
              <a:rPr sz="3800" dirty="0">
                <a:latin typeface="Palatino Linotype"/>
                <a:cs typeface="Palatino Linotype"/>
              </a:rPr>
              <a:t>hợp</a:t>
            </a:r>
            <a:r>
              <a:rPr sz="3800" spc="-10" dirty="0">
                <a:latin typeface="Palatino Linotype"/>
                <a:cs typeface="Palatino Linotype"/>
              </a:rPr>
              <a:t> </a:t>
            </a:r>
            <a:r>
              <a:rPr sz="3800" spc="-20" dirty="0">
                <a:latin typeface="Palatino Linotype"/>
                <a:cs typeface="Palatino Linotype"/>
              </a:rPr>
              <a:t>nhất 	</a:t>
            </a:r>
            <a:r>
              <a:rPr sz="3800" dirty="0">
                <a:latin typeface="Palatino Linotype"/>
                <a:cs typeface="Palatino Linotype"/>
              </a:rPr>
              <a:t>theo</a:t>
            </a:r>
            <a:r>
              <a:rPr sz="3800" spc="-25" dirty="0">
                <a:latin typeface="Palatino Linotype"/>
                <a:cs typeface="Palatino Linotype"/>
              </a:rPr>
              <a:t> </a:t>
            </a:r>
            <a:r>
              <a:rPr sz="3800" dirty="0">
                <a:latin typeface="Palatino Linotype"/>
                <a:cs typeface="Palatino Linotype"/>
              </a:rPr>
              <a:t>sau</a:t>
            </a:r>
            <a:r>
              <a:rPr sz="3800" spc="-25" dirty="0">
                <a:latin typeface="Palatino Linotype"/>
                <a:cs typeface="Palatino Linotype"/>
              </a:rPr>
              <a:t> </a:t>
            </a:r>
            <a:r>
              <a:rPr sz="3800" dirty="0">
                <a:latin typeface="Palatino Linotype"/>
                <a:cs typeface="Palatino Linotype"/>
              </a:rPr>
              <a:t>và</a:t>
            </a:r>
            <a:r>
              <a:rPr sz="3800" spc="-10" dirty="0">
                <a:latin typeface="Palatino Linotype"/>
                <a:cs typeface="Palatino Linotype"/>
              </a:rPr>
              <a:t> </a:t>
            </a:r>
            <a:r>
              <a:rPr sz="3800" dirty="0">
                <a:latin typeface="Palatino Linotype"/>
                <a:cs typeface="Palatino Linotype"/>
              </a:rPr>
              <a:t>các</a:t>
            </a:r>
            <a:r>
              <a:rPr sz="3800" spc="-15" dirty="0">
                <a:latin typeface="Palatino Linotype"/>
                <a:cs typeface="Palatino Linotype"/>
              </a:rPr>
              <a:t> </a:t>
            </a:r>
            <a:r>
              <a:rPr sz="3800" dirty="0">
                <a:latin typeface="Palatino Linotype"/>
                <a:cs typeface="Palatino Linotype"/>
              </a:rPr>
              <a:t>suy</a:t>
            </a:r>
            <a:r>
              <a:rPr sz="3800" spc="-20" dirty="0">
                <a:latin typeface="Palatino Linotype"/>
                <a:cs typeface="Palatino Linotype"/>
              </a:rPr>
              <a:t> </a:t>
            </a:r>
            <a:r>
              <a:rPr sz="3800" dirty="0">
                <a:latin typeface="Palatino Linotype"/>
                <a:cs typeface="Palatino Linotype"/>
              </a:rPr>
              <a:t>luận</a:t>
            </a:r>
            <a:r>
              <a:rPr sz="3800" spc="-25" dirty="0">
                <a:latin typeface="Palatino Linotype"/>
                <a:cs typeface="Palatino Linotype"/>
              </a:rPr>
              <a:t> </a:t>
            </a:r>
            <a:r>
              <a:rPr sz="3800" dirty="0">
                <a:latin typeface="Palatino Linotype"/>
                <a:cs typeface="Palatino Linotype"/>
              </a:rPr>
              <a:t>kế</a:t>
            </a:r>
            <a:r>
              <a:rPr sz="3800" spc="-15" dirty="0">
                <a:latin typeface="Palatino Linotype"/>
                <a:cs typeface="Palatino Linotype"/>
              </a:rPr>
              <a:t> </a:t>
            </a:r>
            <a:r>
              <a:rPr sz="3800" dirty="0">
                <a:latin typeface="Palatino Linotype"/>
                <a:cs typeface="Palatino Linotype"/>
              </a:rPr>
              <a:t>tiếp</a:t>
            </a:r>
            <a:r>
              <a:rPr sz="3800" spc="-15" dirty="0">
                <a:latin typeface="Palatino Linotype"/>
                <a:cs typeface="Palatino Linotype"/>
              </a:rPr>
              <a:t> </a:t>
            </a:r>
            <a:r>
              <a:rPr sz="3800" dirty="0">
                <a:latin typeface="Palatino Linotype"/>
                <a:cs typeface="Palatino Linotype"/>
              </a:rPr>
              <a:t>phải</a:t>
            </a:r>
            <a:r>
              <a:rPr sz="3800" spc="-35" dirty="0">
                <a:latin typeface="Palatino Linotype"/>
                <a:cs typeface="Palatino Linotype"/>
              </a:rPr>
              <a:t> </a:t>
            </a:r>
            <a:r>
              <a:rPr sz="3800" spc="-25" dirty="0">
                <a:latin typeface="Palatino Linotype"/>
                <a:cs typeface="Palatino Linotype"/>
              </a:rPr>
              <a:t>giữ 	</a:t>
            </a:r>
            <a:r>
              <a:rPr sz="3800" dirty="0">
                <a:latin typeface="Palatino Linotype"/>
                <a:cs typeface="Palatino Linotype"/>
              </a:rPr>
              <a:t>nguyên</a:t>
            </a:r>
            <a:r>
              <a:rPr sz="3800" spc="-35" dirty="0">
                <a:latin typeface="Palatino Linotype"/>
                <a:cs typeface="Palatino Linotype"/>
              </a:rPr>
              <a:t> </a:t>
            </a:r>
            <a:r>
              <a:rPr sz="3800" dirty="0">
                <a:latin typeface="Palatino Linotype"/>
                <a:cs typeface="Palatino Linotype"/>
              </a:rPr>
              <a:t>sự</a:t>
            </a:r>
            <a:r>
              <a:rPr sz="3800" spc="-25" dirty="0">
                <a:latin typeface="Palatino Linotype"/>
                <a:cs typeface="Palatino Linotype"/>
              </a:rPr>
              <a:t> </a:t>
            </a:r>
            <a:r>
              <a:rPr sz="3800" dirty="0">
                <a:latin typeface="Palatino Linotype"/>
                <a:cs typeface="Palatino Linotype"/>
              </a:rPr>
              <a:t>kết</a:t>
            </a:r>
            <a:r>
              <a:rPr sz="3800" spc="-20" dirty="0">
                <a:latin typeface="Palatino Linotype"/>
                <a:cs typeface="Palatino Linotype"/>
              </a:rPr>
              <a:t> </a:t>
            </a:r>
            <a:r>
              <a:rPr sz="3800" dirty="0">
                <a:latin typeface="Palatino Linotype"/>
                <a:cs typeface="Palatino Linotype"/>
              </a:rPr>
              <a:t>buộc</a:t>
            </a:r>
            <a:r>
              <a:rPr sz="3800" spc="-40" dirty="0">
                <a:latin typeface="Palatino Linotype"/>
                <a:cs typeface="Palatino Linotype"/>
              </a:rPr>
              <a:t> </a:t>
            </a:r>
            <a:r>
              <a:rPr sz="3800" spc="-20" dirty="0">
                <a:latin typeface="Palatino Linotype"/>
                <a:cs typeface="Palatino Linotype"/>
              </a:rPr>
              <a:t>này.</a:t>
            </a:r>
            <a:endParaRPr sz="38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404621"/>
            <a:ext cx="86245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455F51"/>
                </a:solidFill>
              </a:rPr>
              <a:t>Đối sánh</a:t>
            </a:r>
            <a:r>
              <a:rPr sz="4800" spc="-1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mẫu</a:t>
            </a:r>
            <a:r>
              <a:rPr sz="4800" spc="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và</a:t>
            </a:r>
            <a:r>
              <a:rPr sz="4800" spc="-10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phép</a:t>
            </a:r>
            <a:r>
              <a:rPr sz="4800" spc="-5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hợp</a:t>
            </a:r>
            <a:r>
              <a:rPr sz="4800" spc="-10" dirty="0">
                <a:solidFill>
                  <a:srgbClr val="455F51"/>
                </a:solidFill>
              </a:rPr>
              <a:t> </a:t>
            </a:r>
            <a:r>
              <a:rPr sz="4800" dirty="0">
                <a:solidFill>
                  <a:srgbClr val="455F51"/>
                </a:solidFill>
              </a:rPr>
              <a:t>nhất </a:t>
            </a:r>
            <a:r>
              <a:rPr sz="4800" spc="-25" dirty="0">
                <a:solidFill>
                  <a:srgbClr val="455F51"/>
                </a:solidFill>
              </a:rPr>
              <a:t>(5)</a:t>
            </a:r>
            <a:endParaRPr sz="4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390">
              <a:lnSpc>
                <a:spcPts val="1220"/>
              </a:lnSpc>
            </a:pPr>
            <a:fld id="{81D60167-4931-47E6-BA6A-407CBD079E47}" type="slidenum">
              <a:rPr spc="-25" dirty="0"/>
              <a:t>85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1530476"/>
            <a:ext cx="10653395" cy="444563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86385" marR="5080" indent="-274320">
              <a:lnSpc>
                <a:spcPct val="90000"/>
              </a:lnSpc>
              <a:spcBef>
                <a:spcPts val="484"/>
              </a:spcBef>
              <a:buClr>
                <a:srgbClr val="C0CF39"/>
              </a:buClr>
              <a:buSzPct val="93750"/>
              <a:buFont typeface="Wingdings 2"/>
              <a:buChar char=""/>
              <a:tabLst>
                <a:tab pos="286385" algn="l"/>
              </a:tabLst>
            </a:pPr>
            <a:r>
              <a:rPr sz="32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Ví</a:t>
            </a:r>
            <a:r>
              <a:rPr sz="3200" u="sng" spc="-4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32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dụ: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Hợp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nhất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các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cặp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biểu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thức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dưới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spc="-65" dirty="0">
                <a:latin typeface="Palatino Linotype"/>
                <a:cs typeface="Palatino Linotype"/>
              </a:rPr>
              <a:t>đây,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chỉ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ra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các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giá </a:t>
            </a:r>
            <a:r>
              <a:rPr sz="3200" dirty="0">
                <a:latin typeface="Palatino Linotype"/>
                <a:cs typeface="Palatino Linotype"/>
              </a:rPr>
              <a:t>trị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đối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sánh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(nếu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có)</a:t>
            </a:r>
            <a:r>
              <a:rPr sz="3200" spc="-4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hoặc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giải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thích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tại</a:t>
            </a:r>
            <a:r>
              <a:rPr sz="3200" spc="-3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sao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chúng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spc="-10" dirty="0">
                <a:latin typeface="Palatino Linotype"/>
                <a:cs typeface="Palatino Linotype"/>
              </a:rPr>
              <a:t>không </a:t>
            </a:r>
            <a:r>
              <a:rPr sz="3200" dirty="0">
                <a:latin typeface="Palatino Linotype"/>
                <a:cs typeface="Palatino Linotype"/>
              </a:rPr>
              <a:t>thể</a:t>
            </a:r>
            <a:r>
              <a:rPr sz="3200" spc="-6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hợp</a:t>
            </a:r>
            <a:r>
              <a:rPr sz="3200" spc="-50" dirty="0">
                <a:latin typeface="Palatino Linotype"/>
                <a:cs typeface="Palatino Linotype"/>
              </a:rPr>
              <a:t> </a:t>
            </a:r>
            <a:r>
              <a:rPr sz="3200" spc="-10" dirty="0">
                <a:latin typeface="Palatino Linotype"/>
                <a:cs typeface="Palatino Linotype"/>
              </a:rPr>
              <a:t>nhất:</a:t>
            </a:r>
            <a:endParaRPr sz="3200">
              <a:latin typeface="Palatino Linotype"/>
              <a:cs typeface="Palatino Linotype"/>
            </a:endParaRPr>
          </a:p>
          <a:p>
            <a:pPr marL="1222375" lvl="1" indent="-542290">
              <a:lnSpc>
                <a:spcPct val="100000"/>
              </a:lnSpc>
              <a:spcBef>
                <a:spcPts val="960"/>
              </a:spcBef>
              <a:buAutoNum type="alphaLcParenR"/>
              <a:tabLst>
                <a:tab pos="1222375" algn="l"/>
              </a:tabLst>
            </a:pPr>
            <a:r>
              <a:rPr sz="3200" dirty="0">
                <a:latin typeface="Palatino Linotype"/>
                <a:cs typeface="Palatino Linotype"/>
              </a:rPr>
              <a:t>P(X,</a:t>
            </a:r>
            <a:r>
              <a:rPr sz="3200" spc="-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Y)</a:t>
            </a:r>
            <a:r>
              <a:rPr sz="3200" spc="-3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và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P(a,</a:t>
            </a:r>
            <a:r>
              <a:rPr sz="3200" spc="-5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Z)</a:t>
            </a:r>
            <a:endParaRPr sz="3200">
              <a:latin typeface="Palatino Linotype"/>
              <a:cs typeface="Palatino Linotype"/>
            </a:endParaRPr>
          </a:p>
          <a:p>
            <a:pPr marL="1244600" lvl="1" indent="-564515">
              <a:lnSpc>
                <a:spcPct val="100000"/>
              </a:lnSpc>
              <a:spcBef>
                <a:spcPts val="960"/>
              </a:spcBef>
              <a:buAutoNum type="alphaLcParenR"/>
              <a:tabLst>
                <a:tab pos="1244600" algn="l"/>
              </a:tabLst>
            </a:pPr>
            <a:r>
              <a:rPr sz="3200" dirty="0">
                <a:latin typeface="Palatino Linotype"/>
                <a:cs typeface="Palatino Linotype"/>
              </a:rPr>
              <a:t>P(X,</a:t>
            </a:r>
            <a:r>
              <a:rPr sz="3200" spc="-1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X)</a:t>
            </a:r>
            <a:r>
              <a:rPr sz="3200" spc="-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và</a:t>
            </a:r>
            <a:r>
              <a:rPr sz="3200" spc="-1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P(a,</a:t>
            </a:r>
            <a:r>
              <a:rPr sz="3200" spc="-20" dirty="0">
                <a:latin typeface="Palatino Linotype"/>
                <a:cs typeface="Palatino Linotype"/>
              </a:rPr>
              <a:t> </a:t>
            </a:r>
            <a:r>
              <a:rPr sz="3200" spc="-25" dirty="0">
                <a:latin typeface="Palatino Linotype"/>
                <a:cs typeface="Palatino Linotype"/>
              </a:rPr>
              <a:t>b)</a:t>
            </a:r>
            <a:endParaRPr sz="3200">
              <a:latin typeface="Palatino Linotype"/>
              <a:cs typeface="Palatino Linotype"/>
            </a:endParaRPr>
          </a:p>
          <a:p>
            <a:pPr marL="1199515" lvl="1" indent="-519430">
              <a:lnSpc>
                <a:spcPct val="100000"/>
              </a:lnSpc>
              <a:spcBef>
                <a:spcPts val="965"/>
              </a:spcBef>
              <a:buAutoNum type="alphaLcParenR"/>
              <a:tabLst>
                <a:tab pos="1199515" algn="l"/>
              </a:tabLst>
            </a:pPr>
            <a:r>
              <a:rPr sz="3200" dirty="0">
                <a:latin typeface="Palatino Linotype"/>
                <a:cs typeface="Palatino Linotype"/>
              </a:rPr>
              <a:t>ancestor(X,</a:t>
            </a:r>
            <a:r>
              <a:rPr sz="3200" spc="-7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Y)</a:t>
            </a:r>
            <a:r>
              <a:rPr sz="3200" spc="-8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và</a:t>
            </a:r>
            <a:r>
              <a:rPr sz="3200" spc="-65" dirty="0">
                <a:latin typeface="Palatino Linotype"/>
                <a:cs typeface="Palatino Linotype"/>
              </a:rPr>
              <a:t> </a:t>
            </a:r>
            <a:r>
              <a:rPr sz="3200" spc="-10" dirty="0">
                <a:latin typeface="Palatino Linotype"/>
                <a:cs typeface="Palatino Linotype"/>
              </a:rPr>
              <a:t>ancestor(bill,</a:t>
            </a:r>
            <a:r>
              <a:rPr sz="3200" spc="-65" dirty="0">
                <a:latin typeface="Palatino Linotype"/>
                <a:cs typeface="Palatino Linotype"/>
              </a:rPr>
              <a:t> </a:t>
            </a:r>
            <a:r>
              <a:rPr sz="3200" spc="-10" dirty="0">
                <a:latin typeface="Palatino Linotype"/>
                <a:cs typeface="Palatino Linotype"/>
              </a:rPr>
              <a:t>father(bill))</a:t>
            </a:r>
            <a:endParaRPr sz="3200">
              <a:latin typeface="Palatino Linotype"/>
              <a:cs typeface="Palatino Linotype"/>
            </a:endParaRPr>
          </a:p>
          <a:p>
            <a:pPr marL="1267460" lvl="1" indent="-587375">
              <a:lnSpc>
                <a:spcPct val="100000"/>
              </a:lnSpc>
              <a:spcBef>
                <a:spcPts val="960"/>
              </a:spcBef>
              <a:buAutoNum type="alphaLcParenR"/>
              <a:tabLst>
                <a:tab pos="1267460" algn="l"/>
              </a:tabLst>
            </a:pPr>
            <a:r>
              <a:rPr sz="3200" dirty="0">
                <a:latin typeface="Palatino Linotype"/>
                <a:cs typeface="Palatino Linotype"/>
              </a:rPr>
              <a:t>ancestor(X,</a:t>
            </a:r>
            <a:r>
              <a:rPr sz="3200" spc="-9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father(X))</a:t>
            </a:r>
            <a:r>
              <a:rPr sz="3200" spc="-10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và</a:t>
            </a:r>
            <a:r>
              <a:rPr sz="3200" spc="-8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ancestor(david,</a:t>
            </a:r>
            <a:r>
              <a:rPr sz="3200" spc="-100" dirty="0">
                <a:latin typeface="Palatino Linotype"/>
                <a:cs typeface="Palatino Linotype"/>
              </a:rPr>
              <a:t> </a:t>
            </a:r>
            <a:r>
              <a:rPr sz="3200" spc="-10" dirty="0">
                <a:latin typeface="Palatino Linotype"/>
                <a:cs typeface="Palatino Linotype"/>
              </a:rPr>
              <a:t>george)</a:t>
            </a:r>
            <a:endParaRPr sz="3200">
              <a:latin typeface="Palatino Linotype"/>
              <a:cs typeface="Palatino Linotype"/>
            </a:endParaRPr>
          </a:p>
          <a:p>
            <a:pPr marL="1214120" lvl="1" indent="-534035">
              <a:lnSpc>
                <a:spcPct val="100000"/>
              </a:lnSpc>
              <a:spcBef>
                <a:spcPts val="994"/>
              </a:spcBef>
              <a:buAutoNum type="alphaLcParenR"/>
              <a:tabLst>
                <a:tab pos="1214120" algn="l"/>
              </a:tabLst>
            </a:pPr>
            <a:r>
              <a:rPr sz="3200" dirty="0">
                <a:latin typeface="Palatino Linotype"/>
                <a:cs typeface="Palatino Linotype"/>
              </a:rPr>
              <a:t>q(X)</a:t>
            </a:r>
            <a:r>
              <a:rPr sz="3200" spc="-40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Palatino Linotype"/>
                <a:cs typeface="Palatino Linotype"/>
              </a:rPr>
              <a:t>và</a:t>
            </a:r>
            <a:r>
              <a:rPr sz="3200" spc="-25" dirty="0">
                <a:latin typeface="Palatino Linotype"/>
                <a:cs typeface="Palatino Linotype"/>
              </a:rPr>
              <a:t> </a:t>
            </a:r>
            <a:r>
              <a:rPr sz="3200" dirty="0">
                <a:latin typeface="Symbol"/>
                <a:cs typeface="Symbol"/>
              </a:rPr>
              <a:t>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Palatino Linotype"/>
                <a:cs typeface="Palatino Linotype"/>
              </a:rPr>
              <a:t>q(a)</a:t>
            </a:r>
            <a:endParaRPr sz="3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5166</Words>
  <Application>Microsoft Office PowerPoint</Application>
  <PresentationFormat>Widescreen</PresentationFormat>
  <Paragraphs>900</Paragraphs>
  <Slides>85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6" baseType="lpstr">
      <vt:lpstr>MS PGothic</vt:lpstr>
      <vt:lpstr>Arial</vt:lpstr>
      <vt:lpstr>Calibri</vt:lpstr>
      <vt:lpstr>Lucida Sans Unicode</vt:lpstr>
      <vt:lpstr>Palatino Linotype</vt:lpstr>
      <vt:lpstr>Symbol</vt:lpstr>
      <vt:lpstr>Times New Roman</vt:lpstr>
      <vt:lpstr>Verdana</vt:lpstr>
      <vt:lpstr>Wingdings</vt:lpstr>
      <vt:lpstr>Wingdings 2</vt:lpstr>
      <vt:lpstr>Office Theme</vt:lpstr>
      <vt:lpstr>PowerPoint Presentation</vt:lpstr>
      <vt:lpstr>NỘI DUNG</vt:lpstr>
      <vt:lpstr>Tại sao phải biểu diễn tri thức?</vt:lpstr>
      <vt:lpstr>Tri thức (knowledge) là gì?</vt:lpstr>
      <vt:lpstr>Tri thức (knowledge) là gì?</vt:lpstr>
      <vt:lpstr>Biểu diễn tri thức</vt:lpstr>
      <vt:lpstr>Biểu diễn và ánh xạ</vt:lpstr>
      <vt:lpstr>Biểu diễn và ánh xạ</vt:lpstr>
      <vt:lpstr>Các mô hình biểu diễn tri thức</vt:lpstr>
      <vt:lpstr>Thế nào là biểu diễn tri thức hiệu quả?</vt:lpstr>
      <vt:lpstr>Các phương pháp biểu diễn tri thức cơ bản</vt:lpstr>
      <vt:lpstr>Mô hình logic</vt:lpstr>
      <vt:lpstr>Mô hình thủ tục</vt:lpstr>
      <vt:lpstr>Mô hình mạng</vt:lpstr>
      <vt:lpstr>Biểu diễn tri thức bằng mạng ngữ nghĩa</vt:lpstr>
      <vt:lpstr>Mạng ngữ nghĩa</vt:lpstr>
      <vt:lpstr>Mô hình cấu trúc</vt:lpstr>
      <vt:lpstr>Biểu diễn tri thức bằng Frame</vt:lpstr>
      <vt:lpstr>Biểu diễn tri thức bằng Frame</vt:lpstr>
      <vt:lpstr>PowerPoint Presentation</vt:lpstr>
      <vt:lpstr>Bài toán tam giác thông minh</vt:lpstr>
      <vt:lpstr>PowerPoint Presentation</vt:lpstr>
      <vt:lpstr>NỘI DUNG</vt:lpstr>
      <vt:lpstr>Khái niệm mệnh đề</vt:lpstr>
      <vt:lpstr>Phép toán mệnh đề</vt:lpstr>
      <vt:lpstr>Phép toán mệnh đề</vt:lpstr>
      <vt:lpstr>Phép toán mệnh đề</vt:lpstr>
      <vt:lpstr>Phép toán mệnh đề</vt:lpstr>
      <vt:lpstr>Biểu thức mệnh đề hợp lệ</vt:lpstr>
      <vt:lpstr>Biểu thức mệnh đề hợp lệ</vt:lpstr>
      <vt:lpstr>Ví dụ các phép toán mệnh đề</vt:lpstr>
      <vt:lpstr>Ví dụ các phép toán mệnh đề</vt:lpstr>
      <vt:lpstr>Ngữ nghĩa biểu thức mệnh đề</vt:lpstr>
      <vt:lpstr>Ngữ nghĩa biểu thức mệnh đề</vt:lpstr>
      <vt:lpstr>Mệnh đề tương đương</vt:lpstr>
      <vt:lpstr>Mệnh đề tương đương</vt:lpstr>
      <vt:lpstr>Mệnh đề tương đương</vt:lpstr>
      <vt:lpstr>Mệnh đề tương đương</vt:lpstr>
      <vt:lpstr>Mệnh đề tương đương</vt:lpstr>
      <vt:lpstr>Định nghĩa vị từ</vt:lpstr>
      <vt:lpstr>Cú pháp biểu diễn vị từ</vt:lpstr>
      <vt:lpstr>Cú pháp biểu diễn vị từ</vt:lpstr>
      <vt:lpstr>Cú pháp biểu diễn vị từ</vt:lpstr>
      <vt:lpstr>Cú pháp biểu diễn vị từ</vt:lpstr>
      <vt:lpstr>Cú pháp biểu diễn vị từ</vt:lpstr>
      <vt:lpstr>Biểu thức vị từ</vt:lpstr>
      <vt:lpstr>Biểu thức vị từ</vt:lpstr>
      <vt:lpstr>Lượng từ</vt:lpstr>
      <vt:lpstr>Lượng từ</vt:lpstr>
      <vt:lpstr>Ví dụ: Biểu diễn thế giới thực</vt:lpstr>
      <vt:lpstr>Ví dụ: Biểu diễn thế giới thực</vt:lpstr>
      <vt:lpstr>Ví dụ: Biểu diễn thế giới thực</vt:lpstr>
      <vt:lpstr>Ví dụ: Biểu diễn thế giới thực</vt:lpstr>
      <vt:lpstr>Phép tính vị từ</vt:lpstr>
      <vt:lpstr>Vị từ tương đương</vt:lpstr>
      <vt:lpstr>Vị từ tương đương</vt:lpstr>
      <vt:lpstr>Vị từ tương đương</vt:lpstr>
      <vt:lpstr>Vị từ tương đương</vt:lpstr>
      <vt:lpstr>Luật suy diễn</vt:lpstr>
      <vt:lpstr>Luật suy diễn</vt:lpstr>
      <vt:lpstr>Luật suy diễn</vt:lpstr>
      <vt:lpstr>Luật suy diễn</vt:lpstr>
      <vt:lpstr>Ví dụ 1</vt:lpstr>
      <vt:lpstr>Ví dụ 1</vt:lpstr>
      <vt:lpstr>Ví dụ 1</vt:lpstr>
      <vt:lpstr>Ví dụ 1</vt:lpstr>
      <vt:lpstr>Ví dụ 2</vt:lpstr>
      <vt:lpstr>Ví dụ 2</vt:lpstr>
      <vt:lpstr>Ví dụ 2</vt:lpstr>
      <vt:lpstr>Ví dụ 3</vt:lpstr>
      <vt:lpstr>Ví dụ 3</vt:lpstr>
      <vt:lpstr>Ví dụ 3</vt:lpstr>
      <vt:lpstr>Ví dụ 4</vt:lpstr>
      <vt:lpstr>Ví dụ 4</vt:lpstr>
      <vt:lpstr>Ví dụ 4</vt:lpstr>
      <vt:lpstr>Ví dụ 5</vt:lpstr>
      <vt:lpstr>Ví dụ 5</vt:lpstr>
      <vt:lpstr>Ví dụ 5</vt:lpstr>
      <vt:lpstr>Ví dụ 5</vt:lpstr>
      <vt:lpstr>Ví dụ 5</vt:lpstr>
      <vt:lpstr>Đối sánh mẫu và phép hợp nhất (1)</vt:lpstr>
      <vt:lpstr>Đối sánh mẫu và phép hợp nhất (2)</vt:lpstr>
      <vt:lpstr>Đối sánh mẫu và phép hợp nhất (3)</vt:lpstr>
      <vt:lpstr>Đối sánh mẫu và phép hợp nhất (4)</vt:lpstr>
      <vt:lpstr>Đối sánh mẫu và phép hợp nhất (5)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2: GIẢI QUYẾT VẤN ĐỀ BẰNG TÌM KIẾM</dc:title>
  <dc:creator>DUONGCHI</dc:creator>
  <cp:lastModifiedBy>pttlinh42@gmail.com</cp:lastModifiedBy>
  <cp:revision>4</cp:revision>
  <dcterms:created xsi:type="dcterms:W3CDTF">2025-03-16T13:15:03Z</dcterms:created>
  <dcterms:modified xsi:type="dcterms:W3CDTF">2025-03-16T14:13:26Z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2024-10-08T00:00:00Z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2025-03-16T00:00:00Z</vt:filetime>
  </property>
  <property fmtid="{D5CDD505-2E9C-101B-9397-08002B2CF9AE}" pid="5" name="Producer">
    <vt:lpwstr>3-Heights(TM) PDF Security Shell 4.8.25.2 (http://www.pdf-tools.com)</vt:lpwstr>
  </property>
</Properties>
</file>